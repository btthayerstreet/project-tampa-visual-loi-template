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72" r:id="rId5"/>
    <p:sldId id="282" r:id="rId6"/>
    <p:sldId id="312" r:id="rId7"/>
    <p:sldId id="323" r:id="rId8"/>
    <p:sldId id="314" r:id="rId9"/>
    <p:sldId id="315" r:id="rId10"/>
    <p:sldId id="352" r:id="rId11"/>
    <p:sldId id="355" r:id="rId12"/>
    <p:sldId id="334" r:id="rId13"/>
    <p:sldId id="347" r:id="rId14"/>
    <p:sldId id="356" r:id="rId15"/>
    <p:sldId id="335" r:id="rId16"/>
    <p:sldId id="360" r:id="rId17"/>
    <p:sldId id="366" r:id="rId18"/>
    <p:sldId id="362" r:id="rId19"/>
    <p:sldId id="363" r:id="rId20"/>
    <p:sldId id="285" r:id="rId21"/>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5B90"/>
    <a:srgbClr val="B58FC0"/>
    <a:srgbClr val="201243"/>
    <a:srgbClr val="B9C6E4"/>
    <a:srgbClr val="DCE3F2"/>
    <a:srgbClr val="6585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6BB800-19F4-46B5-9EAD-0FA1B89F0328}" v="65" dt="2026-08-19T23:22:01.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nett Turner" userId="ac790710-c2d5-417f-a912-46cdb6fba09a" providerId="ADAL" clId="{E76F20D7-B205-4045-873E-3BD99823FDF7}"/>
    <pc:docChg chg="undo custSel addSld delSld modSld modMainMaster">
      <pc:chgData name="Bennett Turner" userId="ac790710-c2d5-417f-a912-46cdb6fba09a" providerId="ADAL" clId="{E76F20D7-B205-4045-873E-3BD99823FDF7}" dt="2026-08-19T23:23:38.004" v="1516" actId="20577"/>
      <pc:docMkLst>
        <pc:docMk/>
      </pc:docMkLst>
      <pc:sldChg chg="addSp modSp mod">
        <pc:chgData name="Bennett Turner" userId="ac790710-c2d5-417f-a912-46cdb6fba09a" providerId="ADAL" clId="{E76F20D7-B205-4045-873E-3BD99823FDF7}" dt="2026-08-19T22:28:08.783" v="458" actId="113"/>
        <pc:sldMkLst>
          <pc:docMk/>
          <pc:sldMk cId="965372777" sldId="272"/>
        </pc:sldMkLst>
        <pc:spChg chg="add mod">
          <ac:chgData name="Bennett Turner" userId="ac790710-c2d5-417f-a912-46cdb6fba09a" providerId="ADAL" clId="{E76F20D7-B205-4045-873E-3BD99823FDF7}" dt="2026-08-19T22:28:08.783" v="458" actId="113"/>
          <ac:spMkLst>
            <pc:docMk/>
            <pc:sldMk cId="965372777" sldId="272"/>
            <ac:spMk id="20" creationId="{FF3B3963-0E33-EC42-ADBB-F2B7D1368423}"/>
          </ac:spMkLst>
        </pc:spChg>
      </pc:sldChg>
      <pc:sldChg chg="modSp mod">
        <pc:chgData name="Bennett Turner" userId="ac790710-c2d5-417f-a912-46cdb6fba09a" providerId="ADAL" clId="{E76F20D7-B205-4045-873E-3BD99823FDF7}" dt="2026-08-19T22:28:37.465" v="459" actId="115"/>
        <pc:sldMkLst>
          <pc:docMk/>
          <pc:sldMk cId="3815176520" sldId="314"/>
        </pc:sldMkLst>
        <pc:spChg chg="mod">
          <ac:chgData name="Bennett Turner" userId="ac790710-c2d5-417f-a912-46cdb6fba09a" providerId="ADAL" clId="{E76F20D7-B205-4045-873E-3BD99823FDF7}" dt="2026-08-19T22:28:37.465" v="459" actId="115"/>
          <ac:spMkLst>
            <pc:docMk/>
            <pc:sldMk cId="3815176520" sldId="314"/>
            <ac:spMk id="20" creationId="{00000000-0000-0000-0000-000000000000}"/>
          </ac:spMkLst>
        </pc:spChg>
      </pc:sldChg>
      <pc:sldChg chg="modSp mod">
        <pc:chgData name="Bennett Turner" userId="ac790710-c2d5-417f-a912-46cdb6fba09a" providerId="ADAL" clId="{E76F20D7-B205-4045-873E-3BD99823FDF7}" dt="2026-08-19T23:23:08.459" v="1506" actId="20577"/>
        <pc:sldMkLst>
          <pc:docMk/>
          <pc:sldMk cId="2229578226" sldId="315"/>
        </pc:sldMkLst>
        <pc:spChg chg="mod">
          <ac:chgData name="Bennett Turner" userId="ac790710-c2d5-417f-a912-46cdb6fba09a" providerId="ADAL" clId="{E76F20D7-B205-4045-873E-3BD99823FDF7}" dt="2026-08-19T22:16:43.881" v="5" actId="20577"/>
          <ac:spMkLst>
            <pc:docMk/>
            <pc:sldMk cId="2229578226" sldId="315"/>
            <ac:spMk id="3" creationId="{00000000-0000-0000-0000-000000000000}"/>
          </ac:spMkLst>
        </pc:spChg>
        <pc:spChg chg="mod">
          <ac:chgData name="Bennett Turner" userId="ac790710-c2d5-417f-a912-46cdb6fba09a" providerId="ADAL" clId="{E76F20D7-B205-4045-873E-3BD99823FDF7}" dt="2026-08-19T23:23:08.459" v="1506" actId="20577"/>
          <ac:spMkLst>
            <pc:docMk/>
            <pc:sldMk cId="2229578226" sldId="315"/>
            <ac:spMk id="4" creationId="{00000000-0000-0000-0000-000000000000}"/>
          </ac:spMkLst>
        </pc:spChg>
      </pc:sldChg>
      <pc:sldChg chg="addSp delSp modSp del mod">
        <pc:chgData name="Bennett Turner" userId="ac790710-c2d5-417f-a912-46cdb6fba09a" providerId="ADAL" clId="{E76F20D7-B205-4045-873E-3BD99823FDF7}" dt="2026-08-19T22:46:17.171" v="979"/>
        <pc:sldMkLst>
          <pc:docMk/>
          <pc:sldMk cId="1833676393" sldId="344"/>
        </pc:sldMkLst>
        <pc:spChg chg="mod">
          <ac:chgData name="Bennett Turner" userId="ac790710-c2d5-417f-a912-46cdb6fba09a" providerId="ADAL" clId="{E76F20D7-B205-4045-873E-3BD99823FDF7}" dt="2026-08-19T22:23:18.912" v="280" actId="408"/>
          <ac:spMkLst>
            <pc:docMk/>
            <pc:sldMk cId="1833676393" sldId="344"/>
            <ac:spMk id="12" creationId="{00000000-0000-0000-0000-000000000000}"/>
          </ac:spMkLst>
        </pc:spChg>
        <pc:spChg chg="mod">
          <ac:chgData name="Bennett Turner" userId="ac790710-c2d5-417f-a912-46cdb6fba09a" providerId="ADAL" clId="{E76F20D7-B205-4045-873E-3BD99823FDF7}" dt="2026-08-19T22:23:33.468" v="323" actId="164"/>
          <ac:spMkLst>
            <pc:docMk/>
            <pc:sldMk cId="1833676393" sldId="344"/>
            <ac:spMk id="13" creationId="{00000000-0000-0000-0000-000000000000}"/>
          </ac:spMkLst>
        </pc:spChg>
        <pc:spChg chg="mod">
          <ac:chgData name="Bennett Turner" userId="ac790710-c2d5-417f-a912-46cdb6fba09a" providerId="ADAL" clId="{E76F20D7-B205-4045-873E-3BD99823FDF7}" dt="2026-08-19T22:23:33.468" v="323" actId="164"/>
          <ac:spMkLst>
            <pc:docMk/>
            <pc:sldMk cId="1833676393" sldId="344"/>
            <ac:spMk id="14" creationId="{00000000-0000-0000-0000-000000000000}"/>
          </ac:spMkLst>
        </pc:spChg>
        <pc:spChg chg="mod">
          <ac:chgData name="Bennett Turner" userId="ac790710-c2d5-417f-a912-46cdb6fba09a" providerId="ADAL" clId="{E76F20D7-B205-4045-873E-3BD99823FDF7}" dt="2026-08-19T22:23:33.468" v="323" actId="164"/>
          <ac:spMkLst>
            <pc:docMk/>
            <pc:sldMk cId="1833676393" sldId="344"/>
            <ac:spMk id="15" creationId="{00000000-0000-0000-0000-000000000000}"/>
          </ac:spMkLst>
        </pc:spChg>
        <pc:spChg chg="mod">
          <ac:chgData name="Bennett Turner" userId="ac790710-c2d5-417f-a912-46cdb6fba09a" providerId="ADAL" clId="{E76F20D7-B205-4045-873E-3BD99823FDF7}" dt="2026-08-19T22:23:33.468" v="323" actId="164"/>
          <ac:spMkLst>
            <pc:docMk/>
            <pc:sldMk cId="1833676393" sldId="344"/>
            <ac:spMk id="16" creationId="{00000000-0000-0000-0000-000000000000}"/>
          </ac:spMkLst>
        </pc:spChg>
        <pc:spChg chg="mod">
          <ac:chgData name="Bennett Turner" userId="ac790710-c2d5-417f-a912-46cdb6fba09a" providerId="ADAL" clId="{E76F20D7-B205-4045-873E-3BD99823FDF7}" dt="2026-08-19T22:23:18.912" v="280" actId="408"/>
          <ac:spMkLst>
            <pc:docMk/>
            <pc:sldMk cId="1833676393" sldId="344"/>
            <ac:spMk id="17" creationId="{00000000-0000-0000-0000-000000000000}"/>
          </ac:spMkLst>
        </pc:spChg>
        <pc:spChg chg="mod">
          <ac:chgData name="Bennett Turner" userId="ac790710-c2d5-417f-a912-46cdb6fba09a" providerId="ADAL" clId="{E76F20D7-B205-4045-873E-3BD99823FDF7}" dt="2026-08-19T22:23:39.514" v="341" actId="164"/>
          <ac:spMkLst>
            <pc:docMk/>
            <pc:sldMk cId="1833676393" sldId="344"/>
            <ac:spMk id="18" creationId="{00000000-0000-0000-0000-000000000000}"/>
          </ac:spMkLst>
        </pc:spChg>
        <pc:spChg chg="mod">
          <ac:chgData name="Bennett Turner" userId="ac790710-c2d5-417f-a912-46cdb6fba09a" providerId="ADAL" clId="{E76F20D7-B205-4045-873E-3BD99823FDF7}" dt="2026-08-19T22:23:39.514" v="341" actId="164"/>
          <ac:spMkLst>
            <pc:docMk/>
            <pc:sldMk cId="1833676393" sldId="344"/>
            <ac:spMk id="19" creationId="{00000000-0000-0000-0000-000000000000}"/>
          </ac:spMkLst>
        </pc:spChg>
        <pc:spChg chg="mod">
          <ac:chgData name="Bennett Turner" userId="ac790710-c2d5-417f-a912-46cdb6fba09a" providerId="ADAL" clId="{E76F20D7-B205-4045-873E-3BD99823FDF7}" dt="2026-08-19T22:23:39.514" v="341" actId="164"/>
          <ac:spMkLst>
            <pc:docMk/>
            <pc:sldMk cId="1833676393" sldId="344"/>
            <ac:spMk id="20" creationId="{00000000-0000-0000-0000-000000000000}"/>
          </ac:spMkLst>
        </pc:spChg>
        <pc:spChg chg="mod">
          <ac:chgData name="Bennett Turner" userId="ac790710-c2d5-417f-a912-46cdb6fba09a" providerId="ADAL" clId="{E76F20D7-B205-4045-873E-3BD99823FDF7}" dt="2026-08-19T22:23:39.514" v="341" actId="164"/>
          <ac:spMkLst>
            <pc:docMk/>
            <pc:sldMk cId="1833676393" sldId="344"/>
            <ac:spMk id="21" creationId="{00000000-0000-0000-0000-000000000000}"/>
          </ac:spMkLst>
        </pc:spChg>
        <pc:spChg chg="mod">
          <ac:chgData name="Bennett Turner" userId="ac790710-c2d5-417f-a912-46cdb6fba09a" providerId="ADAL" clId="{E76F20D7-B205-4045-873E-3BD99823FDF7}" dt="2026-08-19T22:23:18.912" v="280" actId="408"/>
          <ac:spMkLst>
            <pc:docMk/>
            <pc:sldMk cId="1833676393" sldId="344"/>
            <ac:spMk id="22" creationId="{00000000-0000-0000-0000-000000000000}"/>
          </ac:spMkLst>
        </pc:spChg>
        <pc:spChg chg="mod">
          <ac:chgData name="Bennett Turner" userId="ac790710-c2d5-417f-a912-46cdb6fba09a" providerId="ADAL" clId="{E76F20D7-B205-4045-873E-3BD99823FDF7}" dt="2026-08-19T22:23:25.586" v="287" actId="164"/>
          <ac:spMkLst>
            <pc:docMk/>
            <pc:sldMk cId="1833676393" sldId="344"/>
            <ac:spMk id="23" creationId="{00000000-0000-0000-0000-000000000000}"/>
          </ac:spMkLst>
        </pc:spChg>
        <pc:spChg chg="mod">
          <ac:chgData name="Bennett Turner" userId="ac790710-c2d5-417f-a912-46cdb6fba09a" providerId="ADAL" clId="{E76F20D7-B205-4045-873E-3BD99823FDF7}" dt="2026-08-19T22:23:25.586" v="287" actId="164"/>
          <ac:spMkLst>
            <pc:docMk/>
            <pc:sldMk cId="1833676393" sldId="344"/>
            <ac:spMk id="24" creationId="{00000000-0000-0000-0000-000000000000}"/>
          </ac:spMkLst>
        </pc:spChg>
        <pc:spChg chg="mod">
          <ac:chgData name="Bennett Turner" userId="ac790710-c2d5-417f-a912-46cdb6fba09a" providerId="ADAL" clId="{E76F20D7-B205-4045-873E-3BD99823FDF7}" dt="2026-08-19T22:23:25.586" v="287" actId="164"/>
          <ac:spMkLst>
            <pc:docMk/>
            <pc:sldMk cId="1833676393" sldId="344"/>
            <ac:spMk id="25" creationId="{00000000-0000-0000-0000-000000000000}"/>
          </ac:spMkLst>
        </pc:spChg>
        <pc:spChg chg="mod">
          <ac:chgData name="Bennett Turner" userId="ac790710-c2d5-417f-a912-46cdb6fba09a" providerId="ADAL" clId="{E76F20D7-B205-4045-873E-3BD99823FDF7}" dt="2026-08-19T22:23:25.586" v="287" actId="164"/>
          <ac:spMkLst>
            <pc:docMk/>
            <pc:sldMk cId="1833676393" sldId="344"/>
            <ac:spMk id="26" creationId="{00000000-0000-0000-0000-000000000000}"/>
          </ac:spMkLst>
        </pc:spChg>
        <pc:spChg chg="del">
          <ac:chgData name="Bennett Turner" userId="ac790710-c2d5-417f-a912-46cdb6fba09a" providerId="ADAL" clId="{E76F20D7-B205-4045-873E-3BD99823FDF7}" dt="2026-08-19T22:22:59.472" v="226" actId="478"/>
          <ac:spMkLst>
            <pc:docMk/>
            <pc:sldMk cId="1833676393" sldId="344"/>
            <ac:spMk id="27" creationId="{00000000-0000-0000-0000-000000000000}"/>
          </ac:spMkLst>
        </pc:spChg>
        <pc:spChg chg="mod">
          <ac:chgData name="Bennett Turner" userId="ac790710-c2d5-417f-a912-46cdb6fba09a" providerId="ADAL" clId="{E76F20D7-B205-4045-873E-3BD99823FDF7}" dt="2026-08-19T22:23:09.958" v="279" actId="1038"/>
          <ac:spMkLst>
            <pc:docMk/>
            <pc:sldMk cId="1833676393" sldId="344"/>
            <ac:spMk id="28" creationId="{00000000-0000-0000-0000-000000000000}"/>
          </ac:spMkLst>
        </pc:spChg>
        <pc:spChg chg="mod">
          <ac:chgData name="Bennett Turner" userId="ac790710-c2d5-417f-a912-46cdb6fba09a" providerId="ADAL" clId="{E76F20D7-B205-4045-873E-3BD99823FDF7}" dt="2026-08-19T22:23:09.958" v="279" actId="1038"/>
          <ac:spMkLst>
            <pc:docMk/>
            <pc:sldMk cId="1833676393" sldId="344"/>
            <ac:spMk id="29" creationId="{00000000-0000-0000-0000-000000000000}"/>
          </ac:spMkLst>
        </pc:spChg>
        <pc:spChg chg="mod">
          <ac:chgData name="Bennett Turner" userId="ac790710-c2d5-417f-a912-46cdb6fba09a" providerId="ADAL" clId="{E76F20D7-B205-4045-873E-3BD99823FDF7}" dt="2026-08-19T22:23:09.958" v="279" actId="1038"/>
          <ac:spMkLst>
            <pc:docMk/>
            <pc:sldMk cId="1833676393" sldId="344"/>
            <ac:spMk id="30" creationId="{00000000-0000-0000-0000-000000000000}"/>
          </ac:spMkLst>
        </pc:spChg>
        <pc:spChg chg="mod">
          <ac:chgData name="Bennett Turner" userId="ac790710-c2d5-417f-a912-46cdb6fba09a" providerId="ADAL" clId="{E76F20D7-B205-4045-873E-3BD99823FDF7}" dt="2026-08-19T22:23:09.958" v="279" actId="1038"/>
          <ac:spMkLst>
            <pc:docMk/>
            <pc:sldMk cId="1833676393" sldId="344"/>
            <ac:spMk id="31" creationId="{00000000-0000-0000-0000-000000000000}"/>
          </ac:spMkLst>
        </pc:spChg>
        <pc:spChg chg="del">
          <ac:chgData name="Bennett Turner" userId="ac790710-c2d5-417f-a912-46cdb6fba09a" providerId="ADAL" clId="{E76F20D7-B205-4045-873E-3BD99823FDF7}" dt="2026-08-19T22:22:55.515" v="225" actId="478"/>
          <ac:spMkLst>
            <pc:docMk/>
            <pc:sldMk cId="1833676393" sldId="344"/>
            <ac:spMk id="33" creationId="{00000000-0000-0000-0000-000000000000}"/>
          </ac:spMkLst>
        </pc:spChg>
        <pc:spChg chg="del">
          <ac:chgData name="Bennett Turner" userId="ac790710-c2d5-417f-a912-46cdb6fba09a" providerId="ADAL" clId="{E76F20D7-B205-4045-873E-3BD99823FDF7}" dt="2026-08-19T22:22:55.515" v="225" actId="478"/>
          <ac:spMkLst>
            <pc:docMk/>
            <pc:sldMk cId="1833676393" sldId="344"/>
            <ac:spMk id="34" creationId="{00000000-0000-0000-0000-000000000000}"/>
          </ac:spMkLst>
        </pc:spChg>
        <pc:spChg chg="del">
          <ac:chgData name="Bennett Turner" userId="ac790710-c2d5-417f-a912-46cdb6fba09a" providerId="ADAL" clId="{E76F20D7-B205-4045-873E-3BD99823FDF7}" dt="2026-08-19T22:22:55.515" v="225" actId="478"/>
          <ac:spMkLst>
            <pc:docMk/>
            <pc:sldMk cId="1833676393" sldId="344"/>
            <ac:spMk id="35" creationId="{00000000-0000-0000-0000-000000000000}"/>
          </ac:spMkLst>
        </pc:spChg>
        <pc:spChg chg="del">
          <ac:chgData name="Bennett Turner" userId="ac790710-c2d5-417f-a912-46cdb6fba09a" providerId="ADAL" clId="{E76F20D7-B205-4045-873E-3BD99823FDF7}" dt="2026-08-19T22:22:55.515" v="225" actId="478"/>
          <ac:spMkLst>
            <pc:docMk/>
            <pc:sldMk cId="1833676393" sldId="344"/>
            <ac:spMk id="36" creationId="{00000000-0000-0000-0000-000000000000}"/>
          </ac:spMkLst>
        </pc:spChg>
        <pc:grpChg chg="add mod">
          <ac:chgData name="Bennett Turner" userId="ac790710-c2d5-417f-a912-46cdb6fba09a" providerId="ADAL" clId="{E76F20D7-B205-4045-873E-3BD99823FDF7}" dt="2026-08-19T22:23:29.291" v="322" actId="1038"/>
          <ac:grpSpMkLst>
            <pc:docMk/>
            <pc:sldMk cId="1833676393" sldId="344"/>
            <ac:grpSpMk id="42" creationId="{13E76DC7-E86A-65C3-F141-6C0F67D67A20}"/>
          </ac:grpSpMkLst>
        </pc:grpChg>
        <pc:grpChg chg="add mod">
          <ac:chgData name="Bennett Turner" userId="ac790710-c2d5-417f-a912-46cdb6fba09a" providerId="ADAL" clId="{E76F20D7-B205-4045-873E-3BD99823FDF7}" dt="2026-08-19T22:23:35.715" v="340" actId="1037"/>
          <ac:grpSpMkLst>
            <pc:docMk/>
            <pc:sldMk cId="1833676393" sldId="344"/>
            <ac:grpSpMk id="43" creationId="{A4819886-2666-7B48-5337-A69408940B61}"/>
          </ac:grpSpMkLst>
        </pc:grpChg>
        <pc:grpChg chg="add mod">
          <ac:chgData name="Bennett Turner" userId="ac790710-c2d5-417f-a912-46cdb6fba09a" providerId="ADAL" clId="{E76F20D7-B205-4045-873E-3BD99823FDF7}" dt="2026-08-19T22:23:44.111" v="375" actId="1037"/>
          <ac:grpSpMkLst>
            <pc:docMk/>
            <pc:sldMk cId="1833676393" sldId="344"/>
            <ac:grpSpMk id="44" creationId="{D269FF28-3574-E6FD-626F-81E306820D66}"/>
          </ac:grpSpMkLst>
        </pc:grpChg>
      </pc:sldChg>
      <pc:sldChg chg="del">
        <pc:chgData name="Bennett Turner" userId="ac790710-c2d5-417f-a912-46cdb6fba09a" providerId="ADAL" clId="{E76F20D7-B205-4045-873E-3BD99823FDF7}" dt="2026-08-19T22:46:24.386" v="988"/>
        <pc:sldMkLst>
          <pc:docMk/>
          <pc:sldMk cId="1077996663" sldId="345"/>
        </pc:sldMkLst>
      </pc:sldChg>
      <pc:sldChg chg="modSp mod">
        <pc:chgData name="Bennett Turner" userId="ac790710-c2d5-417f-a912-46cdb6fba09a" providerId="ADAL" clId="{E76F20D7-B205-4045-873E-3BD99823FDF7}" dt="2026-08-19T22:32:45.226" v="574" actId="207"/>
        <pc:sldMkLst>
          <pc:docMk/>
          <pc:sldMk cId="2490042168" sldId="347"/>
        </pc:sldMkLst>
        <pc:spChg chg="mod">
          <ac:chgData name="Bennett Turner" userId="ac790710-c2d5-417f-a912-46cdb6fba09a" providerId="ADAL" clId="{E76F20D7-B205-4045-873E-3BD99823FDF7}" dt="2026-08-19T22:32:45.226" v="574" actId="207"/>
          <ac:spMkLst>
            <pc:docMk/>
            <pc:sldMk cId="2490042168" sldId="347"/>
            <ac:spMk id="6" creationId="{00000000-0000-0000-0000-000000000000}"/>
          </ac:spMkLst>
        </pc:spChg>
        <pc:spChg chg="mod">
          <ac:chgData name="Bennett Turner" userId="ac790710-c2d5-417f-a912-46cdb6fba09a" providerId="ADAL" clId="{E76F20D7-B205-4045-873E-3BD99823FDF7}" dt="2026-08-19T22:31:20.491" v="551" actId="554"/>
          <ac:spMkLst>
            <pc:docMk/>
            <pc:sldMk cId="2490042168" sldId="347"/>
            <ac:spMk id="9" creationId="{00000000-0000-0000-0000-000000000000}"/>
          </ac:spMkLst>
        </pc:spChg>
        <pc:spChg chg="mod">
          <ac:chgData name="Bennett Turner" userId="ac790710-c2d5-417f-a912-46cdb6fba09a" providerId="ADAL" clId="{E76F20D7-B205-4045-873E-3BD99823FDF7}" dt="2026-08-19T22:31:20.491" v="551" actId="554"/>
          <ac:spMkLst>
            <pc:docMk/>
            <pc:sldMk cId="2490042168" sldId="347"/>
            <ac:spMk id="15" creationId="{00000000-0000-0000-0000-000000000000}"/>
          </ac:spMkLst>
        </pc:spChg>
      </pc:sldChg>
      <pc:sldChg chg="addSp modSp mod">
        <pc:chgData name="Bennett Turner" userId="ac790710-c2d5-417f-a912-46cdb6fba09a" providerId="ADAL" clId="{E76F20D7-B205-4045-873E-3BD99823FDF7}" dt="2026-08-19T23:20:58.871" v="1493" actId="20577"/>
        <pc:sldMkLst>
          <pc:docMk/>
          <pc:sldMk cId="2369351676" sldId="352"/>
        </pc:sldMkLst>
        <pc:spChg chg="add mod">
          <ac:chgData name="Bennett Turner" userId="ac790710-c2d5-417f-a912-46cdb6fba09a" providerId="ADAL" clId="{E76F20D7-B205-4045-873E-3BD99823FDF7}" dt="2026-08-19T23:20:58.871" v="1493" actId="20577"/>
          <ac:spMkLst>
            <pc:docMk/>
            <pc:sldMk cId="2369351676" sldId="352"/>
            <ac:spMk id="8" creationId="{F9D1B7FB-F136-2A5B-F64F-8A82802BB9AC}"/>
          </ac:spMkLst>
        </pc:spChg>
      </pc:sldChg>
      <pc:sldChg chg="modSp mod">
        <pc:chgData name="Bennett Turner" userId="ac790710-c2d5-417f-a912-46cdb6fba09a" providerId="ADAL" clId="{E76F20D7-B205-4045-873E-3BD99823FDF7}" dt="2026-08-19T23:22:14.411" v="1503" actId="20577"/>
        <pc:sldMkLst>
          <pc:docMk/>
          <pc:sldMk cId="1568077625" sldId="355"/>
        </pc:sldMkLst>
        <pc:spChg chg="mod">
          <ac:chgData name="Bennett Turner" userId="ac790710-c2d5-417f-a912-46cdb6fba09a" providerId="ADAL" clId="{E76F20D7-B205-4045-873E-3BD99823FDF7}" dt="2026-08-19T22:29:04.881" v="461" actId="20577"/>
          <ac:spMkLst>
            <pc:docMk/>
            <pc:sldMk cId="1568077625" sldId="355"/>
            <ac:spMk id="18" creationId="{6A398D55-EDAE-4627-8A5C-5C032823B0F4}"/>
          </ac:spMkLst>
        </pc:spChg>
        <pc:spChg chg="mod">
          <ac:chgData name="Bennett Turner" userId="ac790710-c2d5-417f-a912-46cdb6fba09a" providerId="ADAL" clId="{E76F20D7-B205-4045-873E-3BD99823FDF7}" dt="2026-08-19T22:29:29.223" v="475" actId="1035"/>
          <ac:spMkLst>
            <pc:docMk/>
            <pc:sldMk cId="1568077625" sldId="355"/>
            <ac:spMk id="22" creationId="{8FBD28C7-D22C-9E71-C04D-30C259A0D70C}"/>
          </ac:spMkLst>
        </pc:spChg>
        <pc:spChg chg="mod">
          <ac:chgData name="Bennett Turner" userId="ac790710-c2d5-417f-a912-46cdb6fba09a" providerId="ADAL" clId="{E76F20D7-B205-4045-873E-3BD99823FDF7}" dt="2026-08-19T23:22:14.411" v="1503" actId="20577"/>
          <ac:spMkLst>
            <pc:docMk/>
            <pc:sldMk cId="1568077625" sldId="355"/>
            <ac:spMk id="32" creationId="{00000000-0000-0000-0000-000000000000}"/>
          </ac:spMkLst>
        </pc:spChg>
        <pc:graphicFrameChg chg="mod">
          <ac:chgData name="Bennett Turner" userId="ac790710-c2d5-417f-a912-46cdb6fba09a" providerId="ADAL" clId="{E76F20D7-B205-4045-873E-3BD99823FDF7}" dt="2026-08-19T23:22:01.101" v="1499" actId="20577"/>
          <ac:graphicFrameMkLst>
            <pc:docMk/>
            <pc:sldMk cId="1568077625" sldId="355"/>
            <ac:graphicFrameMk id="91" creationId="{00000000-0000-0000-0000-000000000000}"/>
          </ac:graphicFrameMkLst>
        </pc:graphicFrameChg>
        <pc:cxnChg chg="mod">
          <ac:chgData name="Bennett Turner" userId="ac790710-c2d5-417f-a912-46cdb6fba09a" providerId="ADAL" clId="{E76F20D7-B205-4045-873E-3BD99823FDF7}" dt="2026-08-19T22:29:29.223" v="475" actId="1035"/>
          <ac:cxnSpMkLst>
            <pc:docMk/>
            <pc:sldMk cId="1568077625" sldId="355"/>
            <ac:cxnSpMk id="21" creationId="{9C64216D-5872-C072-B410-40EC101102DD}"/>
          </ac:cxnSpMkLst>
        </pc:cxnChg>
      </pc:sldChg>
      <pc:sldChg chg="addSp modSp mod">
        <pc:chgData name="Bennett Turner" userId="ac790710-c2d5-417f-a912-46cdb6fba09a" providerId="ADAL" clId="{E76F20D7-B205-4045-873E-3BD99823FDF7}" dt="2026-08-19T22:56:13.362" v="1115" actId="6549"/>
        <pc:sldMkLst>
          <pc:docMk/>
          <pc:sldMk cId="1195951717" sldId="356"/>
        </pc:sldMkLst>
        <pc:spChg chg="mod">
          <ac:chgData name="Bennett Turner" userId="ac790710-c2d5-417f-a912-46cdb6fba09a" providerId="ADAL" clId="{E76F20D7-B205-4045-873E-3BD99823FDF7}" dt="2026-08-19T22:56:13.362" v="1115" actId="6549"/>
          <ac:spMkLst>
            <pc:docMk/>
            <pc:sldMk cId="1195951717" sldId="356"/>
            <ac:spMk id="4" creationId="{6859FB00-FB03-1F27-7B8F-34CE5200133D}"/>
          </ac:spMkLst>
        </pc:spChg>
        <pc:spChg chg="mod">
          <ac:chgData name="Bennett Turner" userId="ac790710-c2d5-417f-a912-46cdb6fba09a" providerId="ADAL" clId="{E76F20D7-B205-4045-873E-3BD99823FDF7}" dt="2026-08-19T22:34:51.901" v="765" actId="1036"/>
          <ac:spMkLst>
            <pc:docMk/>
            <pc:sldMk cId="1195951717" sldId="356"/>
            <ac:spMk id="7" creationId="{BB9C93D6-1A46-2B50-DE53-FCD7CA0D8306}"/>
          </ac:spMkLst>
        </pc:spChg>
        <pc:spChg chg="mod">
          <ac:chgData name="Bennett Turner" userId="ac790710-c2d5-417f-a912-46cdb6fba09a" providerId="ADAL" clId="{E76F20D7-B205-4045-873E-3BD99823FDF7}" dt="2026-08-19T22:34:51.901" v="765" actId="1036"/>
          <ac:spMkLst>
            <pc:docMk/>
            <pc:sldMk cId="1195951717" sldId="356"/>
            <ac:spMk id="9" creationId="{7E5B0026-3AC0-5706-01AF-00F378D5C7F1}"/>
          </ac:spMkLst>
        </pc:spChg>
        <pc:spChg chg="mod">
          <ac:chgData name="Bennett Turner" userId="ac790710-c2d5-417f-a912-46cdb6fba09a" providerId="ADAL" clId="{E76F20D7-B205-4045-873E-3BD99823FDF7}" dt="2026-08-19T22:34:51.901" v="765" actId="1036"/>
          <ac:spMkLst>
            <pc:docMk/>
            <pc:sldMk cId="1195951717" sldId="356"/>
            <ac:spMk id="11" creationId="{1121F0B3-699F-EE64-ADC5-8BC8FD546D68}"/>
          </ac:spMkLst>
        </pc:spChg>
        <pc:spChg chg="mod">
          <ac:chgData name="Bennett Turner" userId="ac790710-c2d5-417f-a912-46cdb6fba09a" providerId="ADAL" clId="{E76F20D7-B205-4045-873E-3BD99823FDF7}" dt="2026-08-19T22:34:51.901" v="765" actId="1036"/>
          <ac:spMkLst>
            <pc:docMk/>
            <pc:sldMk cId="1195951717" sldId="356"/>
            <ac:spMk id="14" creationId="{1A92460A-68CC-E48F-3A3F-7018348E5185}"/>
          </ac:spMkLst>
        </pc:spChg>
        <pc:spChg chg="mod">
          <ac:chgData name="Bennett Turner" userId="ac790710-c2d5-417f-a912-46cdb6fba09a" providerId="ADAL" clId="{E76F20D7-B205-4045-873E-3BD99823FDF7}" dt="2026-08-19T22:34:51.901" v="765" actId="1036"/>
          <ac:spMkLst>
            <pc:docMk/>
            <pc:sldMk cId="1195951717" sldId="356"/>
            <ac:spMk id="16" creationId="{971ED57B-2EDD-DB81-7526-DC71FC6AB559}"/>
          </ac:spMkLst>
        </pc:spChg>
        <pc:spChg chg="mod">
          <ac:chgData name="Bennett Turner" userId="ac790710-c2d5-417f-a912-46cdb6fba09a" providerId="ADAL" clId="{E76F20D7-B205-4045-873E-3BD99823FDF7}" dt="2026-08-19T22:34:51.901" v="765" actId="1036"/>
          <ac:spMkLst>
            <pc:docMk/>
            <pc:sldMk cId="1195951717" sldId="356"/>
            <ac:spMk id="17" creationId="{E2B63B5B-0BC7-5F66-0088-D70664CD4195}"/>
          </ac:spMkLst>
        </pc:spChg>
        <pc:spChg chg="mod">
          <ac:chgData name="Bennett Turner" userId="ac790710-c2d5-417f-a912-46cdb6fba09a" providerId="ADAL" clId="{E76F20D7-B205-4045-873E-3BD99823FDF7}" dt="2026-08-19T22:34:51.901" v="765" actId="1036"/>
          <ac:spMkLst>
            <pc:docMk/>
            <pc:sldMk cId="1195951717" sldId="356"/>
            <ac:spMk id="18" creationId="{CD09671C-8B4C-5FA5-02B6-5F09FAE3516E}"/>
          </ac:spMkLst>
        </pc:spChg>
        <pc:spChg chg="mod">
          <ac:chgData name="Bennett Turner" userId="ac790710-c2d5-417f-a912-46cdb6fba09a" providerId="ADAL" clId="{E76F20D7-B205-4045-873E-3BD99823FDF7}" dt="2026-08-19T22:34:57.971" v="766" actId="14100"/>
          <ac:spMkLst>
            <pc:docMk/>
            <pc:sldMk cId="1195951717" sldId="356"/>
            <ac:spMk id="24" creationId="{6FD2DD21-FCE8-0251-9B41-149E13FF6BDE}"/>
          </ac:spMkLst>
        </pc:spChg>
        <pc:spChg chg="mod">
          <ac:chgData name="Bennett Turner" userId="ac790710-c2d5-417f-a912-46cdb6fba09a" providerId="ADAL" clId="{E76F20D7-B205-4045-873E-3BD99823FDF7}" dt="2026-08-19T22:34:51.901" v="765" actId="1036"/>
          <ac:spMkLst>
            <pc:docMk/>
            <pc:sldMk cId="1195951717" sldId="356"/>
            <ac:spMk id="25" creationId="{4F013A51-57F6-D545-3E06-06CC448083EA}"/>
          </ac:spMkLst>
        </pc:spChg>
        <pc:spChg chg="mod">
          <ac:chgData name="Bennett Turner" userId="ac790710-c2d5-417f-a912-46cdb6fba09a" providerId="ADAL" clId="{E76F20D7-B205-4045-873E-3BD99823FDF7}" dt="2026-08-19T22:34:51.901" v="765" actId="1036"/>
          <ac:spMkLst>
            <pc:docMk/>
            <pc:sldMk cId="1195951717" sldId="356"/>
            <ac:spMk id="27" creationId="{A173B04D-D778-D9F2-4322-9A2B557F8D72}"/>
          </ac:spMkLst>
        </pc:spChg>
        <pc:spChg chg="add mod">
          <ac:chgData name="Bennett Turner" userId="ac790710-c2d5-417f-a912-46cdb6fba09a" providerId="ADAL" clId="{E76F20D7-B205-4045-873E-3BD99823FDF7}" dt="2026-08-19T22:35:09.496" v="771" actId="20577"/>
          <ac:spMkLst>
            <pc:docMk/>
            <pc:sldMk cId="1195951717" sldId="356"/>
            <ac:spMk id="28" creationId="{914DB4BB-CB62-A8F5-171D-45ED30AC54E0}"/>
          </ac:spMkLst>
        </pc:spChg>
        <pc:spChg chg="mod">
          <ac:chgData name="Bennett Turner" userId="ac790710-c2d5-417f-a912-46cdb6fba09a" providerId="ADAL" clId="{E76F20D7-B205-4045-873E-3BD99823FDF7}" dt="2026-08-19T22:34:51.901" v="765" actId="1036"/>
          <ac:spMkLst>
            <pc:docMk/>
            <pc:sldMk cId="1195951717" sldId="356"/>
            <ac:spMk id="201" creationId="{971ED57B-2EDD-DB81-7526-DC71FC6AB559}"/>
          </ac:spMkLst>
        </pc:spChg>
      </pc:sldChg>
      <pc:sldChg chg="del">
        <pc:chgData name="Bennett Turner" userId="ac790710-c2d5-417f-a912-46cdb6fba09a" providerId="ADAL" clId="{E76F20D7-B205-4045-873E-3BD99823FDF7}" dt="2026-08-19T22:46:11.131" v="970"/>
        <pc:sldMkLst>
          <pc:docMk/>
          <pc:sldMk cId="1249748847" sldId="358"/>
        </pc:sldMkLst>
      </pc:sldChg>
      <pc:sldChg chg="addSp delSp modSp add del mod">
        <pc:chgData name="Bennett Turner" userId="ac790710-c2d5-417f-a912-46cdb6fba09a" providerId="ADAL" clId="{E76F20D7-B205-4045-873E-3BD99823FDF7}" dt="2026-08-19T22:42:53.271" v="895"/>
        <pc:sldMkLst>
          <pc:docMk/>
          <pc:sldMk cId="2081993456" sldId="359"/>
        </pc:sldMkLst>
        <pc:spChg chg="del">
          <ac:chgData name="Bennett Turner" userId="ac790710-c2d5-417f-a912-46cdb6fba09a" providerId="ADAL" clId="{E76F20D7-B205-4045-873E-3BD99823FDF7}" dt="2026-08-19T22:35:59.274" v="772" actId="478"/>
          <ac:spMkLst>
            <pc:docMk/>
            <pc:sldMk cId="2081993456" sldId="359"/>
            <ac:spMk id="9" creationId="{EF0B2D05-06D1-0C1B-7D60-FDC298EF2110}"/>
          </ac:spMkLst>
        </pc:spChg>
        <pc:spChg chg="del">
          <ac:chgData name="Bennett Turner" userId="ac790710-c2d5-417f-a912-46cdb6fba09a" providerId="ADAL" clId="{E76F20D7-B205-4045-873E-3BD99823FDF7}" dt="2026-08-19T22:35:59.274" v="772" actId="478"/>
          <ac:spMkLst>
            <pc:docMk/>
            <pc:sldMk cId="2081993456" sldId="359"/>
            <ac:spMk id="10" creationId="{8774A79C-668A-5E56-E63E-028485B87CAF}"/>
          </ac:spMkLst>
        </pc:spChg>
        <pc:spChg chg="del">
          <ac:chgData name="Bennett Turner" userId="ac790710-c2d5-417f-a912-46cdb6fba09a" providerId="ADAL" clId="{E76F20D7-B205-4045-873E-3BD99823FDF7}" dt="2026-08-19T22:35:59.274" v="772" actId="478"/>
          <ac:spMkLst>
            <pc:docMk/>
            <pc:sldMk cId="2081993456" sldId="359"/>
            <ac:spMk id="11" creationId="{74FBC0DA-3B28-F5D0-949B-9A9EEA0B1607}"/>
          </ac:spMkLst>
        </pc:spChg>
        <pc:spChg chg="del">
          <ac:chgData name="Bennett Turner" userId="ac790710-c2d5-417f-a912-46cdb6fba09a" providerId="ADAL" clId="{E76F20D7-B205-4045-873E-3BD99823FDF7}" dt="2026-08-19T22:35:59.274" v="772" actId="478"/>
          <ac:spMkLst>
            <pc:docMk/>
            <pc:sldMk cId="2081993456" sldId="359"/>
            <ac:spMk id="12" creationId="{5E03DF8A-44DB-8B9C-7289-AFF98D74CFD7}"/>
          </ac:spMkLst>
        </pc:spChg>
        <pc:spChg chg="del">
          <ac:chgData name="Bennett Turner" userId="ac790710-c2d5-417f-a912-46cdb6fba09a" providerId="ADAL" clId="{E76F20D7-B205-4045-873E-3BD99823FDF7}" dt="2026-08-19T22:35:59.274" v="772" actId="478"/>
          <ac:spMkLst>
            <pc:docMk/>
            <pc:sldMk cId="2081993456" sldId="359"/>
            <ac:spMk id="13" creationId="{02D8005A-8576-E980-60D4-0D4ED9428319}"/>
          </ac:spMkLst>
        </pc:spChg>
        <pc:spChg chg="add del mod">
          <ac:chgData name="Bennett Turner" userId="ac790710-c2d5-417f-a912-46cdb6fba09a" providerId="ADAL" clId="{E76F20D7-B205-4045-873E-3BD99823FDF7}" dt="2026-08-19T22:38:46.711" v="773"/>
          <ac:spMkLst>
            <pc:docMk/>
            <pc:sldMk cId="2081993456" sldId="359"/>
            <ac:spMk id="16" creationId="{6129F7A8-328A-C671-36BA-1BE0F44C8BC3}"/>
          </ac:spMkLst>
        </pc:spChg>
        <pc:spChg chg="del">
          <ac:chgData name="Bennett Turner" userId="ac790710-c2d5-417f-a912-46cdb6fba09a" providerId="ADAL" clId="{E76F20D7-B205-4045-873E-3BD99823FDF7}" dt="2026-08-19T22:35:59.274" v="772" actId="478"/>
          <ac:spMkLst>
            <pc:docMk/>
            <pc:sldMk cId="2081993456" sldId="359"/>
            <ac:spMk id="18" creationId="{DFBEF8C2-161E-220B-26B9-EBF0BAC41D90}"/>
          </ac:spMkLst>
        </pc:spChg>
        <pc:spChg chg="del">
          <ac:chgData name="Bennett Turner" userId="ac790710-c2d5-417f-a912-46cdb6fba09a" providerId="ADAL" clId="{E76F20D7-B205-4045-873E-3BD99823FDF7}" dt="2026-08-19T22:35:59.274" v="772" actId="478"/>
          <ac:spMkLst>
            <pc:docMk/>
            <pc:sldMk cId="2081993456" sldId="359"/>
            <ac:spMk id="20" creationId="{BAF9BE24-E73D-082C-379C-CE8D9119B3E6}"/>
          </ac:spMkLst>
        </pc:spChg>
        <pc:spChg chg="del">
          <ac:chgData name="Bennett Turner" userId="ac790710-c2d5-417f-a912-46cdb6fba09a" providerId="ADAL" clId="{E76F20D7-B205-4045-873E-3BD99823FDF7}" dt="2026-08-19T22:35:59.274" v="772" actId="478"/>
          <ac:spMkLst>
            <pc:docMk/>
            <pc:sldMk cId="2081993456" sldId="359"/>
            <ac:spMk id="25" creationId="{0DE4DBD2-2C08-20DF-16C6-D6FA182EA398}"/>
          </ac:spMkLst>
        </pc:spChg>
        <pc:spChg chg="add mod">
          <ac:chgData name="Bennett Turner" userId="ac790710-c2d5-417f-a912-46cdb6fba09a" providerId="ADAL" clId="{E76F20D7-B205-4045-873E-3BD99823FDF7}" dt="2026-08-19T22:38:48.491" v="777"/>
          <ac:spMkLst>
            <pc:docMk/>
            <pc:sldMk cId="2081993456" sldId="359"/>
            <ac:spMk id="26" creationId="{7F09A051-A6B1-4ACF-8341-CE81853E783F}"/>
          </ac:spMkLst>
        </pc:spChg>
        <pc:spChg chg="del">
          <ac:chgData name="Bennett Turner" userId="ac790710-c2d5-417f-a912-46cdb6fba09a" providerId="ADAL" clId="{E76F20D7-B205-4045-873E-3BD99823FDF7}" dt="2026-08-19T22:35:59.274" v="772" actId="478"/>
          <ac:spMkLst>
            <pc:docMk/>
            <pc:sldMk cId="2081993456" sldId="359"/>
            <ac:spMk id="27" creationId="{B1C556E3-851A-691F-80B1-3B064A9551D7}"/>
          </ac:spMkLst>
        </pc:spChg>
        <pc:spChg chg="del">
          <ac:chgData name="Bennett Turner" userId="ac790710-c2d5-417f-a912-46cdb6fba09a" providerId="ADAL" clId="{E76F20D7-B205-4045-873E-3BD99823FDF7}" dt="2026-08-19T22:35:59.274" v="772" actId="478"/>
          <ac:spMkLst>
            <pc:docMk/>
            <pc:sldMk cId="2081993456" sldId="359"/>
            <ac:spMk id="29" creationId="{C09B7A29-047A-F84D-2A5C-EB85AE9217AB}"/>
          </ac:spMkLst>
        </pc:spChg>
        <pc:spChg chg="add mod">
          <ac:chgData name="Bennett Turner" userId="ac790710-c2d5-417f-a912-46cdb6fba09a" providerId="ADAL" clId="{E76F20D7-B205-4045-873E-3BD99823FDF7}" dt="2026-08-19T22:38:48.491" v="781"/>
          <ac:spMkLst>
            <pc:docMk/>
            <pc:sldMk cId="2081993456" sldId="359"/>
            <ac:spMk id="32" creationId="{9C8C276F-278D-47F0-A6D2-B409B05473E5}"/>
          </ac:spMkLst>
        </pc:spChg>
        <pc:spChg chg="add mod">
          <ac:chgData name="Bennett Turner" userId="ac790710-c2d5-417f-a912-46cdb6fba09a" providerId="ADAL" clId="{E76F20D7-B205-4045-873E-3BD99823FDF7}" dt="2026-08-19T22:38:48.491" v="793"/>
          <ac:spMkLst>
            <pc:docMk/>
            <pc:sldMk cId="2081993456" sldId="359"/>
            <ac:spMk id="33" creationId="{76B35CA7-BE33-4B92-88DC-DD04CFF55B40}"/>
          </ac:spMkLst>
        </pc:spChg>
        <pc:spChg chg="add mod">
          <ac:chgData name="Bennett Turner" userId="ac790710-c2d5-417f-a912-46cdb6fba09a" providerId="ADAL" clId="{E76F20D7-B205-4045-873E-3BD99823FDF7}" dt="2026-08-19T22:38:48.503" v="803"/>
          <ac:spMkLst>
            <pc:docMk/>
            <pc:sldMk cId="2081993456" sldId="359"/>
            <ac:spMk id="34" creationId="{C82E4BE1-1C35-4D76-9355-536A1CA3031C}"/>
          </ac:spMkLst>
        </pc:spChg>
        <pc:spChg chg="add mod">
          <ac:chgData name="Bennett Turner" userId="ac790710-c2d5-417f-a912-46cdb6fba09a" providerId="ADAL" clId="{E76F20D7-B205-4045-873E-3BD99823FDF7}" dt="2026-08-19T22:38:48.503" v="807"/>
          <ac:spMkLst>
            <pc:docMk/>
            <pc:sldMk cId="2081993456" sldId="359"/>
            <ac:spMk id="35" creationId="{B4DD46CC-0520-43B8-95F0-27304F6797F2}"/>
          </ac:spMkLst>
        </pc:spChg>
        <pc:spChg chg="add mod">
          <ac:chgData name="Bennett Turner" userId="ac790710-c2d5-417f-a912-46cdb6fba09a" providerId="ADAL" clId="{E76F20D7-B205-4045-873E-3BD99823FDF7}" dt="2026-08-19T22:38:48.503" v="811"/>
          <ac:spMkLst>
            <pc:docMk/>
            <pc:sldMk cId="2081993456" sldId="359"/>
            <ac:spMk id="36" creationId="{CC99E156-DA40-4E9A-9DB0-8623BD6F15CB}"/>
          </ac:spMkLst>
        </pc:spChg>
        <pc:spChg chg="add mod">
          <ac:chgData name="Bennett Turner" userId="ac790710-c2d5-417f-a912-46cdb6fba09a" providerId="ADAL" clId="{E76F20D7-B205-4045-873E-3BD99823FDF7}" dt="2026-08-19T22:38:48.503" v="823"/>
          <ac:spMkLst>
            <pc:docMk/>
            <pc:sldMk cId="2081993456" sldId="359"/>
            <ac:spMk id="37" creationId="{5CAD5677-C853-43AC-9EB4-C3BA7143CC9C}"/>
          </ac:spMkLst>
        </pc:spChg>
        <pc:spChg chg="add mod">
          <ac:chgData name="Bennett Turner" userId="ac790710-c2d5-417f-a912-46cdb6fba09a" providerId="ADAL" clId="{E76F20D7-B205-4045-873E-3BD99823FDF7}" dt="2026-08-19T22:38:48.511" v="833"/>
          <ac:spMkLst>
            <pc:docMk/>
            <pc:sldMk cId="2081993456" sldId="359"/>
            <ac:spMk id="38" creationId="{F658D7B1-AA2F-4626-8295-7C3E40D519A8}"/>
          </ac:spMkLst>
        </pc:spChg>
        <pc:spChg chg="add mod">
          <ac:chgData name="Bennett Turner" userId="ac790710-c2d5-417f-a912-46cdb6fba09a" providerId="ADAL" clId="{E76F20D7-B205-4045-873E-3BD99823FDF7}" dt="2026-08-19T22:38:48.511" v="837"/>
          <ac:spMkLst>
            <pc:docMk/>
            <pc:sldMk cId="2081993456" sldId="359"/>
            <ac:spMk id="39" creationId="{3700325F-E169-430C-BB43-988621B0A863}"/>
          </ac:spMkLst>
        </pc:spChg>
        <pc:spChg chg="add mod">
          <ac:chgData name="Bennett Turner" userId="ac790710-c2d5-417f-a912-46cdb6fba09a" providerId="ADAL" clId="{E76F20D7-B205-4045-873E-3BD99823FDF7}" dt="2026-08-19T22:38:48.511" v="841"/>
          <ac:spMkLst>
            <pc:docMk/>
            <pc:sldMk cId="2081993456" sldId="359"/>
            <ac:spMk id="40" creationId="{F7355B4C-E136-4504-8EEE-E90C54D0FCB7}"/>
          </ac:spMkLst>
        </pc:spChg>
        <pc:spChg chg="add mod">
          <ac:chgData name="Bennett Turner" userId="ac790710-c2d5-417f-a912-46cdb6fba09a" providerId="ADAL" clId="{E76F20D7-B205-4045-873E-3BD99823FDF7}" dt="2026-08-19T22:38:48.513" v="853"/>
          <ac:spMkLst>
            <pc:docMk/>
            <pc:sldMk cId="2081993456" sldId="359"/>
            <ac:spMk id="41" creationId="{CB0435B4-61A6-4680-B9B9-4577D25A3E1A}"/>
          </ac:spMkLst>
        </pc:spChg>
        <pc:spChg chg="add mod">
          <ac:chgData name="Bennett Turner" userId="ac790710-c2d5-417f-a912-46cdb6fba09a" providerId="ADAL" clId="{E76F20D7-B205-4045-873E-3BD99823FDF7}" dt="2026-08-19T22:38:48.513" v="863"/>
          <ac:spMkLst>
            <pc:docMk/>
            <pc:sldMk cId="2081993456" sldId="359"/>
            <ac:spMk id="42" creationId="{A4D51DEE-4630-4A70-9799-924677947AD7}"/>
          </ac:spMkLst>
        </pc:spChg>
        <pc:spChg chg="add mod">
          <ac:chgData name="Bennett Turner" userId="ac790710-c2d5-417f-a912-46cdb6fba09a" providerId="ADAL" clId="{E76F20D7-B205-4045-873E-3BD99823FDF7}" dt="2026-08-19T22:38:48.519" v="867"/>
          <ac:spMkLst>
            <pc:docMk/>
            <pc:sldMk cId="2081993456" sldId="359"/>
            <ac:spMk id="43" creationId="{F113C05A-A6AE-47C1-A3B1-74261FE81294}"/>
          </ac:spMkLst>
        </pc:spChg>
        <pc:spChg chg="add mod">
          <ac:chgData name="Bennett Turner" userId="ac790710-c2d5-417f-a912-46cdb6fba09a" providerId="ADAL" clId="{E76F20D7-B205-4045-873E-3BD99823FDF7}" dt="2026-08-19T22:38:48.519" v="871"/>
          <ac:spMkLst>
            <pc:docMk/>
            <pc:sldMk cId="2081993456" sldId="359"/>
            <ac:spMk id="44" creationId="{881B0B4C-6B43-4AC2-ADE7-16A7EE6E30C6}"/>
          </ac:spMkLst>
        </pc:spChg>
        <pc:spChg chg="add mod">
          <ac:chgData name="Bennett Turner" userId="ac790710-c2d5-417f-a912-46cdb6fba09a" providerId="ADAL" clId="{E76F20D7-B205-4045-873E-3BD99823FDF7}" dt="2026-08-19T22:38:48.521" v="883"/>
          <ac:spMkLst>
            <pc:docMk/>
            <pc:sldMk cId="2081993456" sldId="359"/>
            <ac:spMk id="45" creationId="{582D9A4B-0F12-4286-B0CE-C897B0A500A5}"/>
          </ac:spMkLst>
        </pc:spChg>
        <pc:spChg chg="add mod">
          <ac:chgData name="Bennett Turner" userId="ac790710-c2d5-417f-a912-46cdb6fba09a" providerId="ADAL" clId="{E76F20D7-B205-4045-873E-3BD99823FDF7}" dt="2026-08-19T22:38:48.521" v="893"/>
          <ac:spMkLst>
            <pc:docMk/>
            <pc:sldMk cId="2081993456" sldId="359"/>
            <ac:spMk id="46" creationId="{82F60D74-0F5B-4890-85BC-5180DE05111B}"/>
          </ac:spMkLst>
        </pc:spChg>
      </pc:sldChg>
      <pc:sldChg chg="modSp add mod">
        <pc:chgData name="Bennett Turner" userId="ac790710-c2d5-417f-a912-46cdb6fba09a" providerId="ADAL" clId="{E76F20D7-B205-4045-873E-3BD99823FDF7}" dt="2026-08-19T23:21:26.421" v="1495" actId="20577"/>
        <pc:sldMkLst>
          <pc:docMk/>
          <pc:sldMk cId="4290138944" sldId="360"/>
        </pc:sldMkLst>
        <pc:spChg chg="mod">
          <ac:chgData name="Bennett Turner" userId="ac790710-c2d5-417f-a912-46cdb6fba09a" providerId="ADAL" clId="{E76F20D7-B205-4045-873E-3BD99823FDF7}" dt="2026-08-19T23:21:26.421" v="1495" actId="20577"/>
          <ac:spMkLst>
            <pc:docMk/>
            <pc:sldMk cId="4290138944" sldId="360"/>
            <ac:spMk id="6" creationId="{983B57A2-AB23-16A2-F571-5394DA6D7140}"/>
          </ac:spMkLst>
        </pc:spChg>
        <pc:spChg chg="mod">
          <ac:chgData name="Bennett Turner" userId="ac790710-c2d5-417f-a912-46cdb6fba09a" providerId="ADAL" clId="{E76F20D7-B205-4045-873E-3BD99823FDF7}" dt="2026-08-19T22:44:53.311" v="968" actId="6549"/>
          <ac:spMkLst>
            <pc:docMk/>
            <pc:sldMk cId="4290138944" sldId="360"/>
            <ac:spMk id="21" creationId="{54D74A34-16EB-5564-832D-53AF81F52866}"/>
          </ac:spMkLst>
        </pc:spChg>
        <pc:spChg chg="mod">
          <ac:chgData name="Bennett Turner" userId="ac790710-c2d5-417f-a912-46cdb6fba09a" providerId="ADAL" clId="{E76F20D7-B205-4045-873E-3BD99823FDF7}" dt="2026-08-19T22:44:07.721" v="935"/>
          <ac:spMkLst>
            <pc:docMk/>
            <pc:sldMk cId="4290138944" sldId="360"/>
            <ac:spMk id="26" creationId="{7F09A051-A6B1-4ACF-8341-CE81853E783F}"/>
          </ac:spMkLst>
        </pc:spChg>
        <pc:spChg chg="mod">
          <ac:chgData name="Bennett Turner" userId="ac790710-c2d5-417f-a912-46cdb6fba09a" providerId="ADAL" clId="{E76F20D7-B205-4045-873E-3BD99823FDF7}" dt="2026-08-19T22:44:07.729" v="937"/>
          <ac:spMkLst>
            <pc:docMk/>
            <pc:sldMk cId="4290138944" sldId="360"/>
            <ac:spMk id="32" creationId="{9C8C276F-278D-47F0-A6D2-B409B05473E5}"/>
          </ac:spMkLst>
        </pc:spChg>
        <pc:spChg chg="mod">
          <ac:chgData name="Bennett Turner" userId="ac790710-c2d5-417f-a912-46cdb6fba09a" providerId="ADAL" clId="{E76F20D7-B205-4045-873E-3BD99823FDF7}" dt="2026-08-19T22:44:25.404" v="963" actId="20577"/>
          <ac:spMkLst>
            <pc:docMk/>
            <pc:sldMk cId="4290138944" sldId="360"/>
            <ac:spMk id="33" creationId="{76B35CA7-BE33-4B92-88DC-DD04CFF55B40}"/>
          </ac:spMkLst>
        </pc:spChg>
        <pc:spChg chg="mod">
          <ac:chgData name="Bennett Turner" userId="ac790710-c2d5-417f-a912-46cdb6fba09a" providerId="ADAL" clId="{E76F20D7-B205-4045-873E-3BD99823FDF7}" dt="2026-08-19T22:44:07.729" v="940"/>
          <ac:spMkLst>
            <pc:docMk/>
            <pc:sldMk cId="4290138944" sldId="360"/>
            <ac:spMk id="34" creationId="{C82E4BE1-1C35-4D76-9355-536A1CA3031C}"/>
          </ac:spMkLst>
        </pc:spChg>
        <pc:spChg chg="mod">
          <ac:chgData name="Bennett Turner" userId="ac790710-c2d5-417f-a912-46cdb6fba09a" providerId="ADAL" clId="{E76F20D7-B205-4045-873E-3BD99823FDF7}" dt="2026-08-19T22:44:07.729" v="942"/>
          <ac:spMkLst>
            <pc:docMk/>
            <pc:sldMk cId="4290138944" sldId="360"/>
            <ac:spMk id="35" creationId="{B4DD46CC-0520-43B8-95F0-27304F6797F2}"/>
          </ac:spMkLst>
        </pc:spChg>
        <pc:spChg chg="mod">
          <ac:chgData name="Bennett Turner" userId="ac790710-c2d5-417f-a912-46cdb6fba09a" providerId="ADAL" clId="{E76F20D7-B205-4045-873E-3BD99823FDF7}" dt="2026-08-19T22:44:07.729" v="944"/>
          <ac:spMkLst>
            <pc:docMk/>
            <pc:sldMk cId="4290138944" sldId="360"/>
            <ac:spMk id="36" creationId="{CC99E156-DA40-4E9A-9DB0-8623BD6F15CB}"/>
          </ac:spMkLst>
        </pc:spChg>
        <pc:spChg chg="mod">
          <ac:chgData name="Bennett Turner" userId="ac790710-c2d5-417f-a912-46cdb6fba09a" providerId="ADAL" clId="{E76F20D7-B205-4045-873E-3BD99823FDF7}" dt="2026-08-19T22:44:26.731" v="964" actId="20577"/>
          <ac:spMkLst>
            <pc:docMk/>
            <pc:sldMk cId="4290138944" sldId="360"/>
            <ac:spMk id="37" creationId="{5CAD5677-C853-43AC-9EB4-C3BA7143CC9C}"/>
          </ac:spMkLst>
        </pc:spChg>
        <pc:spChg chg="mod">
          <ac:chgData name="Bennett Turner" userId="ac790710-c2d5-417f-a912-46cdb6fba09a" providerId="ADAL" clId="{E76F20D7-B205-4045-873E-3BD99823FDF7}" dt="2026-08-19T22:44:07.729" v="947"/>
          <ac:spMkLst>
            <pc:docMk/>
            <pc:sldMk cId="4290138944" sldId="360"/>
            <ac:spMk id="38" creationId="{F658D7B1-AA2F-4626-8295-7C3E40D519A8}"/>
          </ac:spMkLst>
        </pc:spChg>
        <pc:spChg chg="mod">
          <ac:chgData name="Bennett Turner" userId="ac790710-c2d5-417f-a912-46cdb6fba09a" providerId="ADAL" clId="{E76F20D7-B205-4045-873E-3BD99823FDF7}" dt="2026-08-19T22:44:07.731" v="949"/>
          <ac:spMkLst>
            <pc:docMk/>
            <pc:sldMk cId="4290138944" sldId="360"/>
            <ac:spMk id="39" creationId="{3700325F-E169-430C-BB43-988621B0A863}"/>
          </ac:spMkLst>
        </pc:spChg>
        <pc:spChg chg="mod">
          <ac:chgData name="Bennett Turner" userId="ac790710-c2d5-417f-a912-46cdb6fba09a" providerId="ADAL" clId="{E76F20D7-B205-4045-873E-3BD99823FDF7}" dt="2026-08-19T22:44:07.731" v="951"/>
          <ac:spMkLst>
            <pc:docMk/>
            <pc:sldMk cId="4290138944" sldId="360"/>
            <ac:spMk id="40" creationId="{F7355B4C-E136-4504-8EEE-E90C54D0FCB7}"/>
          </ac:spMkLst>
        </pc:spChg>
        <pc:spChg chg="mod">
          <ac:chgData name="Bennett Turner" userId="ac790710-c2d5-417f-a912-46cdb6fba09a" providerId="ADAL" clId="{E76F20D7-B205-4045-873E-3BD99823FDF7}" dt="2026-08-19T22:44:27.621" v="965" actId="20577"/>
          <ac:spMkLst>
            <pc:docMk/>
            <pc:sldMk cId="4290138944" sldId="360"/>
            <ac:spMk id="41" creationId="{CB0435B4-61A6-4680-B9B9-4577D25A3E1A}"/>
          </ac:spMkLst>
        </pc:spChg>
        <pc:spChg chg="mod">
          <ac:chgData name="Bennett Turner" userId="ac790710-c2d5-417f-a912-46cdb6fba09a" providerId="ADAL" clId="{E76F20D7-B205-4045-873E-3BD99823FDF7}" dt="2026-08-19T22:44:07.731" v="954"/>
          <ac:spMkLst>
            <pc:docMk/>
            <pc:sldMk cId="4290138944" sldId="360"/>
            <ac:spMk id="42" creationId="{A4D51DEE-4630-4A70-9799-924677947AD7}"/>
          </ac:spMkLst>
        </pc:spChg>
        <pc:spChg chg="mod">
          <ac:chgData name="Bennett Turner" userId="ac790710-c2d5-417f-a912-46cdb6fba09a" providerId="ADAL" clId="{E76F20D7-B205-4045-873E-3BD99823FDF7}" dt="2026-08-19T22:44:07.731" v="956"/>
          <ac:spMkLst>
            <pc:docMk/>
            <pc:sldMk cId="4290138944" sldId="360"/>
            <ac:spMk id="43" creationId="{F113C05A-A6AE-47C1-A3B1-74261FE81294}"/>
          </ac:spMkLst>
        </pc:spChg>
        <pc:spChg chg="mod">
          <ac:chgData name="Bennett Turner" userId="ac790710-c2d5-417f-a912-46cdb6fba09a" providerId="ADAL" clId="{E76F20D7-B205-4045-873E-3BD99823FDF7}" dt="2026-08-19T22:44:07.731" v="958"/>
          <ac:spMkLst>
            <pc:docMk/>
            <pc:sldMk cId="4290138944" sldId="360"/>
            <ac:spMk id="44" creationId="{881B0B4C-6B43-4AC2-ADE7-16A7EE6E30C6}"/>
          </ac:spMkLst>
        </pc:spChg>
        <pc:spChg chg="mod">
          <ac:chgData name="Bennett Turner" userId="ac790710-c2d5-417f-a912-46cdb6fba09a" providerId="ADAL" clId="{E76F20D7-B205-4045-873E-3BD99823FDF7}" dt="2026-08-19T22:44:28.662" v="966" actId="20577"/>
          <ac:spMkLst>
            <pc:docMk/>
            <pc:sldMk cId="4290138944" sldId="360"/>
            <ac:spMk id="45" creationId="{582D9A4B-0F12-4286-B0CE-C897B0A500A5}"/>
          </ac:spMkLst>
        </pc:spChg>
        <pc:spChg chg="mod">
          <ac:chgData name="Bennett Turner" userId="ac790710-c2d5-417f-a912-46cdb6fba09a" providerId="ADAL" clId="{E76F20D7-B205-4045-873E-3BD99823FDF7}" dt="2026-08-19T22:44:07.733" v="961"/>
          <ac:spMkLst>
            <pc:docMk/>
            <pc:sldMk cId="4290138944" sldId="360"/>
            <ac:spMk id="46" creationId="{82F60D74-0F5B-4890-85BC-5180DE05111B}"/>
          </ac:spMkLst>
        </pc:spChg>
      </pc:sldChg>
      <pc:sldChg chg="modSp add del mod">
        <pc:chgData name="Bennett Turner" userId="ac790710-c2d5-417f-a912-46cdb6fba09a" providerId="ADAL" clId="{E76F20D7-B205-4045-873E-3BD99823FDF7}" dt="2026-08-19T22:50:48.879" v="1041"/>
        <pc:sldMkLst>
          <pc:docMk/>
          <pc:sldMk cId="1008920543" sldId="361"/>
        </pc:sldMkLst>
        <pc:spChg chg="mod">
          <ac:chgData name="Bennett Turner" userId="ac790710-c2d5-417f-a912-46cdb6fba09a" providerId="ADAL" clId="{E76F20D7-B205-4045-873E-3BD99823FDF7}" dt="2026-08-19T22:50:07.187" v="999"/>
          <ac:spMkLst>
            <pc:docMk/>
            <pc:sldMk cId="1008920543" sldId="361"/>
            <ac:spMk id="9" creationId="{00000000-0000-0000-0000-000000000000}"/>
          </ac:spMkLst>
        </pc:spChg>
        <pc:spChg chg="mod">
          <ac:chgData name="Bennett Turner" userId="ac790710-c2d5-417f-a912-46cdb6fba09a" providerId="ADAL" clId="{E76F20D7-B205-4045-873E-3BD99823FDF7}" dt="2026-08-19T22:50:07.187" v="1013"/>
          <ac:spMkLst>
            <pc:docMk/>
            <pc:sldMk cId="1008920543" sldId="361"/>
            <ac:spMk id="11" creationId="{3D1DB569-26A8-46EA-8EE7-C8FB211D57AB}"/>
          </ac:spMkLst>
        </pc:spChg>
        <pc:spChg chg="mod">
          <ac:chgData name="Bennett Turner" userId="ac790710-c2d5-417f-a912-46cdb6fba09a" providerId="ADAL" clId="{E76F20D7-B205-4045-873E-3BD99823FDF7}" dt="2026-08-19T22:50:07.190" v="1019"/>
          <ac:spMkLst>
            <pc:docMk/>
            <pc:sldMk cId="1008920543" sldId="361"/>
            <ac:spMk id="12" creationId="{54610266-56EA-45C1-B4C1-76599372FC6D}"/>
          </ac:spMkLst>
        </pc:spChg>
        <pc:spChg chg="mod">
          <ac:chgData name="Bennett Turner" userId="ac790710-c2d5-417f-a912-46cdb6fba09a" providerId="ADAL" clId="{E76F20D7-B205-4045-873E-3BD99823FDF7}" dt="2026-08-19T22:50:07.190" v="1015"/>
          <ac:spMkLst>
            <pc:docMk/>
            <pc:sldMk cId="1008920543" sldId="361"/>
            <ac:spMk id="13" creationId="{230AE36C-16FA-4CD8-AAD3-1C9E1E1AA03B}"/>
          </ac:spMkLst>
        </pc:spChg>
        <pc:spChg chg="mod">
          <ac:chgData name="Bennett Turner" userId="ac790710-c2d5-417f-a912-46cdb6fba09a" providerId="ADAL" clId="{E76F20D7-B205-4045-873E-3BD99823FDF7}" dt="2026-08-19T22:50:07.191" v="1027"/>
          <ac:spMkLst>
            <pc:docMk/>
            <pc:sldMk cId="1008920543" sldId="361"/>
            <ac:spMk id="14" creationId="{9448A1E9-D0BA-4BEC-9175-7995602EFB9D}"/>
          </ac:spMkLst>
        </pc:spChg>
        <pc:spChg chg="mod">
          <ac:chgData name="Bennett Turner" userId="ac790710-c2d5-417f-a912-46cdb6fba09a" providerId="ADAL" clId="{E76F20D7-B205-4045-873E-3BD99823FDF7}" dt="2026-08-19T22:50:07.187" v="1003"/>
          <ac:spMkLst>
            <pc:docMk/>
            <pc:sldMk cId="1008920543" sldId="361"/>
            <ac:spMk id="15" creationId="{00000000-0000-0000-0000-000000000000}"/>
          </ac:spMkLst>
        </pc:spChg>
        <pc:spChg chg="mod">
          <ac:chgData name="Bennett Turner" userId="ac790710-c2d5-417f-a912-46cdb6fba09a" providerId="ADAL" clId="{E76F20D7-B205-4045-873E-3BD99823FDF7}" dt="2026-08-19T22:50:07.191" v="1023"/>
          <ac:spMkLst>
            <pc:docMk/>
            <pc:sldMk cId="1008920543" sldId="361"/>
            <ac:spMk id="17" creationId="{B0C2E82A-03A1-4CFF-9CB7-055E659A2E6C}"/>
          </ac:spMkLst>
        </pc:spChg>
        <pc:spChg chg="mod">
          <ac:chgData name="Bennett Turner" userId="ac790710-c2d5-417f-a912-46cdb6fba09a" providerId="ADAL" clId="{E76F20D7-B205-4045-873E-3BD99823FDF7}" dt="2026-08-19T22:50:07.191" v="1031"/>
          <ac:spMkLst>
            <pc:docMk/>
            <pc:sldMk cId="1008920543" sldId="361"/>
            <ac:spMk id="25" creationId="{E1354C0B-567C-4DFA-B13B-37228E5ABF2F}"/>
          </ac:spMkLst>
        </pc:spChg>
        <pc:spChg chg="mod">
          <ac:chgData name="Bennett Turner" userId="ac790710-c2d5-417f-a912-46cdb6fba09a" providerId="ADAL" clId="{E76F20D7-B205-4045-873E-3BD99823FDF7}" dt="2026-08-19T22:50:07.193" v="1035"/>
          <ac:spMkLst>
            <pc:docMk/>
            <pc:sldMk cId="1008920543" sldId="361"/>
            <ac:spMk id="27" creationId="{59F00168-1589-417C-423A-D6F1235A5A69}"/>
          </ac:spMkLst>
        </pc:spChg>
        <pc:spChg chg="mod">
          <ac:chgData name="Bennett Turner" userId="ac790710-c2d5-417f-a912-46cdb6fba09a" providerId="ADAL" clId="{E76F20D7-B205-4045-873E-3BD99823FDF7}" dt="2026-08-19T22:50:07.193" v="1039"/>
          <ac:spMkLst>
            <pc:docMk/>
            <pc:sldMk cId="1008920543" sldId="361"/>
            <ac:spMk id="28" creationId="{822FA983-099B-73FC-5D49-E4FA3FF94343}"/>
          </ac:spMkLst>
        </pc:spChg>
        <pc:spChg chg="mod">
          <ac:chgData name="Bennett Turner" userId="ac790710-c2d5-417f-a912-46cdb6fba09a" providerId="ADAL" clId="{E76F20D7-B205-4045-873E-3BD99823FDF7}" dt="2026-08-19T22:50:07.187" v="1007"/>
          <ac:spMkLst>
            <pc:docMk/>
            <pc:sldMk cId="1008920543" sldId="361"/>
            <ac:spMk id="30" creationId="{EF8C6730-DE60-155B-F291-BE436E75D600}"/>
          </ac:spMkLst>
        </pc:spChg>
        <pc:spChg chg="mod">
          <ac:chgData name="Bennett Turner" userId="ac790710-c2d5-417f-a912-46cdb6fba09a" providerId="ADAL" clId="{E76F20D7-B205-4045-873E-3BD99823FDF7}" dt="2026-08-19T22:50:07.187" v="1011"/>
          <ac:spMkLst>
            <pc:docMk/>
            <pc:sldMk cId="1008920543" sldId="361"/>
            <ac:spMk id="31" creationId="{D2111C64-7F23-C5A7-6C30-3695B4E42FCD}"/>
          </ac:spMkLst>
        </pc:spChg>
      </pc:sldChg>
      <pc:sldChg chg="addSp modSp add mod">
        <pc:chgData name="Bennett Turner" userId="ac790710-c2d5-417f-a912-46cdb6fba09a" providerId="ADAL" clId="{E76F20D7-B205-4045-873E-3BD99823FDF7}" dt="2026-08-19T22:58:58.711" v="1150" actId="20577"/>
        <pc:sldMkLst>
          <pc:docMk/>
          <pc:sldMk cId="977460293" sldId="362"/>
        </pc:sldMkLst>
        <pc:spChg chg="mod">
          <ac:chgData name="Bennett Turner" userId="ac790710-c2d5-417f-a912-46cdb6fba09a" providerId="ADAL" clId="{E76F20D7-B205-4045-873E-3BD99823FDF7}" dt="2026-08-19T22:58:40.101" v="1137" actId="20577"/>
          <ac:spMkLst>
            <pc:docMk/>
            <pc:sldMk cId="977460293" sldId="362"/>
            <ac:spMk id="4" creationId="{00000000-0000-0000-0000-000000000000}"/>
          </ac:spMkLst>
        </pc:spChg>
        <pc:spChg chg="mod">
          <ac:chgData name="Bennett Turner" userId="ac790710-c2d5-417f-a912-46cdb6fba09a" providerId="ADAL" clId="{E76F20D7-B205-4045-873E-3BD99823FDF7}" dt="2026-08-19T22:58:16.962" v="1123" actId="20577"/>
          <ac:spMkLst>
            <pc:docMk/>
            <pc:sldMk cId="977460293" sldId="362"/>
            <ac:spMk id="13" creationId="{00000000-0000-0000-0000-000000000000}"/>
          </ac:spMkLst>
        </pc:spChg>
        <pc:spChg chg="mod">
          <ac:chgData name="Bennett Turner" userId="ac790710-c2d5-417f-a912-46cdb6fba09a" providerId="ADAL" clId="{E76F20D7-B205-4045-873E-3BD99823FDF7}" dt="2026-08-19T22:58:23.771" v="1130" actId="20577"/>
          <ac:spMkLst>
            <pc:docMk/>
            <pc:sldMk cId="977460293" sldId="362"/>
            <ac:spMk id="18" creationId="{00000000-0000-0000-0000-000000000000}"/>
          </ac:spMkLst>
        </pc:spChg>
        <pc:spChg chg="add mod">
          <ac:chgData name="Bennett Turner" userId="ac790710-c2d5-417f-a912-46cdb6fba09a" providerId="ADAL" clId="{E76F20D7-B205-4045-873E-3BD99823FDF7}" dt="2026-08-19T22:58:58.711" v="1150" actId="20577"/>
          <ac:spMkLst>
            <pc:docMk/>
            <pc:sldMk cId="977460293" sldId="362"/>
            <ac:spMk id="33" creationId="{FF139E80-92B3-3D7C-5679-4ACF57361395}"/>
          </ac:spMkLst>
        </pc:spChg>
      </pc:sldChg>
      <pc:sldChg chg="add">
        <pc:chgData name="Bennett Turner" userId="ac790710-c2d5-417f-a912-46cdb6fba09a" providerId="ADAL" clId="{E76F20D7-B205-4045-873E-3BD99823FDF7}" dt="2026-08-19T22:46:24.381" v="987"/>
        <pc:sldMkLst>
          <pc:docMk/>
          <pc:sldMk cId="793315162" sldId="363"/>
        </pc:sldMkLst>
      </pc:sldChg>
      <pc:sldChg chg="modSp add del mod">
        <pc:chgData name="Bennett Turner" userId="ac790710-c2d5-417f-a912-46cdb6fba09a" providerId="ADAL" clId="{E76F20D7-B205-4045-873E-3BD99823FDF7}" dt="2026-08-19T22:52:03.409" v="1056"/>
        <pc:sldMkLst>
          <pc:docMk/>
          <pc:sldMk cId="1762492244" sldId="364"/>
        </pc:sldMkLst>
        <pc:spChg chg="mod">
          <ac:chgData name="Bennett Turner" userId="ac790710-c2d5-417f-a912-46cdb6fba09a" providerId="ADAL" clId="{E76F20D7-B205-4045-873E-3BD99823FDF7}" dt="2026-08-19T22:51:07.319" v="1054"/>
          <ac:spMkLst>
            <pc:docMk/>
            <pc:sldMk cId="1762492244" sldId="364"/>
            <ac:spMk id="10" creationId="{ABD5A102-E0EA-7581-D3C2-A223A80BBD81}"/>
          </ac:spMkLst>
        </pc:spChg>
        <pc:graphicFrameChg chg="mod">
          <ac:chgData name="Bennett Turner" userId="ac790710-c2d5-417f-a912-46cdb6fba09a" providerId="ADAL" clId="{E76F20D7-B205-4045-873E-3BD99823FDF7}" dt="2026-08-19T22:51:07.319" v="1052"/>
          <ac:graphicFrameMkLst>
            <pc:docMk/>
            <pc:sldMk cId="1762492244" sldId="364"/>
            <ac:graphicFrameMk id="402" creationId="{00000000-0000-0000-0000-000000000000}"/>
          </ac:graphicFrameMkLst>
        </pc:graphicFrameChg>
      </pc:sldChg>
      <pc:sldChg chg="addSp delSp modSp add del mod">
        <pc:chgData name="Bennett Turner" userId="ac790710-c2d5-417f-a912-46cdb6fba09a" providerId="ADAL" clId="{E76F20D7-B205-4045-873E-3BD99823FDF7}" dt="2026-08-19T23:12:36.831" v="1324"/>
        <pc:sldMkLst>
          <pc:docMk/>
          <pc:sldMk cId="715468260" sldId="365"/>
        </pc:sldMkLst>
        <pc:spChg chg="mod">
          <ac:chgData name="Bennett Turner" userId="ac790710-c2d5-417f-a912-46cdb6fba09a" providerId="ADAL" clId="{E76F20D7-B205-4045-873E-3BD99823FDF7}" dt="2026-08-19T22:54:48.629" v="1114" actId="20577"/>
          <ac:spMkLst>
            <pc:docMk/>
            <pc:sldMk cId="715468260" sldId="365"/>
            <ac:spMk id="3" creationId="{00000000-0000-0000-0000-000000000000}"/>
          </ac:spMkLst>
        </pc:spChg>
        <pc:spChg chg="mod">
          <ac:chgData name="Bennett Turner" userId="ac790710-c2d5-417f-a912-46cdb6fba09a" providerId="ADAL" clId="{E76F20D7-B205-4045-873E-3BD99823FDF7}" dt="2026-08-19T23:02:58.396" v="1226"/>
          <ac:spMkLst>
            <pc:docMk/>
            <pc:sldMk cId="715468260" sldId="365"/>
            <ac:spMk id="6" creationId="{00000000-0000-0000-0000-000000000000}"/>
          </ac:spMkLst>
        </pc:spChg>
        <pc:spChg chg="add mod">
          <ac:chgData name="Bennett Turner" userId="ac790710-c2d5-417f-a912-46cdb6fba09a" providerId="ADAL" clId="{E76F20D7-B205-4045-873E-3BD99823FDF7}" dt="2026-08-19T23:12:06.771" v="1313"/>
          <ac:spMkLst>
            <pc:docMk/>
            <pc:sldMk cId="715468260" sldId="365"/>
            <ac:spMk id="7" creationId="{E132567B-3C1B-49B5-ADB7-EDFA1B99DF08}"/>
          </ac:spMkLst>
        </pc:spChg>
        <pc:spChg chg="mod">
          <ac:chgData name="Bennett Turner" userId="ac790710-c2d5-417f-a912-46cdb6fba09a" providerId="ADAL" clId="{E76F20D7-B205-4045-873E-3BD99823FDF7}" dt="2026-08-19T23:12:06.761" v="1268"/>
          <ac:spMkLst>
            <pc:docMk/>
            <pc:sldMk cId="715468260" sldId="365"/>
            <ac:spMk id="8" creationId="{0793925E-0B4F-EAA9-0573-D97C869FB135}"/>
          </ac:spMkLst>
        </pc:spChg>
        <pc:spChg chg="mod">
          <ac:chgData name="Bennett Turner" userId="ac790710-c2d5-417f-a912-46cdb6fba09a" providerId="ADAL" clId="{E76F20D7-B205-4045-873E-3BD99823FDF7}" dt="2026-08-19T23:12:06.751" v="1236"/>
          <ac:spMkLst>
            <pc:docMk/>
            <pc:sldMk cId="715468260" sldId="365"/>
            <ac:spMk id="9" creationId="{00000000-0000-0000-0000-000000000000}"/>
          </ac:spMkLst>
        </pc:spChg>
        <pc:spChg chg="mod">
          <ac:chgData name="Bennett Turner" userId="ac790710-c2d5-417f-a912-46cdb6fba09a" providerId="ADAL" clId="{E76F20D7-B205-4045-873E-3BD99823FDF7}" dt="2026-08-19T23:12:06.761" v="1272"/>
          <ac:spMkLst>
            <pc:docMk/>
            <pc:sldMk cId="715468260" sldId="365"/>
            <ac:spMk id="10" creationId="{ABD5A102-E0EA-7581-D3C2-A223A80BBD81}"/>
          </ac:spMkLst>
        </pc:spChg>
        <pc:spChg chg="mod">
          <ac:chgData name="Bennett Turner" userId="ac790710-c2d5-417f-a912-46cdb6fba09a" providerId="ADAL" clId="{E76F20D7-B205-4045-873E-3BD99823FDF7}" dt="2026-08-19T23:12:06.761" v="1260"/>
          <ac:spMkLst>
            <pc:docMk/>
            <pc:sldMk cId="715468260" sldId="365"/>
            <ac:spMk id="11" creationId="{3D1DB569-26A8-46EA-8EE7-C8FB211D57AB}"/>
          </ac:spMkLst>
        </pc:spChg>
        <pc:spChg chg="mod">
          <ac:chgData name="Bennett Turner" userId="ac790710-c2d5-417f-a912-46cdb6fba09a" providerId="ADAL" clId="{E76F20D7-B205-4045-873E-3BD99823FDF7}" dt="2026-08-19T23:12:06.766" v="1280"/>
          <ac:spMkLst>
            <pc:docMk/>
            <pc:sldMk cId="715468260" sldId="365"/>
            <ac:spMk id="12" creationId="{54610266-56EA-45C1-B4C1-76599372FC6D}"/>
          </ac:spMkLst>
        </pc:spChg>
        <pc:spChg chg="mod">
          <ac:chgData name="Bennett Turner" userId="ac790710-c2d5-417f-a912-46cdb6fba09a" providerId="ADAL" clId="{E76F20D7-B205-4045-873E-3BD99823FDF7}" dt="2026-08-19T23:12:06.761" v="1264"/>
          <ac:spMkLst>
            <pc:docMk/>
            <pc:sldMk cId="715468260" sldId="365"/>
            <ac:spMk id="13" creationId="{230AE36C-16FA-4CD8-AAD3-1C9E1E1AA03B}"/>
          </ac:spMkLst>
        </pc:spChg>
        <pc:spChg chg="mod">
          <ac:chgData name="Bennett Turner" userId="ac790710-c2d5-417f-a912-46cdb6fba09a" providerId="ADAL" clId="{E76F20D7-B205-4045-873E-3BD99823FDF7}" dt="2026-08-19T23:12:06.767" v="1288"/>
          <ac:spMkLst>
            <pc:docMk/>
            <pc:sldMk cId="715468260" sldId="365"/>
            <ac:spMk id="14" creationId="{9448A1E9-D0BA-4BEC-9175-7995602EFB9D}"/>
          </ac:spMkLst>
        </pc:spChg>
        <pc:spChg chg="mod">
          <ac:chgData name="Bennett Turner" userId="ac790710-c2d5-417f-a912-46cdb6fba09a" providerId="ADAL" clId="{E76F20D7-B205-4045-873E-3BD99823FDF7}" dt="2026-08-19T23:12:06.751" v="1244"/>
          <ac:spMkLst>
            <pc:docMk/>
            <pc:sldMk cId="715468260" sldId="365"/>
            <ac:spMk id="15" creationId="{00000000-0000-0000-0000-000000000000}"/>
          </ac:spMkLst>
        </pc:spChg>
        <pc:spChg chg="add mod">
          <ac:chgData name="Bennett Turner" userId="ac790710-c2d5-417f-a912-46cdb6fba09a" providerId="ADAL" clId="{E76F20D7-B205-4045-873E-3BD99823FDF7}" dt="2026-08-19T23:12:06.776" v="1322"/>
          <ac:spMkLst>
            <pc:docMk/>
            <pc:sldMk cId="715468260" sldId="365"/>
            <ac:spMk id="16" creationId="{D847F38D-8F13-436A-8CC3-FBE59A4121D9}"/>
          </ac:spMkLst>
        </pc:spChg>
        <pc:spChg chg="mod">
          <ac:chgData name="Bennett Turner" userId="ac790710-c2d5-417f-a912-46cdb6fba09a" providerId="ADAL" clId="{E76F20D7-B205-4045-873E-3BD99823FDF7}" dt="2026-08-19T23:12:06.766" v="1284"/>
          <ac:spMkLst>
            <pc:docMk/>
            <pc:sldMk cId="715468260" sldId="365"/>
            <ac:spMk id="17" creationId="{B0C2E82A-03A1-4CFF-9CB7-055E659A2E6C}"/>
          </ac:spMkLst>
        </pc:spChg>
        <pc:spChg chg="mod">
          <ac:chgData name="Bennett Turner" userId="ac790710-c2d5-417f-a912-46cdb6fba09a" providerId="ADAL" clId="{E76F20D7-B205-4045-873E-3BD99823FDF7}" dt="2026-08-19T23:12:06.767" v="1296"/>
          <ac:spMkLst>
            <pc:docMk/>
            <pc:sldMk cId="715468260" sldId="365"/>
            <ac:spMk id="18" creationId="{00000000-0000-0000-0000-000000000000}"/>
          </ac:spMkLst>
        </pc:spChg>
        <pc:spChg chg="mod">
          <ac:chgData name="Bennett Turner" userId="ac790710-c2d5-417f-a912-46cdb6fba09a" providerId="ADAL" clId="{E76F20D7-B205-4045-873E-3BD99823FDF7}" dt="2026-08-19T23:12:06.767" v="1300"/>
          <ac:spMkLst>
            <pc:docMk/>
            <pc:sldMk cId="715468260" sldId="365"/>
            <ac:spMk id="19" creationId="{00000000-0000-0000-0000-000000000000}"/>
          </ac:spMkLst>
        </pc:spChg>
        <pc:spChg chg="mod">
          <ac:chgData name="Bennett Turner" userId="ac790710-c2d5-417f-a912-46cdb6fba09a" providerId="ADAL" clId="{E76F20D7-B205-4045-873E-3BD99823FDF7}" dt="2026-08-19T23:12:06.767" v="1304"/>
          <ac:spMkLst>
            <pc:docMk/>
            <pc:sldMk cId="715468260" sldId="365"/>
            <ac:spMk id="20" creationId="{00000000-0000-0000-0000-000000000000}"/>
          </ac:spMkLst>
        </pc:spChg>
        <pc:spChg chg="mod">
          <ac:chgData name="Bennett Turner" userId="ac790710-c2d5-417f-a912-46cdb6fba09a" providerId="ADAL" clId="{E76F20D7-B205-4045-873E-3BD99823FDF7}" dt="2026-08-19T23:12:06.767" v="1292"/>
          <ac:spMkLst>
            <pc:docMk/>
            <pc:sldMk cId="715468260" sldId="365"/>
            <ac:spMk id="25" creationId="{E1354C0B-567C-4DFA-B13B-37228E5ABF2F}"/>
          </ac:spMkLst>
        </pc:spChg>
        <pc:spChg chg="del mod">
          <ac:chgData name="Bennett Turner" userId="ac790710-c2d5-417f-a912-46cdb6fba09a" providerId="ADAL" clId="{E76F20D7-B205-4045-873E-3BD99823FDF7}" dt="2026-08-19T23:03:47.111" v="1230" actId="478"/>
          <ac:spMkLst>
            <pc:docMk/>
            <pc:sldMk cId="715468260" sldId="365"/>
            <ac:spMk id="27" creationId="{59F00168-1589-417C-423A-D6F1235A5A69}"/>
          </ac:spMkLst>
        </pc:spChg>
        <pc:spChg chg="del mod">
          <ac:chgData name="Bennett Turner" userId="ac790710-c2d5-417f-a912-46cdb6fba09a" providerId="ADAL" clId="{E76F20D7-B205-4045-873E-3BD99823FDF7}" dt="2026-08-19T23:03:47.111" v="1230" actId="478"/>
          <ac:spMkLst>
            <pc:docMk/>
            <pc:sldMk cId="715468260" sldId="365"/>
            <ac:spMk id="28" creationId="{822FA983-099B-73FC-5D49-E4FA3FF94343}"/>
          </ac:spMkLst>
        </pc:spChg>
        <pc:spChg chg="mod">
          <ac:chgData name="Bennett Turner" userId="ac790710-c2d5-417f-a912-46cdb6fba09a" providerId="ADAL" clId="{E76F20D7-B205-4045-873E-3BD99823FDF7}" dt="2026-08-19T23:12:06.761" v="1276"/>
          <ac:spMkLst>
            <pc:docMk/>
            <pc:sldMk cId="715468260" sldId="365"/>
            <ac:spMk id="29" creationId="{F33A9A94-8755-B34F-78F6-EB998E1169AA}"/>
          </ac:spMkLst>
        </pc:spChg>
        <pc:spChg chg="mod">
          <ac:chgData name="Bennett Turner" userId="ac790710-c2d5-417f-a912-46cdb6fba09a" providerId="ADAL" clId="{E76F20D7-B205-4045-873E-3BD99823FDF7}" dt="2026-08-19T23:12:06.751" v="1240"/>
          <ac:spMkLst>
            <pc:docMk/>
            <pc:sldMk cId="715468260" sldId="365"/>
            <ac:spMk id="30" creationId="{EF8C6730-DE60-155B-F291-BE436E75D600}"/>
          </ac:spMkLst>
        </pc:spChg>
        <pc:spChg chg="mod">
          <ac:chgData name="Bennett Turner" userId="ac790710-c2d5-417f-a912-46cdb6fba09a" providerId="ADAL" clId="{E76F20D7-B205-4045-873E-3BD99823FDF7}" dt="2026-08-19T23:12:06.751" v="1248"/>
          <ac:spMkLst>
            <pc:docMk/>
            <pc:sldMk cId="715468260" sldId="365"/>
            <ac:spMk id="31" creationId="{D2111C64-7F23-C5A7-6C30-3695B4E42FCD}"/>
          </ac:spMkLst>
        </pc:spChg>
        <pc:graphicFrameChg chg="mod">
          <ac:chgData name="Bennett Turner" userId="ac790710-c2d5-417f-a912-46cdb6fba09a" providerId="ADAL" clId="{E76F20D7-B205-4045-873E-3BD99823FDF7}" dt="2026-08-19T23:12:06.761" v="1252"/>
          <ac:graphicFrameMkLst>
            <pc:docMk/>
            <pc:sldMk cId="715468260" sldId="365"/>
            <ac:graphicFrameMk id="401" creationId="{00000000-0000-0000-0000-000000000000}"/>
          </ac:graphicFrameMkLst>
        </pc:graphicFrameChg>
        <pc:graphicFrameChg chg="mod">
          <ac:chgData name="Bennett Turner" userId="ac790710-c2d5-417f-a912-46cdb6fba09a" providerId="ADAL" clId="{E76F20D7-B205-4045-873E-3BD99823FDF7}" dt="2026-08-19T23:12:06.761" v="1256"/>
          <ac:graphicFrameMkLst>
            <pc:docMk/>
            <pc:sldMk cId="715468260" sldId="365"/>
            <ac:graphicFrameMk id="402" creationId="{00000000-0000-0000-0000-000000000000}"/>
          </ac:graphicFrameMkLst>
        </pc:graphicFrameChg>
      </pc:sldChg>
      <pc:sldChg chg="modSp add mod">
        <pc:chgData name="Bennett Turner" userId="ac790710-c2d5-417f-a912-46cdb6fba09a" providerId="ADAL" clId="{E76F20D7-B205-4045-873E-3BD99823FDF7}" dt="2026-08-19T23:23:38.004" v="1516" actId="20577"/>
        <pc:sldMkLst>
          <pc:docMk/>
          <pc:sldMk cId="3200241640" sldId="366"/>
        </pc:sldMkLst>
        <pc:spChg chg="mod">
          <ac:chgData name="Bennett Turner" userId="ac790710-c2d5-417f-a912-46cdb6fba09a" providerId="ADAL" clId="{E76F20D7-B205-4045-873E-3BD99823FDF7}" dt="2026-08-19T23:16:32.243" v="1461"/>
          <ac:spMkLst>
            <pc:docMk/>
            <pc:sldMk cId="3200241640" sldId="366"/>
            <ac:spMk id="4" creationId="{00000000-0000-0000-0000-000000000000}"/>
          </ac:spMkLst>
        </pc:spChg>
        <pc:spChg chg="mod">
          <ac:chgData name="Bennett Turner" userId="ac790710-c2d5-417f-a912-46cdb6fba09a" providerId="ADAL" clId="{E76F20D7-B205-4045-873E-3BD99823FDF7}" dt="2026-08-19T23:16:14.606" v="1460" actId="6549"/>
          <ac:spMkLst>
            <pc:docMk/>
            <pc:sldMk cId="3200241640" sldId="366"/>
            <ac:spMk id="7" creationId="{E132567B-3C1B-49B5-ADB7-EDFA1B99DF08}"/>
          </ac:spMkLst>
        </pc:spChg>
        <pc:spChg chg="mod">
          <ac:chgData name="Bennett Turner" userId="ac790710-c2d5-417f-a912-46cdb6fba09a" providerId="ADAL" clId="{E76F20D7-B205-4045-873E-3BD99823FDF7}" dt="2026-08-19T23:14:28.221" v="1366" actId="1076"/>
          <ac:spMkLst>
            <pc:docMk/>
            <pc:sldMk cId="3200241640" sldId="366"/>
            <ac:spMk id="8" creationId="{0793925E-0B4F-EAA9-0573-D97C869FB135}"/>
          </ac:spMkLst>
        </pc:spChg>
        <pc:spChg chg="mod">
          <ac:chgData name="Bennett Turner" userId="ac790710-c2d5-417f-a912-46cdb6fba09a" providerId="ADAL" clId="{E76F20D7-B205-4045-873E-3BD99823FDF7}" dt="2026-08-19T23:15:30.106" v="1402" actId="1036"/>
          <ac:spMkLst>
            <pc:docMk/>
            <pc:sldMk cId="3200241640" sldId="366"/>
            <ac:spMk id="9" creationId="{00000000-0000-0000-0000-000000000000}"/>
          </ac:spMkLst>
        </pc:spChg>
        <pc:spChg chg="mod">
          <ac:chgData name="Bennett Turner" userId="ac790710-c2d5-417f-a912-46cdb6fba09a" providerId="ADAL" clId="{E76F20D7-B205-4045-873E-3BD99823FDF7}" dt="2026-08-19T23:14:33.443" v="1367" actId="1076"/>
          <ac:spMkLst>
            <pc:docMk/>
            <pc:sldMk cId="3200241640" sldId="366"/>
            <ac:spMk id="10" creationId="{ABD5A102-E0EA-7581-D3C2-A223A80BBD81}"/>
          </ac:spMkLst>
        </pc:spChg>
        <pc:spChg chg="mod">
          <ac:chgData name="Bennett Turner" userId="ac790710-c2d5-417f-a912-46cdb6fba09a" providerId="ADAL" clId="{E76F20D7-B205-4045-873E-3BD99823FDF7}" dt="2026-08-19T23:13:58.301" v="1340"/>
          <ac:spMkLst>
            <pc:docMk/>
            <pc:sldMk cId="3200241640" sldId="366"/>
            <ac:spMk id="11" creationId="{3D1DB569-26A8-46EA-8EE7-C8FB211D57AB}"/>
          </ac:spMkLst>
        </pc:spChg>
        <pc:spChg chg="mod">
          <ac:chgData name="Bennett Turner" userId="ac790710-c2d5-417f-a912-46cdb6fba09a" providerId="ADAL" clId="{E76F20D7-B205-4045-873E-3BD99823FDF7}" dt="2026-08-19T23:23:38.004" v="1516" actId="20577"/>
          <ac:spMkLst>
            <pc:docMk/>
            <pc:sldMk cId="3200241640" sldId="366"/>
            <ac:spMk id="12" creationId="{54610266-56EA-45C1-B4C1-76599372FC6D}"/>
          </ac:spMkLst>
        </pc:spChg>
        <pc:spChg chg="mod">
          <ac:chgData name="Bennett Turner" userId="ac790710-c2d5-417f-a912-46cdb6fba09a" providerId="ADAL" clId="{E76F20D7-B205-4045-873E-3BD99823FDF7}" dt="2026-08-19T23:13:06.042" v="1334"/>
          <ac:spMkLst>
            <pc:docMk/>
            <pc:sldMk cId="3200241640" sldId="366"/>
            <ac:spMk id="13" creationId="{230AE36C-16FA-4CD8-AAD3-1C9E1E1AA03B}"/>
          </ac:spMkLst>
        </pc:spChg>
        <pc:spChg chg="mod">
          <ac:chgData name="Bennett Turner" userId="ac790710-c2d5-417f-a912-46cdb6fba09a" providerId="ADAL" clId="{E76F20D7-B205-4045-873E-3BD99823FDF7}" dt="2026-08-19T23:23:33.940" v="1514" actId="20577"/>
          <ac:spMkLst>
            <pc:docMk/>
            <pc:sldMk cId="3200241640" sldId="366"/>
            <ac:spMk id="14" creationId="{9448A1E9-D0BA-4BEC-9175-7995602EFB9D}"/>
          </ac:spMkLst>
        </pc:spChg>
        <pc:spChg chg="mod">
          <ac:chgData name="Bennett Turner" userId="ac790710-c2d5-417f-a912-46cdb6fba09a" providerId="ADAL" clId="{E76F20D7-B205-4045-873E-3BD99823FDF7}" dt="2026-08-19T23:17:40.057" v="1490" actId="20577"/>
          <ac:spMkLst>
            <pc:docMk/>
            <pc:sldMk cId="3200241640" sldId="366"/>
            <ac:spMk id="15" creationId="{00000000-0000-0000-0000-000000000000}"/>
          </ac:spMkLst>
        </pc:spChg>
        <pc:spChg chg="mod">
          <ac:chgData name="Bennett Turner" userId="ac790710-c2d5-417f-a912-46cdb6fba09a" providerId="ADAL" clId="{E76F20D7-B205-4045-873E-3BD99823FDF7}" dt="2026-08-19T23:15:38.911" v="1403" actId="20577"/>
          <ac:spMkLst>
            <pc:docMk/>
            <pc:sldMk cId="3200241640" sldId="366"/>
            <ac:spMk id="16" creationId="{D847F38D-8F13-436A-8CC3-FBE59A4121D9}"/>
          </ac:spMkLst>
        </pc:spChg>
        <pc:spChg chg="mod">
          <ac:chgData name="Bennett Turner" userId="ac790710-c2d5-417f-a912-46cdb6fba09a" providerId="ADAL" clId="{E76F20D7-B205-4045-873E-3BD99823FDF7}" dt="2026-08-19T23:16:49.481" v="1473" actId="1035"/>
          <ac:spMkLst>
            <pc:docMk/>
            <pc:sldMk cId="3200241640" sldId="366"/>
            <ac:spMk id="20" creationId="{00000000-0000-0000-0000-000000000000}"/>
          </ac:spMkLst>
        </pc:spChg>
        <pc:spChg chg="mod">
          <ac:chgData name="Bennett Turner" userId="ac790710-c2d5-417f-a912-46cdb6fba09a" providerId="ADAL" clId="{E76F20D7-B205-4045-873E-3BD99823FDF7}" dt="2026-08-19T23:16:40.545" v="1462" actId="6549"/>
          <ac:spMkLst>
            <pc:docMk/>
            <pc:sldMk cId="3200241640" sldId="366"/>
            <ac:spMk id="21" creationId="{00000000-0000-0000-0000-000000000000}"/>
          </ac:spMkLst>
        </pc:spChg>
        <pc:spChg chg="mod">
          <ac:chgData name="Bennett Turner" userId="ac790710-c2d5-417f-a912-46cdb6fba09a" providerId="ADAL" clId="{E76F20D7-B205-4045-873E-3BD99823FDF7}" dt="2026-08-19T23:13:58.301" v="1339"/>
          <ac:spMkLst>
            <pc:docMk/>
            <pc:sldMk cId="3200241640" sldId="366"/>
            <ac:spMk id="29" creationId="{F33A9A94-8755-B34F-78F6-EB998E1169AA}"/>
          </ac:spMkLst>
        </pc:spChg>
      </pc:sldChg>
      <pc:sldMasterChg chg="modSldLayout">
        <pc:chgData name="Bennett Turner" userId="ac790710-c2d5-417f-a912-46cdb6fba09a" providerId="ADAL" clId="{E76F20D7-B205-4045-873E-3BD99823FDF7}" dt="2026-08-19T23:12:36.836" v="1331"/>
        <pc:sldMasterMkLst>
          <pc:docMk/>
          <pc:sldMasterMk cId="0" sldId="2147483648"/>
        </pc:sldMasterMkLst>
        <pc:sldLayoutChg chg="addSp delSp modSp mod">
          <pc:chgData name="Bennett Turner" userId="ac790710-c2d5-417f-a912-46cdb6fba09a" providerId="ADAL" clId="{E76F20D7-B205-4045-873E-3BD99823FDF7}" dt="2026-08-19T23:12:36.836" v="1331"/>
          <pc:sldLayoutMkLst>
            <pc:docMk/>
            <pc:sldMasterMk cId="0" sldId="2147483648"/>
            <pc:sldLayoutMk cId="0" sldId="2147483649"/>
          </pc:sldLayoutMkLst>
          <pc:spChg chg="add del mod modVis">
            <ac:chgData name="Bennett Turner" userId="ac790710-c2d5-417f-a912-46cdb6fba09a" providerId="ADAL" clId="{E76F20D7-B205-4045-873E-3BD99823FDF7}" dt="2026-08-19T22:42:53.271" v="896"/>
            <ac:spMkLst>
              <pc:docMk/>
              <pc:sldMasterMk cId="0" sldId="2147483648"/>
              <pc:sldLayoutMk cId="0" sldId="2147483649"/>
              <ac:spMk id="2" creationId="{DECDC82C-1AA2-ECB6-6978-47B316C49933}"/>
            </ac:spMkLst>
          </pc:spChg>
          <pc:spChg chg="add del mod modVis">
            <ac:chgData name="Bennett Turner" userId="ac790710-c2d5-417f-a912-46cdb6fba09a" providerId="ADAL" clId="{E76F20D7-B205-4045-873E-3BD99823FDF7}" dt="2026-08-19T22:46:11.131" v="971"/>
            <ac:spMkLst>
              <pc:docMk/>
              <pc:sldMasterMk cId="0" sldId="2147483648"/>
              <pc:sldLayoutMk cId="0" sldId="2147483649"/>
              <ac:spMk id="3" creationId="{74F4325B-04A1-437F-5C7D-6AE3D594F3D8}"/>
            </ac:spMkLst>
          </pc:spChg>
          <pc:spChg chg="add del mod modVis">
            <ac:chgData name="Bennett Turner" userId="ac790710-c2d5-417f-a912-46cdb6fba09a" providerId="ADAL" clId="{E76F20D7-B205-4045-873E-3BD99823FDF7}" dt="2026-08-19T22:46:17.171" v="980"/>
            <ac:spMkLst>
              <pc:docMk/>
              <pc:sldMasterMk cId="0" sldId="2147483648"/>
              <pc:sldLayoutMk cId="0" sldId="2147483649"/>
              <ac:spMk id="4" creationId="{B101385D-6DA1-B5A5-2639-D1588B92524A}"/>
            </ac:spMkLst>
          </pc:spChg>
          <pc:spChg chg="add del mod modVis">
            <ac:chgData name="Bennett Turner" userId="ac790710-c2d5-417f-a912-46cdb6fba09a" providerId="ADAL" clId="{E76F20D7-B205-4045-873E-3BD99823FDF7}" dt="2026-08-19T22:46:24.387" v="989"/>
            <ac:spMkLst>
              <pc:docMk/>
              <pc:sldMasterMk cId="0" sldId="2147483648"/>
              <pc:sldLayoutMk cId="0" sldId="2147483649"/>
              <ac:spMk id="5" creationId="{F37AFE76-50E9-D61F-9F04-0B701CA53DBA}"/>
            </ac:spMkLst>
          </pc:spChg>
          <pc:spChg chg="add del mod modVis">
            <ac:chgData name="Bennett Turner" userId="ac790710-c2d5-417f-a912-46cdb6fba09a" providerId="ADAL" clId="{E76F20D7-B205-4045-873E-3BD99823FDF7}" dt="2026-08-19T22:50:48.881" v="1042"/>
            <ac:spMkLst>
              <pc:docMk/>
              <pc:sldMasterMk cId="0" sldId="2147483648"/>
              <pc:sldLayoutMk cId="0" sldId="2147483649"/>
              <ac:spMk id="6" creationId="{663110CD-1243-68C3-3F54-0CA748E37C8C}"/>
            </ac:spMkLst>
          </pc:spChg>
          <pc:spChg chg="add del mod modVis">
            <ac:chgData name="Bennett Turner" userId="ac790710-c2d5-417f-a912-46cdb6fba09a" providerId="ADAL" clId="{E76F20D7-B205-4045-873E-3BD99823FDF7}" dt="2026-08-19T22:52:03.409" v="1057"/>
            <ac:spMkLst>
              <pc:docMk/>
              <pc:sldMasterMk cId="0" sldId="2147483648"/>
              <pc:sldLayoutMk cId="0" sldId="2147483649"/>
              <ac:spMk id="7" creationId="{F4A499DE-01DD-8617-32E3-E06A139E23D6}"/>
            </ac:spMkLst>
          </pc:spChg>
          <pc:spChg chg="add del mod modVis">
            <ac:chgData name="Bennett Turner" userId="ac790710-c2d5-417f-a912-46cdb6fba09a" providerId="ADAL" clId="{E76F20D7-B205-4045-873E-3BD99823FDF7}" dt="2026-08-19T23:12:36.831" v="1325"/>
            <ac:spMkLst>
              <pc:docMk/>
              <pc:sldMasterMk cId="0" sldId="2147483648"/>
              <pc:sldLayoutMk cId="0" sldId="2147483649"/>
              <ac:spMk id="8" creationId="{B90CD66E-E599-A409-28D3-8C1D35A48515}"/>
            </ac:spMkLst>
          </pc:spChg>
          <pc:spChg chg="add mod modVis">
            <ac:chgData name="Bennett Turner" userId="ac790710-c2d5-417f-a912-46cdb6fba09a" providerId="ADAL" clId="{E76F20D7-B205-4045-873E-3BD99823FDF7}" dt="2026-08-19T23:12:36.836" v="1331"/>
            <ac:spMkLst>
              <pc:docMk/>
              <pc:sldMasterMk cId="0" sldId="2147483648"/>
              <pc:sldLayoutMk cId="0" sldId="2147483649"/>
              <ac:spMk id="9" creationId="{1613AAA4-90F7-9C50-3D47-9D3742761599}"/>
            </ac:spMkLst>
          </pc:spChg>
          <pc:spChg chg="del">
            <ac:chgData name="Bennett Turner" userId="ac790710-c2d5-417f-a912-46cdb6fba09a" providerId="ADAL" clId="{E76F20D7-B205-4045-873E-3BD99823FDF7}" dt="2026-08-19T22:25:14.791" v="377"/>
            <ac:spMkLst>
              <pc:docMk/>
              <pc:sldMasterMk cId="0" sldId="2147483648"/>
              <pc:sldLayoutMk cId="0" sldId="2147483649"/>
              <ac:spMk id="12" creationId="{C2974BD8-B588-0624-D707-A5A2EF066294}"/>
            </ac:spMkLst>
          </pc:spChg>
        </pc:sldLayoutChg>
      </pc:sldMasterChg>
    </pc:docChg>
  </pc:docChgLst>
</pc:chgInfo>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
          <c:y val="0"/>
          <c:w val="1"/>
          <c:h val="1"/>
        </c:manualLayout>
      </c:layout>
      <c:barChart>
        <c:barDir val="col"/>
        <c:grouping val="stacked"/>
        <c:varyColors val="0"/>
        <c:ser>
          <c:idx val="0"/>
          <c:order val="0"/>
          <c:tx>
            <c:v>Bridge Base</c:v>
          </c:tx>
          <c:spPr>
            <a:noFill/>
            <a:ln>
              <a:noFill/>
            </a:ln>
          </c:spPr>
          <c:invertIfNegative val="0"/>
          <c:cat>
            <c:strLit>
              <c:ptCount val="3"/>
              <c:pt idx="0">
                <c:v>Total Cash</c:v>
              </c:pt>
              <c:pt idx="1">
                <c:v>Seller Rollover Equity</c:v>
              </c:pt>
              <c:pt idx="2">
                <c:v>Initial Consideration</c:v>
              </c:pt>
            </c:strLit>
          </c:cat>
          <c:val>
            <c:numLit>
              <c:formatCode>General</c:formatCode>
              <c:ptCount val="3"/>
              <c:pt idx="0">
                <c:v>0</c:v>
              </c:pt>
              <c:pt idx="1">
                <c:v>38</c:v>
              </c:pt>
              <c:pt idx="2">
                <c:v>0</c:v>
              </c:pt>
            </c:numLit>
          </c:val>
          <c:extLst>
            <c:ext xmlns:c16="http://schemas.microsoft.com/office/drawing/2014/chart" uri="{C3380CC4-5D6E-409C-BE32-E72D297353CC}">
              <c16:uniqueId val="{00000000-8441-415F-9E37-D51A79D9159A}"/>
            </c:ext>
          </c:extLst>
        </c:ser>
        <c:ser>
          <c:idx val="1"/>
          <c:order val="1"/>
          <c:tx>
            <c:v>Cash at Close</c:v>
          </c:tx>
          <c:spPr>
            <a:solidFill>
              <a:srgbClr val="DCE3F2"/>
            </a:solidFill>
            <a:ln>
              <a:noFill/>
            </a:ln>
          </c:spPr>
          <c:invertIfNegative val="0"/>
          <c:cat>
            <c:strLit>
              <c:ptCount val="3"/>
              <c:pt idx="0">
                <c:v>Total Cash</c:v>
              </c:pt>
              <c:pt idx="1">
                <c:v>Seller Rollover Equity</c:v>
              </c:pt>
              <c:pt idx="2">
                <c:v>Initial Consideration</c:v>
              </c:pt>
            </c:strLit>
          </c:cat>
          <c:val>
            <c:numLit>
              <c:formatCode>General</c:formatCode>
              <c:ptCount val="3"/>
              <c:pt idx="0">
                <c:v>30</c:v>
              </c:pt>
              <c:pt idx="1">
                <c:v>0</c:v>
              </c:pt>
              <c:pt idx="2">
                <c:v>0</c:v>
              </c:pt>
            </c:numLit>
          </c:val>
          <c:extLst>
            <c:ext xmlns:c16="http://schemas.microsoft.com/office/drawing/2014/chart" uri="{C3380CC4-5D6E-409C-BE32-E72D297353CC}">
              <c16:uniqueId val="{00000001-8441-415F-9E37-D51A79D9159A}"/>
            </c:ext>
          </c:extLst>
        </c:ser>
        <c:ser>
          <c:idx val="2"/>
          <c:order val="2"/>
          <c:tx>
            <c:v>Deferred Cash</c:v>
          </c:tx>
          <c:spPr>
            <a:solidFill>
              <a:srgbClr val="B9C6E4"/>
            </a:solidFill>
            <a:ln>
              <a:noFill/>
            </a:ln>
          </c:spPr>
          <c:invertIfNegative val="0"/>
          <c:cat>
            <c:strLit>
              <c:ptCount val="3"/>
              <c:pt idx="0">
                <c:v>Total Cash</c:v>
              </c:pt>
              <c:pt idx="1">
                <c:v>Seller Rollover Equity</c:v>
              </c:pt>
              <c:pt idx="2">
                <c:v>Initial Consideration</c:v>
              </c:pt>
            </c:strLit>
          </c:cat>
          <c:val>
            <c:numLit>
              <c:formatCode>General</c:formatCode>
              <c:ptCount val="3"/>
              <c:pt idx="0">
                <c:v>8</c:v>
              </c:pt>
              <c:pt idx="1">
                <c:v>0</c:v>
              </c:pt>
              <c:pt idx="2">
                <c:v>0</c:v>
              </c:pt>
            </c:numLit>
          </c:val>
          <c:extLst>
            <c:ext xmlns:c16="http://schemas.microsoft.com/office/drawing/2014/chart" uri="{C3380CC4-5D6E-409C-BE32-E72D297353CC}">
              <c16:uniqueId val="{00000002-8441-415F-9E37-D51A79D9159A}"/>
            </c:ext>
          </c:extLst>
        </c:ser>
        <c:ser>
          <c:idx val="3"/>
          <c:order val="3"/>
          <c:tx>
            <c:v>Rollover / Total</c:v>
          </c:tx>
          <c:spPr>
            <a:solidFill>
              <a:srgbClr val="825B90"/>
            </a:solidFill>
            <a:ln>
              <a:noFill/>
            </a:ln>
          </c:spPr>
          <c:invertIfNegative val="0"/>
          <c:dPt>
            <c:idx val="2"/>
            <c:invertIfNegative val="0"/>
            <c:bubble3D val="0"/>
            <c:spPr>
              <a:solidFill>
                <a:srgbClr val="201243"/>
              </a:solidFill>
              <a:ln>
                <a:noFill/>
              </a:ln>
            </c:spPr>
            <c:extLst>
              <c:ext xmlns:c16="http://schemas.microsoft.com/office/drawing/2014/chart" uri="{C3380CC4-5D6E-409C-BE32-E72D297353CC}">
                <c16:uniqueId val="{00000004-8441-415F-9E37-D51A79D9159A}"/>
              </c:ext>
            </c:extLst>
          </c:dPt>
          <c:cat>
            <c:strLit>
              <c:ptCount val="3"/>
              <c:pt idx="0">
                <c:v>Total Cash</c:v>
              </c:pt>
              <c:pt idx="1">
                <c:v>Seller Rollover Equity</c:v>
              </c:pt>
              <c:pt idx="2">
                <c:v>Initial Consideration</c:v>
              </c:pt>
            </c:strLit>
          </c:cat>
          <c:val>
            <c:numLit>
              <c:formatCode>General</c:formatCode>
              <c:ptCount val="3"/>
              <c:pt idx="0">
                <c:v>0</c:v>
              </c:pt>
              <c:pt idx="1">
                <c:v>5</c:v>
              </c:pt>
              <c:pt idx="2">
                <c:v>43</c:v>
              </c:pt>
            </c:numLit>
          </c:val>
          <c:extLst>
            <c:ext xmlns:c16="http://schemas.microsoft.com/office/drawing/2014/chart" uri="{C3380CC4-5D6E-409C-BE32-E72D297353CC}">
              <c16:uniqueId val="{00000005-8441-415F-9E37-D51A79D9159A}"/>
            </c:ext>
          </c:extLst>
        </c:ser>
        <c:dLbls>
          <c:showLegendKey val="0"/>
          <c:showVal val="0"/>
          <c:showCatName val="0"/>
          <c:showSerName val="0"/>
          <c:showPercent val="0"/>
          <c:showBubbleSize val="0"/>
        </c:dLbls>
        <c:gapWidth val="75"/>
        <c:overlap val="100"/>
        <c:axId val="411"/>
        <c:axId val="422"/>
      </c:barChart>
      <c:catAx>
        <c:axId val="411"/>
        <c:scaling>
          <c:orientation val="minMax"/>
        </c:scaling>
        <c:delete val="1"/>
        <c:axPos val="b"/>
        <c:numFmt formatCode="General" sourceLinked="0"/>
        <c:majorTickMark val="none"/>
        <c:minorTickMark val="none"/>
        <c:tickLblPos val="none"/>
        <c:crossAx val="422"/>
        <c:crosses val="autoZero"/>
        <c:auto val="1"/>
        <c:lblAlgn val="ctr"/>
        <c:lblOffset val="100"/>
        <c:noMultiLvlLbl val="1"/>
      </c:catAx>
      <c:valAx>
        <c:axId val="422"/>
        <c:scaling>
          <c:orientation val="minMax"/>
          <c:max val="50"/>
          <c:min val="0"/>
        </c:scaling>
        <c:delete val="1"/>
        <c:axPos val="l"/>
        <c:numFmt formatCode="General" sourceLinked="1"/>
        <c:majorTickMark val="none"/>
        <c:minorTickMark val="none"/>
        <c:tickLblPos val="none"/>
        <c:crossAx val="41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14000000000000001"/>
          <c:w val="0.96"/>
          <c:h val="0.86"/>
        </c:manualLayout>
      </c:layout>
      <c:barChart>
        <c:barDir val="col"/>
        <c:grouping val="clustered"/>
        <c:varyColors val="0"/>
        <c:ser>
          <c:idx val="0"/>
          <c:order val="0"/>
          <c:tx>
            <c:strRef>
              <c:f>Sheet1!$B$1</c:f>
              <c:strCache>
                <c:ptCount val="1"/>
                <c:pt idx="0">
                  <c:v>Center EBITDA</c:v>
                </c:pt>
              </c:strCache>
            </c:strRef>
          </c:tx>
          <c:spPr>
            <a:solidFill>
              <a:srgbClr val="6585C7"/>
            </a:solidFill>
            <a:ln>
              <a:noFill/>
            </a:ln>
          </c:spPr>
          <c:invertIfNegative val="0"/>
          <c:dPt>
            <c:idx val="1"/>
            <c:invertIfNegative val="0"/>
            <c:bubble3D val="0"/>
            <c:spPr>
              <a:solidFill>
                <a:srgbClr val="201243"/>
              </a:solidFill>
              <a:ln>
                <a:noFill/>
              </a:ln>
            </c:spPr>
            <c:extLst>
              <c:ext xmlns:c16="http://schemas.microsoft.com/office/drawing/2014/chart" uri="{C3380CC4-5D6E-409C-BE32-E72D297353CC}">
                <c16:uniqueId val="{00000001-29F6-4582-876C-039B5567D2BF}"/>
              </c:ext>
            </c:extLst>
          </c:dPt>
          <c:dLbls>
            <c:dLbl>
              <c:idx val="0"/>
              <c:tx>
                <c:rich>
                  <a:bodyPr wrap="none"/>
                  <a:lstStyle/>
                  <a:p>
                    <a:pPr>
                      <a:defRPr sz="1500" b="1">
                        <a:solidFill>
                          <a:srgbClr val="201243"/>
                        </a:solidFill>
                      </a:defRPr>
                    </a:pPr>
                    <a:r>
                      <a:rPr lang="en-US" sz="1500" b="1" dirty="0">
                        <a:solidFill>
                          <a:srgbClr val="201243"/>
                        </a:solidFill>
                      </a:rPr>
                      <a:t>$1.0M</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2-29F6-4582-876C-039B5567D2BF}"/>
                </c:ext>
              </c:extLst>
            </c:dLbl>
            <c:dLbl>
              <c:idx val="1"/>
              <c:tx>
                <c:rich>
                  <a:bodyPr wrap="none"/>
                  <a:lstStyle/>
                  <a:p>
                    <a:pPr>
                      <a:defRPr sz="1500" b="1">
                        <a:solidFill>
                          <a:srgbClr val="201243"/>
                        </a:solidFill>
                      </a:defRPr>
                    </a:pPr>
                    <a:r>
                      <a:rPr lang="en-US" sz="1500" b="1" dirty="0">
                        <a:solidFill>
                          <a:srgbClr val="201243"/>
                        </a:solidFill>
                      </a:rPr>
                      <a:t>$2.0M</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1-29F6-4582-876C-039B5567D2BF}"/>
                </c:ext>
              </c:extLst>
            </c:dLbl>
            <c:spPr>
              <a:noFill/>
              <a:ln>
                <a:noFill/>
              </a:ln>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At Close</c:v>
                </c:pt>
                <c:pt idx="1">
                  <c:v>Year 3</c:v>
                </c:pt>
              </c:strCache>
            </c:strRef>
          </c:cat>
          <c:val>
            <c:numRef>
              <c:f>Sheet1!$B$2:$B$3</c:f>
              <c:numCache>
                <c:formatCode>General</c:formatCode>
                <c:ptCount val="2"/>
                <c:pt idx="0">
                  <c:v>1</c:v>
                </c:pt>
                <c:pt idx="1">
                  <c:v>2</c:v>
                </c:pt>
              </c:numCache>
            </c:numRef>
          </c:val>
          <c:extLst>
            <c:ext xmlns:c16="http://schemas.microsoft.com/office/drawing/2014/chart" uri="{C3380CC4-5D6E-409C-BE32-E72D297353CC}">
              <c16:uniqueId val="{00000003-29F6-4582-876C-039B5567D2BF}"/>
            </c:ext>
          </c:extLst>
        </c:ser>
        <c:dLbls>
          <c:showLegendKey val="0"/>
          <c:showVal val="0"/>
          <c:showCatName val="0"/>
          <c:showSerName val="0"/>
          <c:showPercent val="0"/>
          <c:showBubbleSize val="0"/>
        </c:dLbls>
        <c:gapWidth val="70"/>
        <c:axId val="111111111"/>
        <c:axId val="222222222"/>
      </c:barChart>
      <c:catAx>
        <c:axId val="111111111"/>
        <c:scaling>
          <c:orientation val="minMax"/>
        </c:scaling>
        <c:delete val="1"/>
        <c:axPos val="b"/>
        <c:numFmt formatCode="General" sourceLinked="0"/>
        <c:majorTickMark val="none"/>
        <c:minorTickMark val="none"/>
        <c:tickLblPos val="none"/>
        <c:crossAx val="222222222"/>
        <c:crosses val="autoZero"/>
        <c:auto val="1"/>
        <c:lblAlgn val="ctr"/>
        <c:lblOffset val="100"/>
        <c:noMultiLvlLbl val="1"/>
      </c:catAx>
      <c:valAx>
        <c:axId val="222222222"/>
        <c:scaling>
          <c:orientation val="minMax"/>
          <c:max val="2.6"/>
          <c:min val="0"/>
        </c:scaling>
        <c:delete val="1"/>
        <c:axPos val="l"/>
        <c:numFmt formatCode="General" sourceLinked="1"/>
        <c:majorTickMark val="none"/>
        <c:minorTickMark val="none"/>
        <c:tickLblPos val="none"/>
        <c:crossAx val="11111111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1.7999999999999999E-2"/>
          <c:y val="0.17399999999999999"/>
          <c:w val="0.96299999999999997"/>
          <c:h val="0.78300000000000003"/>
        </c:manualLayout>
      </c:layout>
      <c:barChart>
        <c:barDir val="col"/>
        <c:grouping val="clustered"/>
        <c:varyColors val="0"/>
        <c:ser>
          <c:idx val="0"/>
          <c:order val="0"/>
          <c:tx>
            <c:v>EV / EBITDA multiple</c:v>
          </c:tx>
          <c:spPr>
            <a:solidFill>
              <a:srgbClr val="6585C7"/>
            </a:solidFill>
            <a:ln>
              <a:noFill/>
            </a:ln>
          </c:spPr>
          <c:invertIfNegative val="0"/>
          <c:dPt>
            <c:idx val="0"/>
            <c:invertIfNegative val="0"/>
            <c:bubble3D val="0"/>
            <c:extLst>
              <c:ext xmlns:c16="http://schemas.microsoft.com/office/drawing/2014/chart" uri="{C3380CC4-5D6E-409C-BE32-E72D297353CC}">
                <c16:uniqueId val="{00000001-E3CF-458C-9D8A-3C39681C5250}"/>
              </c:ext>
            </c:extLst>
          </c:dPt>
          <c:dPt>
            <c:idx val="1"/>
            <c:invertIfNegative val="0"/>
            <c:bubble3D val="0"/>
            <c:spPr>
              <a:solidFill>
                <a:srgbClr val="201243"/>
              </a:solidFill>
              <a:ln>
                <a:noFill/>
              </a:ln>
            </c:spPr>
            <c:extLst>
              <c:ext xmlns:c16="http://schemas.microsoft.com/office/drawing/2014/chart" uri="{C3380CC4-5D6E-409C-BE32-E72D297353CC}">
                <c16:uniqueId val="{00000003-E3CF-458C-9D8A-3C39681C5250}"/>
              </c:ext>
            </c:extLst>
          </c:dPt>
          <c:dLbls>
            <c:dLbl>
              <c:idx val="0"/>
              <c:tx>
                <c:rich>
                  <a:bodyPr wrap="none"/>
                  <a:lstStyle/>
                  <a:p>
                    <a:pPr>
                      <a:defRPr sz="1500" b="1">
                        <a:solidFill>
                          <a:srgbClr val="201243"/>
                        </a:solidFill>
                      </a:defRPr>
                    </a:pPr>
                    <a:r>
                      <a:rPr lang="en-US" sz="1500" b="1">
                        <a:solidFill>
                          <a:srgbClr val="201243"/>
                        </a:solidFill>
                      </a:rPr>
                      <a:t>4 – 6x</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1-E3CF-458C-9D8A-3C39681C5250}"/>
                </c:ext>
              </c:extLst>
            </c:dLbl>
            <c:dLbl>
              <c:idx val="1"/>
              <c:tx>
                <c:rich>
                  <a:bodyPr wrap="none"/>
                  <a:lstStyle/>
                  <a:p>
                    <a:pPr>
                      <a:defRPr sz="1500" b="1">
                        <a:solidFill>
                          <a:srgbClr val="201243"/>
                        </a:solidFill>
                      </a:defRPr>
                    </a:pPr>
                    <a:r>
                      <a:rPr lang="en-US" sz="1500" b="1">
                        <a:solidFill>
                          <a:srgbClr val="201243"/>
                        </a:solidFill>
                      </a:rPr>
                      <a:t>9 – 16x</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3-E3CF-458C-9D8A-3C39681C5250}"/>
                </c:ext>
              </c:extLst>
            </c:dLbl>
            <c:spPr>
              <a:noFill/>
              <a:ln>
                <a:noFill/>
              </a:ln>
            </c:spPr>
            <c:txPr>
              <a:bodyPr/>
              <a:lstStyle/>
              <a:p>
                <a:pPr>
                  <a:defRPr sz="1500" b="1">
                    <a:solidFill>
                      <a:srgbClr val="20124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Independent Practice Entry</c:v>
              </c:pt>
              <c:pt idx="1">
                <c:v>Scaled Platform Valuation</c:v>
              </c:pt>
            </c:strLit>
          </c:cat>
          <c:val>
            <c:numLit>
              <c:formatCode>General</c:formatCode>
              <c:ptCount val="2"/>
              <c:pt idx="0">
                <c:v>5.6</c:v>
              </c:pt>
              <c:pt idx="1">
                <c:v>16</c:v>
              </c:pt>
            </c:numLit>
          </c:val>
          <c:extLst>
            <c:ext xmlns:c16="http://schemas.microsoft.com/office/drawing/2014/chart" uri="{C3380CC4-5D6E-409C-BE32-E72D297353CC}">
              <c16:uniqueId val="{00000004-E3CF-458C-9D8A-3C39681C5250}"/>
            </c:ext>
          </c:extLst>
        </c:ser>
        <c:dLbls>
          <c:showLegendKey val="0"/>
          <c:showVal val="0"/>
          <c:showCatName val="0"/>
          <c:showSerName val="0"/>
          <c:showPercent val="0"/>
          <c:showBubbleSize val="0"/>
        </c:dLbls>
        <c:gapWidth val="110"/>
        <c:axId val="111"/>
        <c:axId val="222"/>
      </c:barChart>
      <c:catAx>
        <c:axId val="111"/>
        <c:scaling>
          <c:orientation val="minMax"/>
        </c:scaling>
        <c:delete val="1"/>
        <c:axPos val="b"/>
        <c:numFmt formatCode="General" sourceLinked="0"/>
        <c:majorTickMark val="none"/>
        <c:minorTickMark val="none"/>
        <c:tickLblPos val="none"/>
        <c:crossAx val="222"/>
        <c:crosses val="autoZero"/>
        <c:auto val="1"/>
        <c:lblAlgn val="ctr"/>
        <c:lblOffset val="100"/>
        <c:noMultiLvlLbl val="1"/>
      </c:catAx>
      <c:valAx>
        <c:axId val="222"/>
        <c:scaling>
          <c:orientation val="minMax"/>
          <c:max val="16"/>
          <c:min val="0"/>
        </c:scaling>
        <c:delete val="1"/>
        <c:axPos val="l"/>
        <c:numFmt formatCode="General" sourceLinked="1"/>
        <c:majorTickMark val="none"/>
        <c:minorTickMark val="none"/>
        <c:tickLblPos val="none"/>
        <c:crossAx val="11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
          <c:y val="0"/>
          <c:w val="1"/>
          <c:h val="1"/>
        </c:manualLayout>
      </c:layout>
      <c:barChart>
        <c:barDir val="col"/>
        <c:grouping val="stacked"/>
        <c:varyColors val="0"/>
        <c:ser>
          <c:idx val="0"/>
          <c:order val="0"/>
          <c:tx>
            <c:v>Bridge Base</c:v>
          </c:tx>
          <c:spPr>
            <a:noFill/>
            <a:ln>
              <a:noFill/>
            </a:ln>
          </c:spPr>
          <c:invertIfNegative val="0"/>
          <c:cat>
            <c:strLit>
              <c:ptCount val="4"/>
              <c:pt idx="0">
                <c:v>Total Cash</c:v>
              </c:pt>
              <c:pt idx="1">
                <c:v>Seller Rollover Equity</c:v>
              </c:pt>
              <c:pt idx="2">
                <c:v>Potential Equity Value Increase</c:v>
              </c:pt>
              <c:pt idx="3">
                <c:v>Total Consideration</c:v>
              </c:pt>
            </c:strLit>
          </c:cat>
          <c:val>
            <c:numLit>
              <c:formatCode>General</c:formatCode>
              <c:ptCount val="4"/>
              <c:pt idx="0">
                <c:v>0</c:v>
              </c:pt>
              <c:pt idx="1">
                <c:v>38</c:v>
              </c:pt>
              <c:pt idx="2">
                <c:v>43</c:v>
              </c:pt>
              <c:pt idx="3">
                <c:v>0</c:v>
              </c:pt>
            </c:numLit>
          </c:val>
          <c:extLst>
            <c:ext xmlns:c16="http://schemas.microsoft.com/office/drawing/2014/chart" uri="{C3380CC4-5D6E-409C-BE32-E72D297353CC}">
              <c16:uniqueId val="{00000000-8441-415F-9E37-D51A79D9159A}"/>
            </c:ext>
          </c:extLst>
        </c:ser>
        <c:ser>
          <c:idx val="1"/>
          <c:order val="1"/>
          <c:tx>
            <c:v>Cash at Close</c:v>
          </c:tx>
          <c:spPr>
            <a:solidFill>
              <a:srgbClr val="DCE3F2"/>
            </a:solidFill>
            <a:ln>
              <a:noFill/>
            </a:ln>
          </c:spPr>
          <c:invertIfNegative val="0"/>
          <c:cat>
            <c:strLit>
              <c:ptCount val="4"/>
              <c:pt idx="0">
                <c:v>Total Cash</c:v>
              </c:pt>
              <c:pt idx="1">
                <c:v>Seller Rollover Equity</c:v>
              </c:pt>
              <c:pt idx="2">
                <c:v>Potential Equity Value Increase</c:v>
              </c:pt>
              <c:pt idx="3">
                <c:v>Total Consideration</c:v>
              </c:pt>
            </c:strLit>
          </c:cat>
          <c:val>
            <c:numLit>
              <c:formatCode>General</c:formatCode>
              <c:ptCount val="4"/>
              <c:pt idx="0">
                <c:v>30</c:v>
              </c:pt>
              <c:pt idx="1">
                <c:v>0</c:v>
              </c:pt>
              <c:pt idx="2">
                <c:v>0</c:v>
              </c:pt>
              <c:pt idx="3">
                <c:v>0</c:v>
              </c:pt>
            </c:numLit>
          </c:val>
          <c:extLst>
            <c:ext xmlns:c16="http://schemas.microsoft.com/office/drawing/2014/chart" uri="{C3380CC4-5D6E-409C-BE32-E72D297353CC}">
              <c16:uniqueId val="{00000001-8441-415F-9E37-D51A79D9159A}"/>
            </c:ext>
          </c:extLst>
        </c:ser>
        <c:ser>
          <c:idx val="2"/>
          <c:order val="2"/>
          <c:tx>
            <c:v>Deferred Cash</c:v>
          </c:tx>
          <c:spPr>
            <a:solidFill>
              <a:srgbClr val="B9C6E4"/>
            </a:solidFill>
            <a:ln>
              <a:noFill/>
            </a:ln>
          </c:spPr>
          <c:invertIfNegative val="0"/>
          <c:cat>
            <c:strLit>
              <c:ptCount val="4"/>
              <c:pt idx="0">
                <c:v>Total Cash</c:v>
              </c:pt>
              <c:pt idx="1">
                <c:v>Seller Rollover Equity</c:v>
              </c:pt>
              <c:pt idx="2">
                <c:v>Potential Equity Value Increase</c:v>
              </c:pt>
              <c:pt idx="3">
                <c:v>Total Consideration</c:v>
              </c:pt>
            </c:strLit>
          </c:cat>
          <c:val>
            <c:numLit>
              <c:formatCode>General</c:formatCode>
              <c:ptCount val="4"/>
              <c:pt idx="0">
                <c:v>8</c:v>
              </c:pt>
              <c:pt idx="1">
                <c:v>0</c:v>
              </c:pt>
              <c:pt idx="2">
                <c:v>0</c:v>
              </c:pt>
              <c:pt idx="3">
                <c:v>0</c:v>
              </c:pt>
            </c:numLit>
          </c:val>
          <c:extLst>
            <c:ext xmlns:c16="http://schemas.microsoft.com/office/drawing/2014/chart" uri="{C3380CC4-5D6E-409C-BE32-E72D297353CC}">
              <c16:uniqueId val="{00000002-8441-415F-9E37-D51A79D9159A}"/>
            </c:ext>
          </c:extLst>
        </c:ser>
        <c:ser>
          <c:idx val="3"/>
          <c:order val="3"/>
          <c:tx>
            <c:v>Rollover / Total</c:v>
          </c:tx>
          <c:spPr>
            <a:solidFill>
              <a:srgbClr val="825B90"/>
            </a:solidFill>
            <a:ln>
              <a:noFill/>
            </a:ln>
          </c:spPr>
          <c:invertIfNegative val="0"/>
          <c:dPt>
            <c:idx val="2"/>
            <c:invertIfNegative val="0"/>
            <c:bubble3D val="0"/>
            <c:spPr>
              <a:solidFill>
                <a:srgbClr val="B58FC0"/>
              </a:solidFill>
              <a:ln>
                <a:noFill/>
              </a:ln>
            </c:spPr>
            <c:extLst>
              <c:ext xmlns:c16="http://schemas.microsoft.com/office/drawing/2014/chart" uri="{C3380CC4-5D6E-409C-BE32-E72D297353CC}">
                <c16:uniqueId val="{00000004-8441-415F-9E37-D51A79D9159A}"/>
              </c:ext>
            </c:extLst>
          </c:dPt>
          <c:dPt>
            <c:idx val="3"/>
            <c:invertIfNegative val="0"/>
            <c:bubble3D val="0"/>
            <c:spPr>
              <a:solidFill>
                <a:srgbClr val="201243"/>
              </a:solidFill>
              <a:ln>
                <a:noFill/>
              </a:ln>
            </c:spPr>
            <c:extLst>
              <c:ext xmlns:c16="http://schemas.microsoft.com/office/drawing/2014/chart" uri="{C3380CC4-5D6E-409C-BE32-E72D297353CC}">
                <c16:uniqueId val="{00000003-C532-4ADC-BB6D-1B56C7A61DCE}"/>
              </c:ext>
            </c:extLst>
          </c:dPt>
          <c:cat>
            <c:strLit>
              <c:ptCount val="4"/>
              <c:pt idx="0">
                <c:v>Total Cash</c:v>
              </c:pt>
              <c:pt idx="1">
                <c:v>Seller Rollover Equity</c:v>
              </c:pt>
              <c:pt idx="2">
                <c:v>Potential Equity Value Increase</c:v>
              </c:pt>
              <c:pt idx="3">
                <c:v>Total Consideration</c:v>
              </c:pt>
            </c:strLit>
          </c:cat>
          <c:val>
            <c:numLit>
              <c:formatCode>General</c:formatCode>
              <c:ptCount val="4"/>
              <c:pt idx="0">
                <c:v>0</c:v>
              </c:pt>
              <c:pt idx="1">
                <c:v>5</c:v>
              </c:pt>
              <c:pt idx="2">
                <c:v>15</c:v>
              </c:pt>
              <c:pt idx="3">
                <c:v>58</c:v>
              </c:pt>
            </c:numLit>
          </c:val>
          <c:extLst>
            <c:ext xmlns:c16="http://schemas.microsoft.com/office/drawing/2014/chart" uri="{C3380CC4-5D6E-409C-BE32-E72D297353CC}">
              <c16:uniqueId val="{00000005-8441-415F-9E37-D51A79D9159A}"/>
            </c:ext>
          </c:extLst>
        </c:ser>
        <c:dLbls>
          <c:showLegendKey val="0"/>
          <c:showVal val="0"/>
          <c:showCatName val="0"/>
          <c:showSerName val="0"/>
          <c:showPercent val="0"/>
          <c:showBubbleSize val="0"/>
        </c:dLbls>
        <c:gapWidth val="75"/>
        <c:overlap val="100"/>
        <c:axId val="411"/>
        <c:axId val="422"/>
      </c:barChart>
      <c:catAx>
        <c:axId val="411"/>
        <c:scaling>
          <c:orientation val="minMax"/>
        </c:scaling>
        <c:delete val="1"/>
        <c:axPos val="b"/>
        <c:numFmt formatCode="General" sourceLinked="0"/>
        <c:majorTickMark val="none"/>
        <c:minorTickMark val="none"/>
        <c:tickLblPos val="none"/>
        <c:crossAx val="422"/>
        <c:crosses val="autoZero"/>
        <c:auto val="1"/>
        <c:lblAlgn val="ctr"/>
        <c:lblOffset val="100"/>
        <c:noMultiLvlLbl val="1"/>
      </c:catAx>
      <c:valAx>
        <c:axId val="422"/>
        <c:scaling>
          <c:orientation val="minMax"/>
          <c:max val="62"/>
          <c:min val="0"/>
        </c:scaling>
        <c:delete val="1"/>
        <c:axPos val="l"/>
        <c:numFmt formatCode="General" sourceLinked="1"/>
        <c:majorTickMark val="none"/>
        <c:minorTickMark val="none"/>
        <c:tickLblPos val="none"/>
        <c:crossAx val="41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
          <c:y val="0"/>
          <c:w val="1"/>
          <c:h val="1"/>
        </c:manualLayout>
      </c:layout>
      <c:pieChart>
        <c:varyColors val="1"/>
        <c:ser>
          <c:idx val="0"/>
          <c:order val="0"/>
          <c:tx>
            <c:v>Ownership</c:v>
          </c:tx>
          <c:dPt>
            <c:idx val="0"/>
            <c:bubble3D val="0"/>
            <c:spPr>
              <a:solidFill>
                <a:srgbClr val="6585C7"/>
              </a:solidFill>
              <a:ln w="12700">
                <a:solidFill>
                  <a:srgbClr val="FFFFFF"/>
                </a:solidFill>
              </a:ln>
            </c:spPr>
            <c:extLst>
              <c:ext xmlns:c16="http://schemas.microsoft.com/office/drawing/2014/chart" uri="{C3380CC4-5D6E-409C-BE32-E72D297353CC}">
                <c16:uniqueId val="{00000001-EB3C-4FE7-8FC5-1A180422BBB9}"/>
              </c:ext>
            </c:extLst>
          </c:dPt>
          <c:dPt>
            <c:idx val="1"/>
            <c:bubble3D val="0"/>
            <c:spPr>
              <a:solidFill>
                <a:srgbClr val="201243"/>
              </a:solidFill>
              <a:ln w="12700">
                <a:solidFill>
                  <a:srgbClr val="FFFFFF"/>
                </a:solidFill>
              </a:ln>
            </c:spPr>
            <c:extLst>
              <c:ext xmlns:c16="http://schemas.microsoft.com/office/drawing/2014/chart" uri="{C3380CC4-5D6E-409C-BE32-E72D297353CC}">
                <c16:uniqueId val="{00000003-EB3C-4FE7-8FC5-1A180422BBB9}"/>
              </c:ext>
            </c:extLst>
          </c:dPt>
          <c:cat>
            <c:strLit>
              <c:ptCount val="2"/>
              <c:pt idx="0">
                <c:v>Your retained stake</c:v>
              </c:pt>
              <c:pt idx="1">
                <c:v>RadX</c:v>
              </c:pt>
            </c:strLit>
          </c:cat>
          <c:val>
            <c:numLit>
              <c:formatCode>General</c:formatCode>
              <c:ptCount val="2"/>
              <c:pt idx="0">
                <c:v>20</c:v>
              </c:pt>
              <c:pt idx="1">
                <c:v>80</c:v>
              </c:pt>
            </c:numLit>
          </c:val>
          <c:extLst>
            <c:ext xmlns:c16="http://schemas.microsoft.com/office/drawing/2014/chart" uri="{C3380CC4-5D6E-409C-BE32-E72D297353CC}">
              <c16:uniqueId val="{00000004-EB3C-4FE7-8FC5-1A180422BBB9}"/>
            </c:ext>
          </c:extLst>
        </c:ser>
        <c:dLbls>
          <c:showLegendKey val="0"/>
          <c:showVal val="0"/>
          <c:showCatName val="0"/>
          <c:showSerName val="0"/>
          <c:showPercent val="0"/>
          <c:showBubbleSize val="0"/>
          <c:showLeaderLines val="1"/>
        </c:dLbls>
        <c:firstSliceAng val="0"/>
      </c:pieChart>
      <c:spPr>
        <a:noFill/>
        <a:ln>
          <a:noFill/>
        </a:ln>
      </c:spPr>
    </c:plotArea>
    <c:plotVisOnly val="1"/>
    <c:dispBlanksAs val="gap"/>
    <c:showDLblsOverMax val="1"/>
  </c:chart>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
          <c:y val="0"/>
          <c:w val="1"/>
          <c:h val="1"/>
        </c:manualLayout>
      </c:layout>
      <c:pieChart>
        <c:varyColors val="1"/>
        <c:ser>
          <c:idx val="0"/>
          <c:order val="0"/>
          <c:tx>
            <c:v>Ownership</c:v>
          </c:tx>
          <c:dPt>
            <c:idx val="0"/>
            <c:bubble3D val="0"/>
            <c:spPr>
              <a:solidFill>
                <a:srgbClr val="6585C7"/>
              </a:solidFill>
              <a:ln w="12700">
                <a:solidFill>
                  <a:srgbClr val="FFFFFF"/>
                </a:solidFill>
              </a:ln>
            </c:spPr>
            <c:extLst>
              <c:ext xmlns:c16="http://schemas.microsoft.com/office/drawing/2014/chart" uri="{C3380CC4-5D6E-409C-BE32-E72D297353CC}">
                <c16:uniqueId val="{00000001-F5BC-4AB7-A7A9-A4693892ACC2}"/>
              </c:ext>
            </c:extLst>
          </c:dPt>
          <c:dPt>
            <c:idx val="1"/>
            <c:bubble3D val="0"/>
            <c:spPr>
              <a:solidFill>
                <a:srgbClr val="201243"/>
              </a:solidFill>
              <a:ln w="12700">
                <a:solidFill>
                  <a:srgbClr val="FFFFFF"/>
                </a:solidFill>
              </a:ln>
            </c:spPr>
            <c:extLst>
              <c:ext xmlns:c16="http://schemas.microsoft.com/office/drawing/2014/chart" uri="{C3380CC4-5D6E-409C-BE32-E72D297353CC}">
                <c16:uniqueId val="{00000003-F5BC-4AB7-A7A9-A4693892ACC2}"/>
              </c:ext>
            </c:extLst>
          </c:dPt>
          <c:cat>
            <c:strLit>
              <c:ptCount val="2"/>
              <c:pt idx="0">
                <c:v>Your retained stake</c:v>
              </c:pt>
              <c:pt idx="1">
                <c:v>RadX</c:v>
              </c:pt>
            </c:strLit>
          </c:cat>
          <c:val>
            <c:numLit>
              <c:formatCode>General</c:formatCode>
              <c:ptCount val="2"/>
              <c:pt idx="0">
                <c:v>20</c:v>
              </c:pt>
              <c:pt idx="1">
                <c:v>80</c:v>
              </c:pt>
            </c:numLit>
          </c:val>
          <c:extLst>
            <c:ext xmlns:c16="http://schemas.microsoft.com/office/drawing/2014/chart" uri="{C3380CC4-5D6E-409C-BE32-E72D297353CC}">
              <c16:uniqueId val="{00000004-F5BC-4AB7-A7A9-A4693892ACC2}"/>
            </c:ext>
          </c:extLst>
        </c:ser>
        <c:dLbls>
          <c:showLegendKey val="0"/>
          <c:showVal val="0"/>
          <c:showCatName val="0"/>
          <c:showSerName val="0"/>
          <c:showPercent val="0"/>
          <c:showBubbleSize val="0"/>
          <c:showLeaderLines val="1"/>
        </c:dLbls>
        <c:firstSliceAng val="0"/>
      </c:pieChart>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01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4FB1-DFB2-8D7E-4559-7CF389D34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CBAF9-2DCA-84DB-5F72-6683FCAA31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0D090-3838-6CDD-D132-3C63EE3683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451340-30D4-6746-E436-0C1BE4D3660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03759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9AF72-5301-0B66-B8E1-641751590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F64EA-8656-8431-63ED-460AE9161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A1257-2947-311B-54DE-1471607496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4A9784-6BDB-511E-7F97-376FFD94F15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84033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1613AAA4-90F7-9C50-3D47-9D3742761599}"/>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243"/>
        </a:solidFill>
        <a:effectLst/>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312552"/>
          </a:solidFill>
          <a:ln/>
        </p:spPr>
        <p:txBody>
          <a:bodyPr/>
          <a:lstStyle/>
          <a:p>
            <a:endParaRPr lang="en-US"/>
          </a:p>
        </p:txBody>
      </p:sp>
      <p:sp>
        <p:nvSpPr>
          <p:cNvPr id="3" name="Shape 1"/>
          <p:cNvSpPr/>
          <p:nvPr/>
        </p:nvSpPr>
        <p:spPr>
          <a:xfrm>
            <a:off x="8503920" y="1051560"/>
            <a:ext cx="4754880" cy="4754880"/>
          </a:xfrm>
          <a:prstGeom prst="ellipse">
            <a:avLst/>
          </a:prstGeom>
          <a:solidFill>
            <a:srgbClr val="2A1A4E"/>
          </a:solidFill>
          <a:ln w="12700">
            <a:solidFill>
              <a:srgbClr val="2A1A4E"/>
            </a:solidFill>
            <a:prstDash val="solid"/>
          </a:ln>
        </p:spPr>
        <p:txBody>
          <a:bodyPr/>
          <a:lstStyle/>
          <a:p>
            <a:endParaRPr lang="en-US"/>
          </a:p>
        </p:txBody>
      </p:sp>
      <p:sp>
        <p:nvSpPr>
          <p:cNvPr id="4" name="Shape 2"/>
          <p:cNvSpPr/>
          <p:nvPr/>
        </p:nvSpPr>
        <p:spPr>
          <a:xfrm>
            <a:off x="9372600" y="1920240"/>
            <a:ext cx="3017520" cy="3017520"/>
          </a:xfrm>
          <a:prstGeom prst="ellipse">
            <a:avLst/>
          </a:prstGeom>
          <a:solidFill>
            <a:srgbClr val="201243"/>
          </a:solidFill>
          <a:ln w="12700">
            <a:solidFill>
              <a:srgbClr val="201243"/>
            </a:solidFill>
            <a:prstDash val="solid"/>
          </a:ln>
        </p:spPr>
        <p:txBody>
          <a:bodyPr/>
          <a:lstStyle/>
          <a:p>
            <a:endParaRPr lang="en-US"/>
          </a:p>
        </p:txBody>
      </p:sp>
      <p:sp>
        <p:nvSpPr>
          <p:cNvPr id="5" name="Text 3"/>
          <p:cNvSpPr/>
          <p:nvPr/>
        </p:nvSpPr>
        <p:spPr>
          <a:xfrm>
            <a:off x="640080" y="502920"/>
            <a:ext cx="3657600" cy="4572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RadX</a:t>
            </a:r>
            <a:r>
              <a:rPr lang="en-US" sz="1700" dirty="0">
                <a:solidFill>
                  <a:srgbClr val="B9AFD0"/>
                </a:solidFill>
                <a:latin typeface="Calibri" pitchFamily="34" charset="0"/>
                <a:ea typeface="Calibri" pitchFamily="34" charset="-122"/>
                <a:cs typeface="Calibri" pitchFamily="34" charset="-120"/>
              </a:rPr>
              <a:t> inc.</a:t>
            </a:r>
            <a:endParaRPr lang="en-US" sz="3000" dirty="0"/>
          </a:p>
        </p:txBody>
      </p:sp>
      <p:sp>
        <p:nvSpPr>
          <p:cNvPr id="6" name="Text 4"/>
          <p:cNvSpPr/>
          <p:nvPr/>
        </p:nvSpPr>
        <p:spPr>
          <a:xfrm>
            <a:off x="640080" y="2468880"/>
            <a:ext cx="6766560" cy="640080"/>
          </a:xfrm>
          <a:prstGeom prst="rect">
            <a:avLst/>
          </a:prstGeom>
          <a:noFill/>
          <a:ln/>
        </p:spPr>
        <p:txBody>
          <a:bodyPr wrap="square" lIns="0" tIns="0" rIns="0" bIns="0" rtlCol="0" anchor="ctr"/>
          <a:lstStyle/>
          <a:p>
            <a:pPr marL="0" indent="0">
              <a:buNone/>
            </a:pPr>
            <a:r>
              <a:rPr lang="en-US" sz="3400" dirty="0">
                <a:solidFill>
                  <a:srgbClr val="FFFFFF"/>
                </a:solidFill>
                <a:latin typeface="Calibri" pitchFamily="34" charset="0"/>
                <a:ea typeface="Calibri" pitchFamily="34" charset="-122"/>
                <a:cs typeface="Calibri" pitchFamily="34" charset="-120"/>
              </a:rPr>
              <a:t>Illustrative Acquisition Proposal</a:t>
            </a:r>
            <a:endParaRPr lang="en-US" sz="3400" dirty="0"/>
          </a:p>
        </p:txBody>
      </p:sp>
      <p:sp>
        <p:nvSpPr>
          <p:cNvPr id="7" name="Text 5"/>
          <p:cNvSpPr/>
          <p:nvPr/>
        </p:nvSpPr>
        <p:spPr>
          <a:xfrm>
            <a:off x="640080" y="3429000"/>
            <a:ext cx="6766560"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Prepared for [Practice Name]</a:t>
            </a:r>
            <a:endParaRPr lang="en-US" sz="3000" dirty="0"/>
          </a:p>
        </p:txBody>
      </p:sp>
      <p:sp>
        <p:nvSpPr>
          <p:cNvPr id="8" name="Text 6"/>
          <p:cNvSpPr/>
          <p:nvPr/>
        </p:nvSpPr>
        <p:spPr>
          <a:xfrm>
            <a:off x="640080" y="4114800"/>
            <a:ext cx="6766560" cy="320040"/>
          </a:xfrm>
          <a:prstGeom prst="rect">
            <a:avLst/>
          </a:prstGeom>
          <a:noFill/>
          <a:ln/>
        </p:spPr>
        <p:txBody>
          <a:bodyPr wrap="square" lIns="0" tIns="0" rIns="0" bIns="0" rtlCol="0" anchor="ctr"/>
          <a:lstStyle/>
          <a:p>
            <a:pPr marL="0" indent="0">
              <a:buNone/>
            </a:pPr>
            <a:r>
              <a:rPr lang="en-US" sz="1500" dirty="0">
                <a:solidFill>
                  <a:srgbClr val="B9AFD0"/>
                </a:solidFill>
                <a:latin typeface="Calibri" pitchFamily="34" charset="0"/>
                <a:ea typeface="Calibri" pitchFamily="34" charset="-122"/>
                <a:cs typeface="Calibri" pitchFamily="34" charset="-120"/>
              </a:rPr>
              <a:t>August 2026</a:t>
            </a:r>
            <a:endParaRPr lang="en-US" sz="1500" dirty="0"/>
          </a:p>
        </p:txBody>
      </p:sp>
      <p:sp>
        <p:nvSpPr>
          <p:cNvPr id="9" name="Shape 7"/>
          <p:cNvSpPr/>
          <p:nvPr/>
        </p:nvSpPr>
        <p:spPr>
          <a:xfrm>
            <a:off x="640080" y="5257800"/>
            <a:ext cx="6766560" cy="10973"/>
          </a:xfrm>
          <a:prstGeom prst="rect">
            <a:avLst/>
          </a:prstGeom>
          <a:solidFill>
            <a:srgbClr val="4E4270"/>
          </a:solidFill>
          <a:ln/>
        </p:spPr>
        <p:txBody>
          <a:bodyPr/>
          <a:lstStyle/>
          <a:p>
            <a:endParaRPr lang="en-US"/>
          </a:p>
        </p:txBody>
      </p:sp>
      <p:sp>
        <p:nvSpPr>
          <p:cNvPr id="10" name="Text 8"/>
          <p:cNvSpPr/>
          <p:nvPr/>
        </p:nvSpPr>
        <p:spPr>
          <a:xfrm>
            <a:off x="640080" y="5440680"/>
            <a:ext cx="21031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20+ centers in six states</a:t>
            </a:r>
            <a:endParaRPr lang="en-US" sz="1100" dirty="0"/>
          </a:p>
        </p:txBody>
      </p:sp>
      <p:sp>
        <p:nvSpPr>
          <p:cNvPr id="11" name="Text 9"/>
          <p:cNvSpPr/>
          <p:nvPr/>
        </p:nvSpPr>
        <p:spPr>
          <a:xfrm>
            <a:off x="2880360" y="5440680"/>
            <a:ext cx="868680" cy="256032"/>
          </a:xfrm>
          <a:prstGeom prst="rect">
            <a:avLst/>
          </a:prstGeom>
          <a:noFill/>
          <a:ln/>
        </p:spPr>
        <p:txBody>
          <a:bodyPr wrap="square" lIns="0" tIns="0" rIns="0" bIns="0" rtlCol="0" anchor="ctr"/>
          <a:lstStyle/>
          <a:p>
            <a:pPr marL="0" indent="0">
              <a:buNone/>
            </a:pPr>
            <a:r>
              <a:rPr lang="en-US" sz="1050" dirty="0">
                <a:solidFill>
                  <a:srgbClr val="B9AFD0"/>
                </a:solidFill>
                <a:latin typeface="Calibri" pitchFamily="34" charset="0"/>
                <a:ea typeface="Calibri" pitchFamily="34" charset="-122"/>
                <a:cs typeface="Calibri" pitchFamily="34" charset="-120"/>
              </a:rPr>
              <a:t>Florida</a:t>
            </a:r>
            <a:endParaRPr lang="en-US" sz="1050" dirty="0"/>
          </a:p>
        </p:txBody>
      </p:sp>
      <p:sp>
        <p:nvSpPr>
          <p:cNvPr id="12" name="Text 10"/>
          <p:cNvSpPr/>
          <p:nvPr/>
        </p:nvSpPr>
        <p:spPr>
          <a:xfrm>
            <a:off x="3721608" y="5440680"/>
            <a:ext cx="868680" cy="256032"/>
          </a:xfrm>
          <a:prstGeom prst="rect">
            <a:avLst/>
          </a:prstGeom>
          <a:noFill/>
          <a:ln/>
        </p:spPr>
        <p:txBody>
          <a:bodyPr wrap="square" lIns="0" tIns="0" rIns="0" bIns="0" rtlCol="0" anchor="ctr"/>
          <a:lstStyle/>
          <a:p>
            <a:pPr marL="0" indent="0">
              <a:buNone/>
            </a:pPr>
            <a:r>
              <a:rPr lang="en-US" sz="1050" dirty="0">
                <a:solidFill>
                  <a:srgbClr val="6585C7"/>
                </a:solidFill>
                <a:latin typeface="Calibri" pitchFamily="34" charset="0"/>
                <a:ea typeface="Calibri" pitchFamily="34" charset="-122"/>
                <a:cs typeface="Calibri" pitchFamily="34" charset="-120"/>
              </a:rPr>
              <a:t>Georgia</a:t>
            </a:r>
            <a:endParaRPr lang="en-US" sz="1050" dirty="0"/>
          </a:p>
        </p:txBody>
      </p:sp>
      <p:sp>
        <p:nvSpPr>
          <p:cNvPr id="13" name="Text 11"/>
          <p:cNvSpPr/>
          <p:nvPr/>
        </p:nvSpPr>
        <p:spPr>
          <a:xfrm>
            <a:off x="4562856" y="5440680"/>
            <a:ext cx="868680" cy="256032"/>
          </a:xfrm>
          <a:prstGeom prst="rect">
            <a:avLst/>
          </a:prstGeom>
          <a:noFill/>
          <a:ln/>
        </p:spPr>
        <p:txBody>
          <a:bodyPr wrap="square" lIns="0" tIns="0" rIns="0" bIns="0" rtlCol="0" anchor="ctr"/>
          <a:lstStyle/>
          <a:p>
            <a:pPr marL="0" indent="0">
              <a:buNone/>
            </a:pPr>
            <a:r>
              <a:rPr lang="en-US" sz="1050" dirty="0">
                <a:solidFill>
                  <a:srgbClr val="B9AFD0"/>
                </a:solidFill>
                <a:latin typeface="Calibri" pitchFamily="34" charset="0"/>
                <a:ea typeface="Calibri" pitchFamily="34" charset="-122"/>
                <a:cs typeface="Calibri" pitchFamily="34" charset="-120"/>
              </a:rPr>
              <a:t>Tennessee</a:t>
            </a:r>
            <a:endParaRPr lang="en-US" sz="1050" dirty="0"/>
          </a:p>
        </p:txBody>
      </p:sp>
      <p:sp>
        <p:nvSpPr>
          <p:cNvPr id="14" name="Text 12"/>
          <p:cNvSpPr/>
          <p:nvPr/>
        </p:nvSpPr>
        <p:spPr>
          <a:xfrm>
            <a:off x="5404104" y="5440680"/>
            <a:ext cx="868680" cy="256032"/>
          </a:xfrm>
          <a:prstGeom prst="rect">
            <a:avLst/>
          </a:prstGeom>
          <a:noFill/>
          <a:ln/>
        </p:spPr>
        <p:txBody>
          <a:bodyPr wrap="square" lIns="0" tIns="0" rIns="0" bIns="0" rtlCol="0" anchor="ctr"/>
          <a:lstStyle/>
          <a:p>
            <a:pPr marL="0" indent="0">
              <a:buNone/>
            </a:pPr>
            <a:r>
              <a:rPr lang="en-US" sz="1050" dirty="0">
                <a:solidFill>
                  <a:srgbClr val="6585C7"/>
                </a:solidFill>
                <a:latin typeface="Calibri" pitchFamily="34" charset="0"/>
                <a:ea typeface="Calibri" pitchFamily="34" charset="-122"/>
                <a:cs typeface="Calibri" pitchFamily="34" charset="-120"/>
              </a:rPr>
              <a:t>Alabama</a:t>
            </a:r>
            <a:endParaRPr lang="en-US" sz="1050" dirty="0"/>
          </a:p>
        </p:txBody>
      </p:sp>
      <p:sp>
        <p:nvSpPr>
          <p:cNvPr id="15" name="Text 13"/>
          <p:cNvSpPr/>
          <p:nvPr/>
        </p:nvSpPr>
        <p:spPr>
          <a:xfrm>
            <a:off x="6245352" y="5440680"/>
            <a:ext cx="868680" cy="256032"/>
          </a:xfrm>
          <a:prstGeom prst="rect">
            <a:avLst/>
          </a:prstGeom>
          <a:noFill/>
          <a:ln/>
        </p:spPr>
        <p:txBody>
          <a:bodyPr wrap="square" lIns="0" tIns="0" rIns="0" bIns="0" rtlCol="0" anchor="ctr"/>
          <a:lstStyle/>
          <a:p>
            <a:pPr marL="0" indent="0">
              <a:buNone/>
            </a:pPr>
            <a:r>
              <a:rPr lang="en-US" sz="1050" dirty="0">
                <a:solidFill>
                  <a:srgbClr val="D9A93C"/>
                </a:solidFill>
                <a:latin typeface="Calibri" pitchFamily="34" charset="0"/>
                <a:ea typeface="Calibri" pitchFamily="34" charset="-122"/>
                <a:cs typeface="Calibri" pitchFamily="34" charset="-120"/>
              </a:rPr>
              <a:t>Michigan</a:t>
            </a:r>
            <a:endParaRPr lang="en-US" sz="1050" dirty="0"/>
          </a:p>
        </p:txBody>
      </p:sp>
      <p:sp>
        <p:nvSpPr>
          <p:cNvPr id="16" name="Text 14"/>
          <p:cNvSpPr/>
          <p:nvPr/>
        </p:nvSpPr>
        <p:spPr>
          <a:xfrm>
            <a:off x="7086600" y="5440680"/>
            <a:ext cx="868680" cy="256032"/>
          </a:xfrm>
          <a:prstGeom prst="rect">
            <a:avLst/>
          </a:prstGeom>
          <a:noFill/>
          <a:ln/>
        </p:spPr>
        <p:txBody>
          <a:bodyPr wrap="square" lIns="0" tIns="0" rIns="0" bIns="0" rtlCol="0" anchor="ctr"/>
          <a:lstStyle/>
          <a:p>
            <a:pPr marL="0" indent="0">
              <a:buNone/>
            </a:pPr>
            <a:r>
              <a:rPr lang="en-US" sz="1050" dirty="0">
                <a:solidFill>
                  <a:srgbClr val="9C8FB8"/>
                </a:solidFill>
                <a:latin typeface="Calibri" pitchFamily="34" charset="0"/>
                <a:ea typeface="Calibri" pitchFamily="34" charset="-122"/>
                <a:cs typeface="Calibri" pitchFamily="34" charset="-120"/>
              </a:rPr>
              <a:t>Maryland</a:t>
            </a:r>
            <a:endParaRPr lang="en-US" sz="1050" dirty="0"/>
          </a:p>
        </p:txBody>
      </p:sp>
      <p:sp>
        <p:nvSpPr>
          <p:cNvPr id="17" name="Text 15"/>
          <p:cNvSpPr/>
          <p:nvPr/>
        </p:nvSpPr>
        <p:spPr>
          <a:xfrm>
            <a:off x="640080" y="5806440"/>
            <a:ext cx="4572000" cy="228600"/>
          </a:xfrm>
          <a:prstGeom prst="rect">
            <a:avLst/>
          </a:prstGeom>
          <a:noFill/>
          <a:ln/>
        </p:spPr>
        <p:txBody>
          <a:bodyPr wrap="square" lIns="0" tIns="0" rIns="0" bIns="0" rtlCol="0" anchor="ctr"/>
          <a:lstStyle/>
          <a:p>
            <a:pPr marL="0" indent="0">
              <a:buNone/>
            </a:pPr>
            <a:r>
              <a:rPr lang="en-US" sz="900" i="1" dirty="0">
                <a:solidFill>
                  <a:srgbClr val="8E82AC"/>
                </a:solidFill>
                <a:latin typeface="Calibri" pitchFamily="34" charset="0"/>
                <a:ea typeface="Calibri" pitchFamily="34" charset="-122"/>
                <a:cs typeface="Calibri" pitchFamily="34" charset="-120"/>
              </a:rPr>
              <a:t>Confidential: not for further distribution</a:t>
            </a:r>
            <a:endParaRPr lang="en-US" sz="900" dirty="0"/>
          </a:p>
        </p:txBody>
      </p:sp>
      <p:sp>
        <p:nvSpPr>
          <p:cNvPr id="18" name="Text 16"/>
          <p:cNvSpPr/>
          <p:nvPr/>
        </p:nvSpPr>
        <p:spPr>
          <a:xfrm>
            <a:off x="640080" y="6172200"/>
            <a:ext cx="6766560" cy="365760"/>
          </a:xfrm>
          <a:prstGeom prst="rect">
            <a:avLst/>
          </a:prstGeom>
          <a:noFill/>
          <a:ln/>
        </p:spPr>
        <p:txBody>
          <a:bodyPr wrap="square" lIns="0" tIns="0" rIns="0" bIns="0" rtlCol="0" anchor="ctr"/>
          <a:lstStyle/>
          <a:p>
            <a:pPr marL="0" indent="0">
              <a:buNone/>
            </a:pPr>
            <a:r>
              <a:rPr lang="en-US" sz="800" dirty="0">
                <a:solidFill>
                  <a:srgbClr val="C9707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800" dirty="0"/>
          </a:p>
        </p:txBody>
      </p:sp>
      <p:sp>
        <p:nvSpPr>
          <p:cNvPr id="20" name="Rectangle 19">
            <a:extLst>
              <a:ext uri="{FF2B5EF4-FFF2-40B4-BE49-F238E27FC236}">
                <a16:creationId xmlns:a16="http://schemas.microsoft.com/office/drawing/2014/main" id="{FF3B3963-0E33-EC42-ADBB-F2B7D1368423}"/>
              </a:ext>
            </a:extLst>
          </p:cNvPr>
          <p:cNvSpPr/>
          <p:nvPr/>
        </p:nvSpPr>
        <p:spPr>
          <a:xfrm>
            <a:off x="2922582" y="78339"/>
            <a:ext cx="4761876" cy="605465"/>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DRAFT</a:t>
            </a:r>
          </a:p>
          <a:p>
            <a:pPr algn="ctr"/>
            <a:r>
              <a:rPr lang="en-US" dirty="0">
                <a:solidFill>
                  <a:srgbClr val="FF0000"/>
                </a:solidFill>
              </a:rPr>
              <a:t>All figures are placeholders, illustrative only</a:t>
            </a:r>
          </a:p>
        </p:txBody>
      </p:sp>
    </p:spTree>
    <p:extLst>
      <p:ext uri="{BB962C8B-B14F-4D97-AF65-F5344CB8AC3E}">
        <p14:creationId xmlns:p14="http://schemas.microsoft.com/office/powerpoint/2010/main" val="965372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Disclaimer</a:t>
            </a:r>
            <a:endParaRPr lang="en-US" sz="2700" dirty="0"/>
          </a:p>
        </p:txBody>
      </p:sp>
      <p:sp>
        <p:nvSpPr>
          <p:cNvPr id="4" name="Shape 2"/>
          <p:cNvSpPr/>
          <p:nvPr/>
        </p:nvSpPr>
        <p:spPr>
          <a:xfrm>
            <a:off x="640080" y="914400"/>
            <a:ext cx="10911535" cy="18288"/>
          </a:xfrm>
          <a:prstGeom prst="rect">
            <a:avLst/>
          </a:prstGeom>
          <a:solidFill>
            <a:srgbClr val="201243"/>
          </a:solidFill>
          <a:ln/>
        </p:spPr>
        <p:txBody>
          <a:bodyPr/>
          <a:lstStyle/>
          <a:p>
            <a:endParaRPr lang="en-US"/>
          </a:p>
        </p:txBody>
      </p:sp>
      <p:sp>
        <p:nvSpPr>
          <p:cNvPr id="5" name="Text 3"/>
          <p:cNvSpPr/>
          <p:nvPr/>
        </p:nvSpPr>
        <p:spPr>
          <a:xfrm>
            <a:off x="640080" y="1234440"/>
            <a:ext cx="10911535" cy="4754880"/>
          </a:xfrm>
          <a:prstGeom prst="rect">
            <a:avLst/>
          </a:prstGeom>
          <a:noFill/>
          <a:ln/>
        </p:spPr>
        <p:txBody>
          <a:bodyPr wrap="square" lIns="0" tIns="0" rIns="0" bIns="0" rtlCol="0" anchor="t"/>
          <a:lstStyle/>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This presentation (the "Presentation") has been prepared by RadX, Inc. ("RadX") solely for the benefit of [Practice Name] (the "Company") for discussion purposes. The information contained herein is confidential, is being provided to the Company on a strictly limited basis and may not be reproduced or disseminated in whole or in part without the prior written consent of RadX.</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This Presentation does not constitute and should not be relied upon as an offer to buy any securities. Any such offer, if made, will be made only pursuant to definitive legal documentation, subject to the terms and conditions contained therein, and in compliance with all applicable laws and regulations.</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The information contained herein is preliminary in nature and is subject to change, completion and verification. All financial figures and valuations included in this Presentation are provided for illustrative purposes only, are based on certain assumptions that may change, and remain subject to confirmatory due diligence and further negotiation. RadX makes no representation or warranty, express or implied, as to the accuracy or completeness of the information contained herein and shall have no liability relating to or resulting from the use of this Presentation or any errors or omissions herein.</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Nothing contained herein constitutes legal, tax, accounting or investment advice. Recipients of this Presentation should make their own independent evaluation of the information and consult with their own professional advisors as they deem appropriate.</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By accepting this Presentation, the Company acknowledges and agrees to be bound by the foregoing limitations.</a:t>
            </a:r>
            <a:endParaRPr lang="en-US" sz="1150" dirty="0"/>
          </a:p>
        </p:txBody>
      </p:sp>
      <p:sp>
        <p:nvSpPr>
          <p:cNvPr id="6" name="Text 4"/>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7" name="Text 5"/>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8" name="Text 6"/>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2</a:t>
            </a:r>
            <a:endParaRPr lang="en-US" sz="1000" dirty="0"/>
          </a:p>
        </p:txBody>
      </p:sp>
    </p:spTree>
    <p:extLst>
      <p:ext uri="{BB962C8B-B14F-4D97-AF65-F5344CB8AC3E}">
        <p14:creationId xmlns:p14="http://schemas.microsoft.com/office/powerpoint/2010/main" val="3114702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Why </a:t>
            </a:r>
            <a:r>
              <a:rPr lang="en-US" sz="2700" b="1" dirty="0" err="1">
                <a:solidFill>
                  <a:srgbClr val="201243"/>
                </a:solidFill>
                <a:latin typeface="Calibri" pitchFamily="34" charset="0"/>
                <a:ea typeface="Calibri" pitchFamily="34" charset="-122"/>
                <a:cs typeface="Calibri" pitchFamily="34" charset="-120"/>
              </a:rPr>
              <a:t>RadX</a:t>
            </a:r>
            <a:r>
              <a:rPr lang="en-US" sz="2700" b="1" dirty="0">
                <a:solidFill>
                  <a:srgbClr val="201243"/>
                </a:solidFill>
                <a:latin typeface="Calibri" pitchFamily="34" charset="0"/>
                <a:ea typeface="Calibri" pitchFamily="34" charset="-122"/>
                <a:cs typeface="Calibri" pitchFamily="34" charset="-120"/>
              </a:rPr>
              <a:t>?</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A radiologist-led platform built to be the right home for an independent practice</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08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7" name="Shape 5"/>
          <p:cNvSpPr/>
          <p:nvPr/>
        </p:nvSpPr>
        <p:spPr>
          <a:xfrm>
            <a:off x="914400" y="1783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8" name="Text 6"/>
          <p:cNvSpPr/>
          <p:nvPr/>
        </p:nvSpPr>
        <p:spPr>
          <a:xfrm>
            <a:off x="914400" y="1856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554480" y="1801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A Radiologist Leading Radiologists</a:t>
            </a:r>
            <a:endParaRPr lang="en-US" sz="1500" dirty="0"/>
          </a:p>
        </p:txBody>
      </p:sp>
      <p:sp>
        <p:nvSpPr>
          <p:cNvPr id="10" name="Text 8"/>
          <p:cNvSpPr/>
          <p:nvPr/>
        </p:nvSpPr>
        <p:spPr>
          <a:xfrm>
            <a:off x="1554480" y="2258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err="1">
                <a:solidFill>
                  <a:srgbClr val="3B3350"/>
                </a:solidFill>
                <a:latin typeface="Calibri" pitchFamily="34" charset="0"/>
                <a:ea typeface="Calibri" pitchFamily="34" charset="-122"/>
                <a:cs typeface="Calibri" pitchFamily="34" charset="-120"/>
              </a:rPr>
              <a:t>RadX</a:t>
            </a:r>
            <a:r>
              <a:rPr lang="en-US" sz="1150" dirty="0">
                <a:solidFill>
                  <a:srgbClr val="3B3350"/>
                </a:solidFill>
                <a:latin typeface="Calibri" pitchFamily="34" charset="0"/>
                <a:ea typeface="Calibri" pitchFamily="34" charset="-122"/>
                <a:cs typeface="Calibri" pitchFamily="34" charset="-120"/>
              </a:rPr>
              <a:t> was founded and is led by Dr. Chintan Desai, MD, a practicing radiologist rather than a financial sponsor</a:t>
            </a:r>
          </a:p>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Clinical decisions are made by people who have read the studies, managed the schedule and built the referral relationships themselves</a:t>
            </a:r>
          </a:p>
        </p:txBody>
      </p:sp>
      <p:sp>
        <p:nvSpPr>
          <p:cNvPr id="11" name="Shape 9"/>
          <p:cNvSpPr/>
          <p:nvPr/>
        </p:nvSpPr>
        <p:spPr>
          <a:xfrm>
            <a:off x="6278728" y="1508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12" name="Shape 10"/>
          <p:cNvSpPr/>
          <p:nvPr/>
        </p:nvSpPr>
        <p:spPr>
          <a:xfrm>
            <a:off x="6553048" y="1783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13" name="Text 11"/>
          <p:cNvSpPr/>
          <p:nvPr/>
        </p:nvSpPr>
        <p:spPr>
          <a:xfrm>
            <a:off x="6553048" y="1856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193128" y="1801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Your Practice Stays Your Practice</a:t>
            </a:r>
            <a:endParaRPr lang="en-US" sz="1500" dirty="0"/>
          </a:p>
        </p:txBody>
      </p:sp>
      <p:sp>
        <p:nvSpPr>
          <p:cNvPr id="15" name="Text 13"/>
          <p:cNvSpPr/>
          <p:nvPr/>
        </p:nvSpPr>
        <p:spPr>
          <a:xfrm>
            <a:off x="7193128" y="2258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We preserve local clinical staff, physician relationships and referral networks</a:t>
            </a:r>
          </a:p>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Integration focuses the back office (billing, scheduling, credentialing), not the medicine or the people your referrers know</a:t>
            </a:r>
            <a:endParaRPr lang="en-US" sz="1150" dirty="0"/>
          </a:p>
        </p:txBody>
      </p:sp>
      <p:sp>
        <p:nvSpPr>
          <p:cNvPr id="16" name="Shape 14"/>
          <p:cNvSpPr/>
          <p:nvPr/>
        </p:nvSpPr>
        <p:spPr>
          <a:xfrm>
            <a:off x="640080" y="3794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17" name="Shape 15"/>
          <p:cNvSpPr/>
          <p:nvPr/>
        </p:nvSpPr>
        <p:spPr>
          <a:xfrm>
            <a:off x="914400" y="4069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18" name="Text 16"/>
          <p:cNvSpPr/>
          <p:nvPr/>
        </p:nvSpPr>
        <p:spPr>
          <a:xfrm>
            <a:off x="914400" y="4142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554480" y="4087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A Proven Operating Playbook</a:t>
            </a:r>
            <a:endParaRPr lang="en-US" sz="1500" dirty="0"/>
          </a:p>
        </p:txBody>
      </p:sp>
      <p:sp>
        <p:nvSpPr>
          <p:cNvPr id="20" name="Text 18"/>
          <p:cNvSpPr/>
          <p:nvPr/>
        </p:nvSpPr>
        <p:spPr>
          <a:xfrm>
            <a:off x="1554480" y="4544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RadX has grown from 7 to 20+ centers across six states through a repeatable five-step integration framework</a:t>
            </a:r>
          </a:p>
          <a:p>
            <a:pPr marL="171450" indent="-171450">
              <a:lnSpc>
                <a:spcPts val="1500"/>
              </a:lnSpc>
              <a:buFont typeface="Arial" panose="020B0604020202020204" pitchFamily="34" charset="0"/>
              <a:buChar char="•"/>
            </a:pPr>
            <a:r>
              <a:rPr lang="en-US" sz="1150" dirty="0" err="1">
                <a:solidFill>
                  <a:srgbClr val="3B3350"/>
                </a:solidFill>
                <a:latin typeface="Calibri" pitchFamily="34" charset="0"/>
                <a:ea typeface="Calibri" pitchFamily="34" charset="-122"/>
                <a:cs typeface="Calibri" pitchFamily="34" charset="-120"/>
              </a:rPr>
              <a:t>RadX</a:t>
            </a:r>
            <a:r>
              <a:rPr lang="en-US" sz="1150" dirty="0">
                <a:solidFill>
                  <a:srgbClr val="3B3350"/>
                </a:solidFill>
                <a:latin typeface="Calibri" pitchFamily="34" charset="0"/>
                <a:ea typeface="Calibri" pitchFamily="34" charset="-122"/>
                <a:cs typeface="Calibri" pitchFamily="34" charset="-120"/>
              </a:rPr>
              <a:t> has delivered meaningful EBITDA growth across acquired centers without cutting clinical quality</a:t>
            </a:r>
          </a:p>
        </p:txBody>
      </p:sp>
      <p:sp>
        <p:nvSpPr>
          <p:cNvPr id="21" name="Shape 19"/>
          <p:cNvSpPr/>
          <p:nvPr/>
        </p:nvSpPr>
        <p:spPr>
          <a:xfrm>
            <a:off x="6278728" y="3794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22" name="Shape 20"/>
          <p:cNvSpPr/>
          <p:nvPr/>
        </p:nvSpPr>
        <p:spPr>
          <a:xfrm>
            <a:off x="6553048" y="4069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23" name="Text 21"/>
          <p:cNvSpPr/>
          <p:nvPr/>
        </p:nvSpPr>
        <p:spPr>
          <a:xfrm>
            <a:off x="6553048" y="4142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193128" y="4087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Optionality on How You Exit</a:t>
            </a:r>
            <a:endParaRPr lang="en-US" sz="1500" dirty="0"/>
          </a:p>
        </p:txBody>
      </p:sp>
      <p:sp>
        <p:nvSpPr>
          <p:cNvPr id="25" name="Text 23"/>
          <p:cNvSpPr/>
          <p:nvPr/>
        </p:nvSpPr>
        <p:spPr>
          <a:xfrm>
            <a:off x="7193128" y="4544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Take full value at close, or defer a portion and participate in the growth of a larger platform</a:t>
            </a:r>
          </a:p>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The structure flexes to what you want your next chapter to look like: full exit, phased transition or continued practice</a:t>
            </a:r>
          </a:p>
        </p:txBody>
      </p:sp>
      <p:sp>
        <p:nvSpPr>
          <p:cNvPr id="26" name="Text 24"/>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7" name="Text 25"/>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8" name="Text 26"/>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3</a:t>
            </a:r>
            <a:endParaRPr lang="en-US" sz="1000" dirty="0"/>
          </a:p>
        </p:txBody>
      </p:sp>
    </p:spTree>
    <p:extLst>
      <p:ext uri="{BB962C8B-B14F-4D97-AF65-F5344CB8AC3E}">
        <p14:creationId xmlns:p14="http://schemas.microsoft.com/office/powerpoint/2010/main" val="1243613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Founded and Led by an Experienced Radiologist</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Dr. Chintan Desai has built RadX as a practicing radiologist, not an outside investor</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08760"/>
            <a:ext cx="3566160" cy="3977640"/>
          </a:xfrm>
          <a:prstGeom prst="roundRect">
            <a:avLst>
              <a:gd name="adj" fmla="val 1282"/>
            </a:avLst>
          </a:prstGeom>
          <a:solidFill>
            <a:srgbClr val="201243"/>
          </a:solidFill>
          <a:ln w="12700">
            <a:solidFill>
              <a:srgbClr val="201243"/>
            </a:solidFill>
            <a:prstDash val="solid"/>
          </a:ln>
        </p:spPr>
        <p:txBody>
          <a:bodyPr/>
          <a:lstStyle/>
          <a:p>
            <a:endParaRPr lang="en-US"/>
          </a:p>
        </p:txBody>
      </p:sp>
      <p:sp>
        <p:nvSpPr>
          <p:cNvPr id="9" name="Text 7"/>
          <p:cNvSpPr/>
          <p:nvPr/>
        </p:nvSpPr>
        <p:spPr>
          <a:xfrm>
            <a:off x="914400" y="3474720"/>
            <a:ext cx="3017520" cy="3657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Dr. Chintan Desai, MD</a:t>
            </a:r>
            <a:endParaRPr lang="en-US" sz="1900" dirty="0"/>
          </a:p>
        </p:txBody>
      </p:sp>
      <p:sp>
        <p:nvSpPr>
          <p:cNvPr id="10" name="Text 8"/>
          <p:cNvSpPr/>
          <p:nvPr/>
        </p:nvSpPr>
        <p:spPr>
          <a:xfrm>
            <a:off x="914400" y="3840480"/>
            <a:ext cx="3017520" cy="274320"/>
          </a:xfrm>
          <a:prstGeom prst="rect">
            <a:avLst/>
          </a:prstGeom>
          <a:noFill/>
          <a:ln/>
        </p:spPr>
        <p:txBody>
          <a:bodyPr wrap="square" lIns="0" tIns="0" rIns="0" bIns="0" rtlCol="0" anchor="ctr"/>
          <a:lstStyle/>
          <a:p>
            <a:pPr marL="0" indent="0" algn="ctr">
              <a:buNone/>
            </a:pPr>
            <a:r>
              <a:rPr lang="en-US" sz="1200" i="1" dirty="0">
                <a:solidFill>
                  <a:srgbClr val="B9AFD0"/>
                </a:solidFill>
                <a:latin typeface="Calibri" pitchFamily="34" charset="0"/>
                <a:ea typeface="Calibri" pitchFamily="34" charset="-122"/>
                <a:cs typeface="Calibri" pitchFamily="34" charset="-120"/>
              </a:rPr>
              <a:t>Founder &amp; Chief Executive Officer</a:t>
            </a:r>
            <a:endParaRPr lang="en-US" sz="1200" dirty="0"/>
          </a:p>
        </p:txBody>
      </p:sp>
      <p:sp>
        <p:nvSpPr>
          <p:cNvPr id="11" name="Shape 9"/>
          <p:cNvSpPr/>
          <p:nvPr/>
        </p:nvSpPr>
        <p:spPr>
          <a:xfrm>
            <a:off x="1737360" y="4251960"/>
            <a:ext cx="1371600" cy="10973"/>
          </a:xfrm>
          <a:prstGeom prst="rect">
            <a:avLst/>
          </a:prstGeom>
          <a:solidFill>
            <a:srgbClr val="4E4270"/>
          </a:solidFill>
          <a:ln/>
        </p:spPr>
        <p:txBody>
          <a:bodyPr/>
          <a:lstStyle/>
          <a:p>
            <a:endParaRPr lang="en-US"/>
          </a:p>
        </p:txBody>
      </p:sp>
      <p:sp>
        <p:nvSpPr>
          <p:cNvPr id="12" name="Text 10"/>
          <p:cNvSpPr/>
          <p:nvPr/>
        </p:nvSpPr>
        <p:spPr>
          <a:xfrm>
            <a:off x="960120" y="4434840"/>
            <a:ext cx="2926080" cy="822960"/>
          </a:xfrm>
          <a:prstGeom prst="rect">
            <a:avLst/>
          </a:prstGeom>
          <a:noFill/>
          <a:ln/>
        </p:spPr>
        <p:txBody>
          <a:bodyPr wrap="square" lIns="0" tIns="0" rIns="0" bIns="0" rtlCol="0" anchor="ctr"/>
          <a:lstStyle/>
          <a:p>
            <a:pPr marL="0" indent="0" algn="ctr">
              <a:lnSpc>
                <a:spcPts val="1500"/>
              </a:lnSpc>
              <a:buNone/>
            </a:pPr>
            <a:r>
              <a:rPr lang="en-US" sz="1150" dirty="0">
                <a:solidFill>
                  <a:srgbClr val="CFC7DE"/>
                </a:solidFill>
                <a:latin typeface="Calibri" pitchFamily="34" charset="0"/>
                <a:ea typeface="Calibri" pitchFamily="34" charset="-122"/>
                <a:cs typeface="Calibri" pitchFamily="34" charset="-120"/>
              </a:rPr>
              <a:t>Personally led the acquisition and integration</a:t>
            </a:r>
            <a:endParaRPr lang="en-US" sz="1150" dirty="0"/>
          </a:p>
          <a:p>
            <a:pPr marL="0" indent="0" algn="ctr">
              <a:lnSpc>
                <a:spcPts val="1500"/>
              </a:lnSpc>
              <a:buNone/>
            </a:pPr>
            <a:r>
              <a:rPr lang="en-US" sz="1150" dirty="0">
                <a:solidFill>
                  <a:srgbClr val="CFC7DE"/>
                </a:solidFill>
                <a:latin typeface="Calibri" pitchFamily="34" charset="0"/>
                <a:ea typeface="Calibri" pitchFamily="34" charset="-122"/>
                <a:cs typeface="Calibri" pitchFamily="34" charset="-120"/>
              </a:rPr>
              <a:t>of every center on the platform to date</a:t>
            </a:r>
            <a:endParaRPr lang="en-US" sz="1150" dirty="0"/>
          </a:p>
        </p:txBody>
      </p:sp>
      <p:sp>
        <p:nvSpPr>
          <p:cNvPr id="13" name="Text 11"/>
          <p:cNvSpPr/>
          <p:nvPr/>
        </p:nvSpPr>
        <p:spPr>
          <a:xfrm>
            <a:off x="4572000" y="1508760"/>
            <a:ext cx="6979615" cy="292608"/>
          </a:xfrm>
          <a:prstGeom prst="rect">
            <a:avLst/>
          </a:prstGeom>
          <a:noFill/>
          <a:ln/>
        </p:spPr>
        <p:txBody>
          <a:bodyPr wrap="square" lIns="0" tIns="0" rIns="0" bIns="0" rtlCol="0" anchor="ctr"/>
          <a:lstStyle/>
          <a:p>
            <a:pPr marL="0" indent="0">
              <a:buNone/>
            </a:pPr>
            <a:r>
              <a:rPr lang="en-US" sz="1400" b="1" dirty="0">
                <a:solidFill>
                  <a:srgbClr val="825B90"/>
                </a:solidFill>
                <a:latin typeface="Calibri" pitchFamily="34" charset="0"/>
                <a:ea typeface="Calibri" pitchFamily="34" charset="-122"/>
                <a:cs typeface="Calibri" pitchFamily="34" charset="-120"/>
              </a:rPr>
              <a:t>Clinical Leadership</a:t>
            </a:r>
            <a:endParaRPr lang="en-US" sz="1400" dirty="0"/>
          </a:p>
        </p:txBody>
      </p:sp>
      <p:sp>
        <p:nvSpPr>
          <p:cNvPr id="14" name="Text 12"/>
          <p:cNvSpPr/>
          <p:nvPr/>
        </p:nvSpPr>
        <p:spPr>
          <a:xfrm>
            <a:off x="4617720" y="1837944"/>
            <a:ext cx="6933895" cy="96012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President, Florida Radiological Society</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Chief Medical Officer, Rose Radiology Center</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Fellowship, Duke University · M.D., University of Miami</a:t>
            </a:r>
            <a:endParaRPr lang="en-US" sz="1150" dirty="0"/>
          </a:p>
        </p:txBody>
      </p:sp>
      <p:sp>
        <p:nvSpPr>
          <p:cNvPr id="15" name="Text 13"/>
          <p:cNvSpPr/>
          <p:nvPr/>
        </p:nvSpPr>
        <p:spPr>
          <a:xfrm>
            <a:off x="4572000" y="2880360"/>
            <a:ext cx="6979615" cy="292608"/>
          </a:xfrm>
          <a:prstGeom prst="rect">
            <a:avLst/>
          </a:prstGeom>
          <a:noFill/>
          <a:ln/>
        </p:spPr>
        <p:txBody>
          <a:bodyPr wrap="square" lIns="0" tIns="0" rIns="0" bIns="0" rtlCol="0" anchor="ctr"/>
          <a:lstStyle/>
          <a:p>
            <a:pPr marL="0" indent="0">
              <a:buNone/>
            </a:pPr>
            <a:r>
              <a:rPr lang="en-US" sz="1400" b="1" dirty="0">
                <a:solidFill>
                  <a:srgbClr val="825B90"/>
                </a:solidFill>
                <a:latin typeface="Calibri" pitchFamily="34" charset="0"/>
                <a:ea typeface="Calibri" pitchFamily="34" charset="-122"/>
                <a:cs typeface="Calibri" pitchFamily="34" charset="-120"/>
              </a:rPr>
              <a:t>Operating &amp; Business Background</a:t>
            </a:r>
            <a:endParaRPr lang="en-US" sz="1400" dirty="0"/>
          </a:p>
        </p:txBody>
      </p:sp>
      <p:sp>
        <p:nvSpPr>
          <p:cNvPr id="16" name="Text 14"/>
          <p:cNvSpPr/>
          <p:nvPr/>
        </p:nvSpPr>
        <p:spPr>
          <a:xfrm>
            <a:off x="4617720" y="3209544"/>
            <a:ext cx="6933895" cy="96012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MBA, Harvard Business School</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Hands-on across clinical operations, revenue cycle management, scheduling and multi-state platform management</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Founded RadX in 2023 and scaled it from 7 to 20+ centers</a:t>
            </a:r>
            <a:endParaRPr lang="en-US" sz="1150" dirty="0"/>
          </a:p>
        </p:txBody>
      </p:sp>
      <p:sp>
        <p:nvSpPr>
          <p:cNvPr id="17" name="Text 15"/>
          <p:cNvSpPr/>
          <p:nvPr/>
        </p:nvSpPr>
        <p:spPr>
          <a:xfrm>
            <a:off x="4572000" y="4251960"/>
            <a:ext cx="6979615" cy="292608"/>
          </a:xfrm>
          <a:prstGeom prst="rect">
            <a:avLst/>
          </a:prstGeom>
          <a:noFill/>
          <a:ln/>
        </p:spPr>
        <p:txBody>
          <a:bodyPr wrap="square" lIns="0" tIns="0" rIns="0" bIns="0" rtlCol="0" anchor="ctr"/>
          <a:lstStyle/>
          <a:p>
            <a:pPr marL="0" indent="0">
              <a:buNone/>
            </a:pPr>
            <a:r>
              <a:rPr lang="en-US" sz="1400" b="1" dirty="0">
                <a:solidFill>
                  <a:srgbClr val="825B90"/>
                </a:solidFill>
                <a:latin typeface="Calibri" pitchFamily="34" charset="0"/>
                <a:ea typeface="Calibri" pitchFamily="34" charset="-122"/>
                <a:cs typeface="Calibri" pitchFamily="34" charset="-120"/>
              </a:rPr>
              <a:t>Alignment With Sellers</a:t>
            </a:r>
            <a:endParaRPr lang="en-US" sz="1400" dirty="0"/>
          </a:p>
        </p:txBody>
      </p:sp>
      <p:sp>
        <p:nvSpPr>
          <p:cNvPr id="18" name="Text 16"/>
          <p:cNvSpPr/>
          <p:nvPr/>
        </p:nvSpPr>
        <p:spPr>
          <a:xfrm>
            <a:off x="4617720" y="4581144"/>
            <a:ext cx="6933895" cy="96012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Dr. Desai has rolled 100% of his own proceeds into the platform alongside institutional capital</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He is invested in the same security as every other equity holder, including sellers who elect to roll</a:t>
            </a:r>
            <a:endParaRPr lang="en-US" sz="1150" dirty="0"/>
          </a:p>
        </p:txBody>
      </p:sp>
      <p:sp>
        <p:nvSpPr>
          <p:cNvPr id="19" name="Text 17"/>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0" name="Text 18"/>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1" name="Text 19"/>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4</a:t>
            </a:r>
            <a:endParaRPr lang="en-US" sz="1000" dirty="0"/>
          </a:p>
        </p:txBody>
      </p:sp>
      <p:pic>
        <p:nvPicPr>
          <p:cNvPr id="23" name="Picture 22" descr="Dr. Chintan Desai - M1 Imaging Center">
            <a:extLst>
              <a:ext uri="{FF2B5EF4-FFF2-40B4-BE49-F238E27FC236}">
                <a16:creationId xmlns:a16="http://schemas.microsoft.com/office/drawing/2014/main" id="{453F7987-58F2-F6EB-CCDB-10177E2217D9}"/>
              </a:ext>
            </a:extLst>
          </p:cNvPr>
          <p:cNvPicPr>
            <a:picLocks noChangeAspect="1"/>
          </p:cNvPicPr>
          <p:nvPr/>
        </p:nvPicPr>
        <p:blipFill rotWithShape="1">
          <a:blip r:embed="rId3"/>
          <a:srcRect l="38" t="7026" r="-38" b="26306"/>
          <a:stretch>
            <a:fillRect/>
          </a:stretch>
        </p:blipFill>
        <p:spPr>
          <a:xfrm>
            <a:off x="1737360" y="1874520"/>
            <a:ext cx="1371600" cy="1371600"/>
          </a:xfrm>
          <a:prstGeom prst="ellipse">
            <a:avLst/>
          </a:prstGeom>
        </p:spPr>
      </p:pic>
    </p:spTree>
    <p:extLst>
      <p:ext uri="{BB962C8B-B14F-4D97-AF65-F5344CB8AC3E}">
        <p14:creationId xmlns:p14="http://schemas.microsoft.com/office/powerpoint/2010/main" val="512519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Proposed Transaction</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There are three potential components of your go-forward proceeds under our proposal</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2520634"/>
            <a:ext cx="3454298" cy="3200400"/>
          </a:xfrm>
          <a:prstGeom prst="roundRect">
            <a:avLst>
              <a:gd name="adj" fmla="val 1714"/>
            </a:avLst>
          </a:prstGeom>
          <a:solidFill>
            <a:srgbClr val="FFFFFF"/>
          </a:solidFill>
          <a:ln w="12700">
            <a:solidFill>
              <a:srgbClr val="D7D3DE"/>
            </a:solidFill>
            <a:prstDash val="solid"/>
          </a:ln>
        </p:spPr>
        <p:txBody>
          <a:bodyPr/>
          <a:lstStyle/>
          <a:p>
            <a:endParaRPr lang="en-US"/>
          </a:p>
        </p:txBody>
      </p:sp>
      <p:sp>
        <p:nvSpPr>
          <p:cNvPr id="7" name="Shape 5"/>
          <p:cNvSpPr/>
          <p:nvPr/>
        </p:nvSpPr>
        <p:spPr>
          <a:xfrm>
            <a:off x="640080" y="2520634"/>
            <a:ext cx="3454298" cy="566928"/>
          </a:xfrm>
          <a:prstGeom prst="rect">
            <a:avLst/>
          </a:prstGeom>
          <a:solidFill>
            <a:srgbClr val="201243"/>
          </a:solidFill>
          <a:ln w="12700">
            <a:solidFill>
              <a:srgbClr val="201243"/>
            </a:solidFill>
            <a:prstDash val="solid"/>
          </a:ln>
        </p:spPr>
        <p:txBody>
          <a:bodyPr/>
          <a:lstStyle/>
          <a:p>
            <a:endParaRPr lang="en-US"/>
          </a:p>
        </p:txBody>
      </p:sp>
      <p:sp>
        <p:nvSpPr>
          <p:cNvPr id="8" name="Text 6"/>
          <p:cNvSpPr/>
          <p:nvPr/>
        </p:nvSpPr>
        <p:spPr>
          <a:xfrm>
            <a:off x="841248" y="2630362"/>
            <a:ext cx="3088538"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1.  Cash at Close</a:t>
            </a:r>
            <a:endParaRPr lang="en-US" sz="1450" dirty="0"/>
          </a:p>
        </p:txBody>
      </p:sp>
      <p:sp>
        <p:nvSpPr>
          <p:cNvPr id="9" name="Text 7"/>
          <p:cNvSpPr/>
          <p:nvPr/>
        </p:nvSpPr>
        <p:spPr>
          <a:xfrm>
            <a:off x="841248" y="3233866"/>
            <a:ext cx="3088538" cy="548640"/>
          </a:xfrm>
          <a:prstGeom prst="rect">
            <a:avLst/>
          </a:prstGeom>
          <a:noFill/>
          <a:ln/>
        </p:spPr>
        <p:txBody>
          <a:bodyPr wrap="square" lIns="0" tIns="0" rIns="0" bIns="0" rtlCol="0" anchor="ctr"/>
          <a:lstStyle/>
          <a:p>
            <a:pPr marL="0" indent="0">
              <a:buNone/>
            </a:pPr>
            <a:r>
              <a:rPr lang="en-US" sz="2800" b="1" dirty="0">
                <a:solidFill>
                  <a:srgbClr val="825B90"/>
                </a:solidFill>
                <a:latin typeface="Calibri" pitchFamily="34" charset="0"/>
                <a:ea typeface="Calibri" pitchFamily="34" charset="-122"/>
                <a:cs typeface="Calibri" pitchFamily="34" charset="-120"/>
              </a:rPr>
              <a:t>$30M</a:t>
            </a:r>
            <a:endParaRPr lang="en-US" sz="2800" dirty="0"/>
          </a:p>
        </p:txBody>
      </p:sp>
      <p:sp>
        <p:nvSpPr>
          <p:cNvPr id="10" name="Text 8"/>
          <p:cNvSpPr/>
          <p:nvPr/>
        </p:nvSpPr>
        <p:spPr>
          <a:xfrm>
            <a:off x="886968" y="3873946"/>
            <a:ext cx="2997098" cy="16916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Paid in full at closing</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Funded from committed capital, with no financing contingency</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Subject to customary working capital adjustment and escrow</a:t>
            </a:r>
            <a:endParaRPr lang="en-US" sz="1150" dirty="0"/>
          </a:p>
        </p:txBody>
      </p:sp>
      <p:sp>
        <p:nvSpPr>
          <p:cNvPr id="11" name="Shape 9"/>
          <p:cNvSpPr/>
          <p:nvPr/>
        </p:nvSpPr>
        <p:spPr>
          <a:xfrm>
            <a:off x="4368698" y="2520634"/>
            <a:ext cx="3454298" cy="3200400"/>
          </a:xfrm>
          <a:prstGeom prst="roundRect">
            <a:avLst>
              <a:gd name="adj" fmla="val 1714"/>
            </a:avLst>
          </a:prstGeom>
          <a:solidFill>
            <a:srgbClr val="FFFFFF"/>
          </a:solidFill>
          <a:ln w="12700">
            <a:solidFill>
              <a:srgbClr val="D7D3DE"/>
            </a:solidFill>
            <a:prstDash val="solid"/>
          </a:ln>
        </p:spPr>
        <p:txBody>
          <a:bodyPr/>
          <a:lstStyle/>
          <a:p>
            <a:endParaRPr lang="en-US"/>
          </a:p>
        </p:txBody>
      </p:sp>
      <p:sp>
        <p:nvSpPr>
          <p:cNvPr id="12" name="Shape 10"/>
          <p:cNvSpPr/>
          <p:nvPr/>
        </p:nvSpPr>
        <p:spPr>
          <a:xfrm>
            <a:off x="4368698" y="2520634"/>
            <a:ext cx="3454298" cy="566928"/>
          </a:xfrm>
          <a:prstGeom prst="rect">
            <a:avLst/>
          </a:prstGeom>
          <a:solidFill>
            <a:srgbClr val="201243"/>
          </a:solidFill>
          <a:ln w="12700">
            <a:solidFill>
              <a:srgbClr val="201243"/>
            </a:solidFill>
            <a:prstDash val="solid"/>
          </a:ln>
        </p:spPr>
        <p:txBody>
          <a:bodyPr/>
          <a:lstStyle/>
          <a:p>
            <a:endParaRPr lang="en-US"/>
          </a:p>
        </p:txBody>
      </p:sp>
      <p:sp>
        <p:nvSpPr>
          <p:cNvPr id="13" name="Text 11"/>
          <p:cNvSpPr/>
          <p:nvPr/>
        </p:nvSpPr>
        <p:spPr>
          <a:xfrm>
            <a:off x="4569866" y="2630362"/>
            <a:ext cx="3088538"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2.  Deferred Consideration</a:t>
            </a:r>
            <a:endParaRPr lang="en-US" sz="1450" dirty="0"/>
          </a:p>
        </p:txBody>
      </p:sp>
      <p:sp>
        <p:nvSpPr>
          <p:cNvPr id="14" name="Text 12"/>
          <p:cNvSpPr/>
          <p:nvPr/>
        </p:nvSpPr>
        <p:spPr>
          <a:xfrm>
            <a:off x="4569866" y="3233866"/>
            <a:ext cx="3088538" cy="548640"/>
          </a:xfrm>
          <a:prstGeom prst="rect">
            <a:avLst/>
          </a:prstGeom>
          <a:noFill/>
          <a:ln/>
        </p:spPr>
        <p:txBody>
          <a:bodyPr wrap="square" lIns="0" tIns="0" rIns="0" bIns="0" rtlCol="0" anchor="ctr"/>
          <a:lstStyle/>
          <a:p>
            <a:pPr marL="0" indent="0">
              <a:buNone/>
            </a:pPr>
            <a:r>
              <a:rPr lang="en-US" sz="2800" b="1" dirty="0">
                <a:solidFill>
                  <a:srgbClr val="825B90"/>
                </a:solidFill>
                <a:latin typeface="Calibri" pitchFamily="34" charset="0"/>
                <a:ea typeface="Calibri" pitchFamily="34" charset="-122"/>
                <a:cs typeface="Calibri" pitchFamily="34" charset="-120"/>
              </a:rPr>
              <a:t>$8M</a:t>
            </a:r>
            <a:endParaRPr lang="en-US" sz="2800" dirty="0">
              <a:solidFill>
                <a:srgbClr val="825B90"/>
              </a:solidFill>
            </a:endParaRPr>
          </a:p>
        </p:txBody>
      </p:sp>
      <p:sp>
        <p:nvSpPr>
          <p:cNvPr id="15" name="Text 13"/>
          <p:cNvSpPr/>
          <p:nvPr/>
        </p:nvSpPr>
        <p:spPr>
          <a:xfrm>
            <a:off x="4615586" y="3873946"/>
            <a:ext cx="2997098" cy="16916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Portion of purchase price deferred and paid post-close</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Structured as seller note and/or holdback</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Provides certainty of value while bridging to the platform story</a:t>
            </a:r>
            <a:endParaRPr lang="en-US" sz="1150" dirty="0"/>
          </a:p>
        </p:txBody>
      </p:sp>
      <p:sp>
        <p:nvSpPr>
          <p:cNvPr id="16" name="Shape 14"/>
          <p:cNvSpPr/>
          <p:nvPr/>
        </p:nvSpPr>
        <p:spPr>
          <a:xfrm>
            <a:off x="8097317" y="2520634"/>
            <a:ext cx="3454298" cy="3200400"/>
          </a:xfrm>
          <a:prstGeom prst="roundRect">
            <a:avLst>
              <a:gd name="adj" fmla="val 1714"/>
            </a:avLst>
          </a:prstGeom>
          <a:solidFill>
            <a:srgbClr val="FFFFFF"/>
          </a:solidFill>
          <a:ln w="12700">
            <a:solidFill>
              <a:srgbClr val="D7D3DE"/>
            </a:solidFill>
            <a:prstDash val="solid"/>
          </a:ln>
        </p:spPr>
        <p:txBody>
          <a:bodyPr/>
          <a:lstStyle/>
          <a:p>
            <a:endParaRPr lang="en-US"/>
          </a:p>
        </p:txBody>
      </p:sp>
      <p:sp>
        <p:nvSpPr>
          <p:cNvPr id="17" name="Shape 15"/>
          <p:cNvSpPr/>
          <p:nvPr/>
        </p:nvSpPr>
        <p:spPr>
          <a:xfrm>
            <a:off x="8097317" y="2520634"/>
            <a:ext cx="3454298" cy="566928"/>
          </a:xfrm>
          <a:prstGeom prst="rect">
            <a:avLst/>
          </a:prstGeom>
          <a:solidFill>
            <a:srgbClr val="201243"/>
          </a:solidFill>
          <a:ln w="12700">
            <a:solidFill>
              <a:srgbClr val="201243"/>
            </a:solidFill>
            <a:prstDash val="solid"/>
          </a:ln>
        </p:spPr>
        <p:txBody>
          <a:bodyPr/>
          <a:lstStyle/>
          <a:p>
            <a:endParaRPr lang="en-US"/>
          </a:p>
        </p:txBody>
      </p:sp>
      <p:sp>
        <p:nvSpPr>
          <p:cNvPr id="18" name="Text 16"/>
          <p:cNvSpPr/>
          <p:nvPr/>
        </p:nvSpPr>
        <p:spPr>
          <a:xfrm>
            <a:off x="8298485" y="2630362"/>
            <a:ext cx="3088538"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3.  Rollover Equity in RadX</a:t>
            </a:r>
            <a:endParaRPr lang="en-US" sz="1450" dirty="0"/>
          </a:p>
        </p:txBody>
      </p:sp>
      <p:sp>
        <p:nvSpPr>
          <p:cNvPr id="19" name="Text 17"/>
          <p:cNvSpPr/>
          <p:nvPr/>
        </p:nvSpPr>
        <p:spPr>
          <a:xfrm>
            <a:off x="8298485" y="3233866"/>
            <a:ext cx="3088538" cy="548640"/>
          </a:xfrm>
          <a:prstGeom prst="rect">
            <a:avLst/>
          </a:prstGeom>
          <a:noFill/>
          <a:ln/>
        </p:spPr>
        <p:txBody>
          <a:bodyPr wrap="square" lIns="0" tIns="0" rIns="0" bIns="0" rtlCol="0" anchor="ctr"/>
          <a:lstStyle/>
          <a:p>
            <a:pPr marL="0" indent="0">
              <a:buNone/>
            </a:pPr>
            <a:r>
              <a:rPr lang="en-US" sz="2800" b="1" dirty="0">
                <a:solidFill>
                  <a:srgbClr val="825B90"/>
                </a:solidFill>
                <a:latin typeface="Calibri" pitchFamily="34" charset="0"/>
                <a:ea typeface="Calibri" pitchFamily="34" charset="-122"/>
                <a:cs typeface="Calibri" pitchFamily="34" charset="-120"/>
              </a:rPr>
              <a:t>$5M</a:t>
            </a:r>
            <a:endParaRPr lang="en-US" sz="2800" dirty="0"/>
          </a:p>
        </p:txBody>
      </p:sp>
      <p:sp>
        <p:nvSpPr>
          <p:cNvPr id="20" name="Text 18"/>
          <p:cNvSpPr/>
          <p:nvPr/>
        </p:nvSpPr>
        <p:spPr>
          <a:xfrm>
            <a:off x="8344205" y="3873946"/>
            <a:ext cx="2997098" cy="16916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Elect to roll a portion of proceeds into platform equity</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Same security and same priority as the founder and institutional investors</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Participates in the growth and eventual scale of the full platform</a:t>
            </a:r>
          </a:p>
          <a:p>
            <a:pPr marL="342900" indent="-342900">
              <a:lnSpc>
                <a:spcPts val="1500"/>
              </a:lnSpc>
              <a:spcAft>
                <a:spcPts val="600"/>
              </a:spcAft>
              <a:buSzPct val="100000"/>
              <a:buChar char="•"/>
            </a:pPr>
            <a:r>
              <a:rPr lang="en-US" sz="1150" b="1" dirty="0">
                <a:solidFill>
                  <a:srgbClr val="825B90"/>
                </a:solidFill>
                <a:latin typeface="Calibri" pitchFamily="34" charset="0"/>
                <a:ea typeface="Calibri" pitchFamily="34" charset="-122"/>
                <a:cs typeface="Calibri" pitchFamily="34" charset="-120"/>
              </a:rPr>
              <a:t>Opportunity for </a:t>
            </a:r>
            <a:r>
              <a:rPr lang="en-US" sz="1150" b="1" u="sng" dirty="0">
                <a:solidFill>
                  <a:srgbClr val="825B90"/>
                </a:solidFill>
                <a:latin typeface="Calibri" pitchFamily="34" charset="0"/>
                <a:ea typeface="Calibri" pitchFamily="34" charset="-122"/>
                <a:cs typeface="Calibri" pitchFamily="34" charset="-120"/>
              </a:rPr>
              <a:t>additional upside</a:t>
            </a:r>
            <a:r>
              <a:rPr lang="en-US" sz="1150" b="1" dirty="0">
                <a:solidFill>
                  <a:srgbClr val="825B90"/>
                </a:solidFill>
                <a:latin typeface="Calibri" pitchFamily="34" charset="0"/>
                <a:ea typeface="Calibri" pitchFamily="34" charset="-122"/>
                <a:cs typeface="Calibri" pitchFamily="34" charset="-120"/>
              </a:rPr>
              <a:t> from rollover equity appreciation</a:t>
            </a:r>
            <a:endParaRPr lang="en-US" sz="1150" b="1" dirty="0">
              <a:solidFill>
                <a:srgbClr val="825B90"/>
              </a:solidFill>
            </a:endParaRPr>
          </a:p>
        </p:txBody>
      </p:sp>
      <p:sp>
        <p:nvSpPr>
          <p:cNvPr id="21" name="Shape 19"/>
          <p:cNvSpPr/>
          <p:nvPr/>
        </p:nvSpPr>
        <p:spPr>
          <a:xfrm>
            <a:off x="640232" y="1566906"/>
            <a:ext cx="10911535" cy="658368"/>
          </a:xfrm>
          <a:prstGeom prst="roundRect">
            <a:avLst>
              <a:gd name="adj" fmla="val 8333"/>
            </a:avLst>
          </a:prstGeom>
          <a:solidFill>
            <a:srgbClr val="F3F6FC"/>
          </a:solidFill>
          <a:ln w="12700">
            <a:solidFill>
              <a:srgbClr val="825B90"/>
            </a:solidFill>
            <a:prstDash val="solid"/>
          </a:ln>
        </p:spPr>
        <p:txBody>
          <a:bodyPr/>
          <a:lstStyle/>
          <a:p>
            <a:endParaRPr lang="en-US"/>
          </a:p>
        </p:txBody>
      </p:sp>
      <p:sp>
        <p:nvSpPr>
          <p:cNvPr id="23" name="Text 21"/>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All figures illustrative and subject to confirmatory diligence. Mix between cash, deferred consideration and rollover equity is flexible and can be tailored to seller preference.</a:t>
            </a:r>
            <a:endParaRPr lang="en-US" sz="900" dirty="0"/>
          </a:p>
        </p:txBody>
      </p:sp>
      <p:sp>
        <p:nvSpPr>
          <p:cNvPr id="24" name="Text 22"/>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5" name="Text 23"/>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6" name="Text 24"/>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5</a:t>
            </a:r>
            <a:endParaRPr lang="en-US" sz="1000" dirty="0"/>
          </a:p>
        </p:txBody>
      </p:sp>
      <p:grpSp>
        <p:nvGrpSpPr>
          <p:cNvPr id="32" name="Group 31">
            <a:extLst>
              <a:ext uri="{FF2B5EF4-FFF2-40B4-BE49-F238E27FC236}">
                <a16:creationId xmlns:a16="http://schemas.microsoft.com/office/drawing/2014/main" id="{7D6AA5F6-8202-81BE-F03D-F6EA4FFDA1ED}"/>
              </a:ext>
            </a:extLst>
          </p:cNvPr>
          <p:cNvGrpSpPr/>
          <p:nvPr/>
        </p:nvGrpSpPr>
        <p:grpSpPr>
          <a:xfrm>
            <a:off x="3570188" y="1624038"/>
            <a:ext cx="5051622" cy="544105"/>
            <a:chOff x="1997001" y="1624038"/>
            <a:chExt cx="5051622" cy="544105"/>
          </a:xfrm>
        </p:grpSpPr>
        <p:sp>
          <p:nvSpPr>
            <p:cNvPr id="22" name="Text 20"/>
            <p:cNvSpPr/>
            <p:nvPr/>
          </p:nvSpPr>
          <p:spPr>
            <a:xfrm>
              <a:off x="1997001" y="1624038"/>
              <a:ext cx="3782697" cy="544105"/>
            </a:xfrm>
            <a:prstGeom prst="rect">
              <a:avLst/>
            </a:prstGeom>
            <a:noFill/>
            <a:ln/>
          </p:spPr>
          <p:txBody>
            <a:bodyPr wrap="square" lIns="0" tIns="0" rIns="0" bIns="0" rtlCol="0" anchor="ctr"/>
            <a:lstStyle/>
            <a:p>
              <a:pPr marL="0" indent="0">
                <a:buNone/>
              </a:pPr>
              <a:r>
                <a:rPr lang="en-US" sz="1700" b="1" dirty="0">
                  <a:solidFill>
                    <a:srgbClr val="201243"/>
                  </a:solidFill>
                  <a:latin typeface="Calibri" pitchFamily="34" charset="0"/>
                  <a:ea typeface="Calibri" pitchFamily="34" charset="-122"/>
                  <a:cs typeface="Calibri" pitchFamily="34" charset="-120"/>
                </a:rPr>
                <a:t>Total Potential Consideration to the Seller:</a:t>
              </a:r>
              <a:endParaRPr lang="en-US" sz="1700" dirty="0">
                <a:solidFill>
                  <a:srgbClr val="825B90"/>
                </a:solidFill>
              </a:endParaRPr>
            </a:p>
          </p:txBody>
        </p:sp>
        <p:sp>
          <p:nvSpPr>
            <p:cNvPr id="30" name="Text 20">
              <a:extLst>
                <a:ext uri="{FF2B5EF4-FFF2-40B4-BE49-F238E27FC236}">
                  <a16:creationId xmlns:a16="http://schemas.microsoft.com/office/drawing/2014/main" id="{CDA4CA31-1EC4-CB14-C146-D8794D423479}"/>
                </a:ext>
              </a:extLst>
            </p:cNvPr>
            <p:cNvSpPr/>
            <p:nvPr/>
          </p:nvSpPr>
          <p:spPr>
            <a:xfrm>
              <a:off x="5830043" y="1648770"/>
              <a:ext cx="1218580" cy="494641"/>
            </a:xfrm>
            <a:prstGeom prst="rect">
              <a:avLst/>
            </a:prstGeom>
            <a:noFill/>
            <a:ln/>
          </p:spPr>
          <p:txBody>
            <a:bodyPr wrap="square" lIns="0" tIns="0" rIns="0" bIns="0" rtlCol="0" anchor="ctr"/>
            <a:lstStyle/>
            <a:p>
              <a:pPr marL="0" indent="0" algn="ctr">
                <a:buNone/>
              </a:pPr>
              <a:r>
                <a:rPr lang="en-US" sz="2800" b="1" dirty="0">
                  <a:solidFill>
                    <a:srgbClr val="825B90"/>
                  </a:solidFill>
                  <a:latin typeface="Calibri" pitchFamily="34" charset="0"/>
                  <a:ea typeface="Calibri" pitchFamily="34" charset="-122"/>
                  <a:cs typeface="Calibri" pitchFamily="34" charset="-120"/>
                </a:rPr>
                <a:t>$43M+</a:t>
              </a:r>
              <a:endParaRPr lang="en-US" sz="1700" dirty="0">
                <a:solidFill>
                  <a:srgbClr val="825B90"/>
                </a:solidFill>
              </a:endParaRPr>
            </a:p>
          </p:txBody>
        </p:sp>
      </p:grpSp>
    </p:spTree>
    <p:extLst>
      <p:ext uri="{BB962C8B-B14F-4D97-AF65-F5344CB8AC3E}">
        <p14:creationId xmlns:p14="http://schemas.microsoft.com/office/powerpoint/2010/main" val="3815176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Illustration of INITIAL Consideration</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Below represents a graphical illustration of </a:t>
            </a:r>
            <a:r>
              <a:rPr lang="en-US" sz="1300" b="1" i="1" dirty="0">
                <a:solidFill>
                  <a:srgbClr val="837D94"/>
                </a:solidFill>
                <a:latin typeface="Calibri" pitchFamily="34" charset="0"/>
                <a:ea typeface="Calibri" pitchFamily="34" charset="-122"/>
                <a:cs typeface="Calibri" pitchFamily="34" charset="-120"/>
              </a:rPr>
              <a:t>initial</a:t>
            </a:r>
            <a:r>
              <a:rPr lang="en-US" sz="1300" i="1" dirty="0">
                <a:solidFill>
                  <a:srgbClr val="837D94"/>
                </a:solidFill>
                <a:latin typeface="Calibri" pitchFamily="34" charset="0"/>
                <a:ea typeface="Calibri" pitchFamily="34" charset="-122"/>
                <a:cs typeface="Calibri" pitchFamily="34" charset="-120"/>
              </a:rPr>
              <a:t> consideration of $43 million at close. Does not include any appreciation of equity value</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19" name="Text 17"/>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Illustrative only. Holdback / escrow released post-closing subject to customary indemnity and net working capital true-up. Rollover equity issued in the same security as capital invested by the founder and institutional investors.</a:t>
            </a:r>
            <a:endParaRPr lang="en-US" sz="900" dirty="0"/>
          </a:p>
        </p:txBody>
      </p:sp>
      <p:sp>
        <p:nvSpPr>
          <p:cNvPr id="20" name="Text 18"/>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1" name="Text 19"/>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2" name="Text 20"/>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6</a:t>
            </a:r>
            <a:endParaRPr lang="en-US" sz="1000" dirty="0"/>
          </a:p>
        </p:txBody>
      </p:sp>
      <p:graphicFrame>
        <p:nvGraphicFramePr>
          <p:cNvPr id="92" name="Consideration Chart"/>
          <p:cNvGraphicFramePr/>
          <p:nvPr>
            <p:extLst>
              <p:ext uri="{D42A27DB-BD31-4B8C-83A1-F6EECF244321}">
                <p14:modId xmlns:p14="http://schemas.microsoft.com/office/powerpoint/2010/main" val="3574534299"/>
              </p:ext>
            </p:extLst>
          </p:nvPr>
        </p:nvGraphicFramePr>
        <p:xfrm>
          <a:off x="1295400" y="1845945"/>
          <a:ext cx="9601200" cy="323405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5"/>
          <p:cNvSpPr/>
          <p:nvPr/>
        </p:nvSpPr>
        <p:spPr>
          <a:xfrm>
            <a:off x="2064328" y="3865169"/>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Cash at Close</a:t>
            </a:r>
          </a:p>
          <a:p>
            <a:pPr algn="ctr"/>
            <a:r>
              <a:rPr lang="en-US" sz="1100" dirty="0">
                <a:solidFill>
                  <a:srgbClr val="1F1142"/>
                </a:solidFill>
                <a:latin typeface="Calibri" pitchFamily="34" charset="0"/>
                <a:ea typeface="Calibri" pitchFamily="34" charset="-122"/>
                <a:cs typeface="Calibri" pitchFamily="34" charset="-120"/>
              </a:rPr>
              <a:t>$30M</a:t>
            </a:r>
          </a:p>
        </p:txBody>
      </p:sp>
      <p:sp>
        <p:nvSpPr>
          <p:cNvPr id="9" name="Text 7"/>
          <p:cNvSpPr/>
          <p:nvPr/>
        </p:nvSpPr>
        <p:spPr>
          <a:xfrm>
            <a:off x="2095561" y="2679544"/>
            <a:ext cx="1600079" cy="401632"/>
          </a:xfrm>
          <a:prstGeom prst="rect">
            <a:avLst/>
          </a:prstGeom>
          <a:noFill/>
          <a:ln/>
        </p:spPr>
        <p:txBody>
          <a:bodyPr wrap="square" lIns="0" tIns="0" rIns="0" bIns="0" rtlCol="0" anchor="ctr"/>
          <a:lstStyle/>
          <a:p>
            <a:pPr marL="0" indent="0" algn="ctr">
              <a:buNone/>
            </a:pPr>
            <a:r>
              <a:rPr lang="en-US" sz="1100" dirty="0">
                <a:solidFill>
                  <a:srgbClr val="1F1142"/>
                </a:solidFill>
                <a:latin typeface="Calibri" pitchFamily="34" charset="0"/>
                <a:ea typeface="Calibri" pitchFamily="34" charset="-122"/>
                <a:cs typeface="Calibri" pitchFamily="34" charset="-120"/>
              </a:rPr>
              <a:t>Deferred Cash</a:t>
            </a:r>
          </a:p>
          <a:p>
            <a:pPr marL="0" indent="0" algn="ctr">
              <a:buNone/>
            </a:pPr>
            <a:r>
              <a:rPr lang="en-US" sz="1100" dirty="0">
                <a:solidFill>
                  <a:srgbClr val="1F1142"/>
                </a:solidFill>
                <a:latin typeface="Calibri" pitchFamily="34" charset="0"/>
                <a:ea typeface="Calibri" pitchFamily="34" charset="-122"/>
                <a:cs typeface="Calibri" pitchFamily="34" charset="-120"/>
              </a:rPr>
              <a:t>$8M</a:t>
            </a:r>
            <a:endParaRPr lang="en-US" sz="1100" dirty="0"/>
          </a:p>
        </p:txBody>
      </p:sp>
      <p:sp>
        <p:nvSpPr>
          <p:cNvPr id="10" name="Text 8"/>
          <p:cNvSpPr/>
          <p:nvPr/>
        </p:nvSpPr>
        <p:spPr>
          <a:xfrm>
            <a:off x="1981200" y="2216506"/>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$38M</a:t>
            </a:r>
            <a:endParaRPr lang="en-US" sz="1500" dirty="0"/>
          </a:p>
        </p:txBody>
      </p:sp>
      <p:sp>
        <p:nvSpPr>
          <p:cNvPr id="11" name="Text 9"/>
          <p:cNvSpPr/>
          <p:nvPr/>
        </p:nvSpPr>
        <p:spPr>
          <a:xfrm>
            <a:off x="1706880" y="5184648"/>
            <a:ext cx="237744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Total Cash</a:t>
            </a:r>
            <a:endParaRPr lang="en-US" sz="1200" dirty="0"/>
          </a:p>
        </p:txBody>
      </p:sp>
      <p:sp>
        <p:nvSpPr>
          <p:cNvPr id="13" name="Text 11"/>
          <p:cNvSpPr/>
          <p:nvPr/>
        </p:nvSpPr>
        <p:spPr>
          <a:xfrm>
            <a:off x="5181600" y="1917700"/>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$5M</a:t>
            </a:r>
            <a:endParaRPr lang="en-US" sz="1500" dirty="0"/>
          </a:p>
        </p:txBody>
      </p:sp>
      <p:sp>
        <p:nvSpPr>
          <p:cNvPr id="14" name="Text 12"/>
          <p:cNvSpPr/>
          <p:nvPr/>
        </p:nvSpPr>
        <p:spPr>
          <a:xfrm>
            <a:off x="4815840" y="5184648"/>
            <a:ext cx="2560320" cy="317500"/>
          </a:xfrm>
          <a:prstGeom prst="rect">
            <a:avLst/>
          </a:prstGeom>
          <a:noFill/>
          <a:ln/>
        </p:spPr>
        <p:txBody>
          <a:bodyPr wrap="square" lIns="0" tIns="0" rIns="0" bIns="0" rtlCol="0" anchor="ctr"/>
          <a:lstStyle/>
          <a:p>
            <a:pPr marL="0" indent="0" algn="ctr">
              <a:lnSpc>
                <a:spcPts val="1500"/>
              </a:lnSpc>
              <a:buNone/>
            </a:pPr>
            <a:r>
              <a:rPr lang="en-US" sz="1200" dirty="0">
                <a:solidFill>
                  <a:srgbClr val="1F1142"/>
                </a:solidFill>
                <a:latin typeface="Calibri" pitchFamily="34" charset="0"/>
                <a:ea typeface="Calibri" pitchFamily="34" charset="-122"/>
                <a:cs typeface="Calibri" pitchFamily="34" charset="-120"/>
              </a:rPr>
              <a:t>Seller Rollover Equity</a:t>
            </a:r>
            <a:endParaRPr lang="en-US" sz="1200" dirty="0"/>
          </a:p>
        </p:txBody>
      </p:sp>
      <p:sp>
        <p:nvSpPr>
          <p:cNvPr id="16" name="Text 14"/>
          <p:cNvSpPr/>
          <p:nvPr/>
        </p:nvSpPr>
        <p:spPr>
          <a:xfrm>
            <a:off x="8382000" y="1916227"/>
            <a:ext cx="1828800" cy="347472"/>
          </a:xfrm>
          <a:prstGeom prst="rect">
            <a:avLst/>
          </a:prstGeom>
          <a:noFill/>
          <a:ln/>
        </p:spPr>
        <p:txBody>
          <a:bodyPr wrap="square" lIns="0" tIns="0" rIns="0" bIns="0" rtlCol="0" anchor="ctr"/>
          <a:lstStyle/>
          <a:p>
            <a:pPr marL="0" indent="0" algn="ctr">
              <a:buNone/>
            </a:pPr>
            <a:r>
              <a:rPr lang="en-US" sz="1700" b="1" dirty="0">
                <a:solidFill>
                  <a:srgbClr val="201243"/>
                </a:solidFill>
                <a:latin typeface="Calibri" pitchFamily="34" charset="0"/>
                <a:ea typeface="Calibri" pitchFamily="34" charset="-122"/>
                <a:cs typeface="Calibri" pitchFamily="34" charset="-120"/>
              </a:rPr>
              <a:t>$43M</a:t>
            </a:r>
            <a:endParaRPr lang="en-US" sz="1700" dirty="0"/>
          </a:p>
        </p:txBody>
      </p:sp>
      <p:sp>
        <p:nvSpPr>
          <p:cNvPr id="17" name="Text 15"/>
          <p:cNvSpPr/>
          <p:nvPr/>
        </p:nvSpPr>
        <p:spPr>
          <a:xfrm>
            <a:off x="8016240" y="5184648"/>
            <a:ext cx="256032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Initial Consideration</a:t>
            </a:r>
            <a:endParaRPr lang="en-US" sz="1200" dirty="0"/>
          </a:p>
        </p:txBody>
      </p:sp>
      <p:sp>
        <p:nvSpPr>
          <p:cNvPr id="18" name="Shape 16"/>
          <p:cNvSpPr/>
          <p:nvPr/>
        </p:nvSpPr>
        <p:spPr>
          <a:xfrm>
            <a:off x="1524000" y="5074920"/>
            <a:ext cx="9144000" cy="13716"/>
          </a:xfrm>
          <a:prstGeom prst="rect">
            <a:avLst/>
          </a:prstGeom>
          <a:solidFill>
            <a:srgbClr val="D7D3DE"/>
          </a:solidFill>
          <a:ln/>
        </p:spPr>
        <p:txBody>
          <a:bodyPr/>
          <a:lstStyle/>
          <a:p>
            <a:endParaRPr lang="en-US"/>
          </a:p>
        </p:txBody>
      </p:sp>
      <p:sp>
        <p:nvSpPr>
          <p:cNvPr id="6" name="Text 5">
            <a:extLst>
              <a:ext uri="{FF2B5EF4-FFF2-40B4-BE49-F238E27FC236}">
                <a16:creationId xmlns:a16="http://schemas.microsoft.com/office/drawing/2014/main" id="{62DC941B-96F1-F26E-5E40-3BAE66296AB0}"/>
              </a:ext>
            </a:extLst>
          </p:cNvPr>
          <p:cNvSpPr/>
          <p:nvPr/>
        </p:nvSpPr>
        <p:spPr>
          <a:xfrm>
            <a:off x="5264727" y="2601468"/>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Paid to the Company in the form of the Rollover Equity at Close</a:t>
            </a:r>
          </a:p>
        </p:txBody>
      </p:sp>
      <p:sp>
        <p:nvSpPr>
          <p:cNvPr id="8" name="Rectangle 7">
            <a:extLst>
              <a:ext uri="{FF2B5EF4-FFF2-40B4-BE49-F238E27FC236}">
                <a16:creationId xmlns:a16="http://schemas.microsoft.com/office/drawing/2014/main" id="{89509409-58D8-7EE2-E1BB-02503797ECD8}"/>
              </a:ext>
            </a:extLst>
          </p:cNvPr>
          <p:cNvSpPr/>
          <p:nvPr/>
        </p:nvSpPr>
        <p:spPr>
          <a:xfrm>
            <a:off x="8037097" y="1443789"/>
            <a:ext cx="2544278" cy="4131511"/>
          </a:xfrm>
          <a:prstGeom prst="rect">
            <a:avLst/>
          </a:prstGeom>
          <a:no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34DA999-C5B3-06C5-7E64-D052DB1ACA6F}"/>
              </a:ext>
            </a:extLst>
          </p:cNvPr>
          <p:cNvSpPr/>
          <p:nvPr/>
        </p:nvSpPr>
        <p:spPr>
          <a:xfrm>
            <a:off x="8795887" y="1897233"/>
            <a:ext cx="1001027" cy="385460"/>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9578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the RadX Operating Playbook</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What RadX does after close to grow revenue at an acquired center</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7" name="Text 5"/>
          <p:cNvSpPr/>
          <p:nvPr/>
        </p:nvSpPr>
        <p:spPr>
          <a:xfrm>
            <a:off x="754380"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dirty="0">
                <a:solidFill>
                  <a:srgbClr val="FFFFFF"/>
                </a:solidFill>
                <a:latin typeface="Calibri" pitchFamily="34" charset="0"/>
                <a:ea typeface="Calibri" pitchFamily="34" charset="-122"/>
                <a:cs typeface="Calibri" pitchFamily="34" charset="-120"/>
              </a:rPr>
              <a:t>Modality Mix</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Shift volume toward higher-value studies on the equipment already in place</a:t>
            </a:r>
            <a:endParaRPr lang="en-US" sz="1050" dirty="0"/>
          </a:p>
        </p:txBody>
      </p:sp>
      <p:sp>
        <p:nvSpPr>
          <p:cNvPr id="9" name="Shape 7"/>
          <p:cNvSpPr/>
          <p:nvPr/>
        </p:nvSpPr>
        <p:spPr>
          <a:xfrm>
            <a:off x="3439161"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18" name="Shape 16"/>
          <p:cNvSpPr/>
          <p:nvPr/>
        </p:nvSpPr>
        <p:spPr>
          <a:xfrm>
            <a:off x="635000" y="3581400"/>
            <a:ext cx="182880" cy="182880"/>
          </a:xfrm>
          <a:prstGeom prst="ellipse">
            <a:avLst/>
          </a:prstGeom>
          <a:solidFill>
            <a:srgbClr val="825B90"/>
          </a:solidFill>
          <a:ln w="12700">
            <a:solidFill>
              <a:srgbClr val="825B90"/>
            </a:solidFill>
            <a:prstDash val="solid"/>
          </a:ln>
        </p:spPr>
        <p:txBody>
          <a:bodyPr/>
          <a:lstStyle/>
          <a:p>
            <a:endParaRPr lang="en-US"/>
          </a:p>
        </p:txBody>
      </p:sp>
      <p:sp>
        <p:nvSpPr>
          <p:cNvPr id="19" name="Text 17"/>
          <p:cNvSpPr/>
          <p:nvPr/>
        </p:nvSpPr>
        <p:spPr>
          <a:xfrm>
            <a:off x="965200" y="3530600"/>
            <a:ext cx="4991100" cy="304800"/>
          </a:xfrm>
          <a:prstGeom prst="rect">
            <a:avLst/>
          </a:prstGeom>
          <a:noFill/>
          <a:ln/>
        </p:spPr>
        <p:txBody>
          <a:bodyPr wrap="square" lIns="0" tIns="0" rIns="0" bIns="0" rtlCol="0" anchor="t" anchorCtr="0">
            <a:noAutofit/>
          </a:bodyPr>
          <a:lstStyle/>
          <a:p>
            <a:pPr marL="0" indent="0">
              <a:buNone/>
            </a:pPr>
            <a:r>
              <a:rPr lang="en-US" sz="1450" b="1" dirty="0">
                <a:solidFill>
                  <a:srgbClr val="201243"/>
                </a:solidFill>
                <a:latin typeface="Calibri" pitchFamily="34" charset="0"/>
                <a:ea typeface="Calibri" pitchFamily="34" charset="-122"/>
                <a:cs typeface="Calibri" pitchFamily="34" charset="-120"/>
              </a:rPr>
              <a:t>Better mix and stronger rates lift revenue per scan</a:t>
            </a:r>
            <a:endParaRPr lang="en-US" sz="1450" b="1" dirty="0"/>
          </a:p>
        </p:txBody>
      </p:sp>
      <p:sp>
        <p:nvSpPr>
          <p:cNvPr id="20" name="Text 18"/>
          <p:cNvSpPr/>
          <p:nvPr/>
        </p:nvSpPr>
        <p:spPr>
          <a:xfrm>
            <a:off x="965200" y="3911600"/>
            <a:ext cx="4991100" cy="1905000"/>
          </a:xfrm>
          <a:prstGeom prst="rect">
            <a:avLst/>
          </a:prstGeom>
          <a:noFill/>
          <a:ln/>
        </p:spPr>
        <p:txBody>
          <a:bodyPr wrap="square" lIns="0" tIns="0" rIns="0" bIns="0" rtlCol="0" anchor="t" anchorCtr="0">
            <a:noAutofit/>
          </a:bodyPr>
          <a:lstStyle/>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Study mix shifts toward higher-value modalities on the equipment already in place</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Payer terms move onto platform contracted rates, narrowing the gap to RadX blended collections in your market</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A largely fixed cost base means most of the incremental revenue per scan converts to EBITDA</a:t>
            </a:r>
            <a:endParaRPr lang="en-US" sz="1150" dirty="0"/>
          </a:p>
        </p:txBody>
      </p:sp>
      <p:sp>
        <p:nvSpPr>
          <p:cNvPr id="21" name="Shape 19"/>
          <p:cNvSpPr/>
          <p:nvPr/>
        </p:nvSpPr>
        <p:spPr>
          <a:xfrm>
            <a:off x="6235700" y="3581400"/>
            <a:ext cx="182880" cy="182880"/>
          </a:xfrm>
          <a:prstGeom prst="ellipse">
            <a:avLst/>
          </a:prstGeom>
          <a:solidFill>
            <a:srgbClr val="825B90"/>
          </a:solidFill>
          <a:ln w="12700">
            <a:solidFill>
              <a:srgbClr val="825B90"/>
            </a:solidFill>
            <a:prstDash val="solid"/>
          </a:ln>
        </p:spPr>
        <p:txBody>
          <a:bodyPr/>
          <a:lstStyle/>
          <a:p>
            <a:endParaRPr lang="en-US"/>
          </a:p>
        </p:txBody>
      </p:sp>
      <p:sp>
        <p:nvSpPr>
          <p:cNvPr id="22" name="Text 20"/>
          <p:cNvSpPr/>
          <p:nvPr/>
        </p:nvSpPr>
        <p:spPr>
          <a:xfrm>
            <a:off x="6565900" y="3530600"/>
            <a:ext cx="4991100" cy="304800"/>
          </a:xfrm>
          <a:prstGeom prst="rect">
            <a:avLst/>
          </a:prstGeom>
          <a:noFill/>
          <a:ln/>
        </p:spPr>
        <p:txBody>
          <a:bodyPr wrap="square" lIns="0" tIns="0" rIns="0" bIns="0" rtlCol="0" anchor="t" anchorCtr="0">
            <a:noAutofit/>
          </a:bodyPr>
          <a:lstStyle/>
          <a:p>
            <a:pPr marL="0" indent="0">
              <a:buNone/>
            </a:pPr>
            <a:r>
              <a:rPr lang="en-US" sz="1450" b="1" dirty="0">
                <a:solidFill>
                  <a:srgbClr val="201243"/>
                </a:solidFill>
                <a:latin typeface="Calibri" pitchFamily="34" charset="0"/>
                <a:ea typeface="Calibri" pitchFamily="34" charset="-122"/>
                <a:cs typeface="Calibri" pitchFamily="34" charset="-120"/>
              </a:rPr>
              <a:t>Stronger referrals and easier access add more scans</a:t>
            </a:r>
            <a:endParaRPr lang="en-US" sz="1450" b="1" dirty="0"/>
          </a:p>
        </p:txBody>
      </p:sp>
      <p:sp>
        <p:nvSpPr>
          <p:cNvPr id="23" name="Text 21"/>
          <p:cNvSpPr/>
          <p:nvPr/>
        </p:nvSpPr>
        <p:spPr>
          <a:xfrm>
            <a:off x="6565900" y="3911600"/>
            <a:ext cx="4991100" cy="1905000"/>
          </a:xfrm>
          <a:prstGeom prst="rect">
            <a:avLst/>
          </a:prstGeom>
          <a:noFill/>
          <a:ln/>
        </p:spPr>
        <p:txBody>
          <a:bodyPr wrap="square" lIns="0" tIns="0" rIns="0" bIns="0" rtlCol="0" anchor="t" anchorCtr="0">
            <a:noAutofit/>
          </a:bodyPr>
          <a:lstStyle/>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Referral development across both physician and personal-injury channels in your local market</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Centralized scheduling and call handling convert more inbound demand into scheduled appointments</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Longer operating hours and shorter backlogs add capacity without new capital</a:t>
            </a:r>
            <a:endParaRPr lang="en-US" sz="1150" dirty="0"/>
          </a:p>
        </p:txBody>
      </p:sp>
      <p:sp>
        <p:nvSpPr>
          <p:cNvPr id="25" name="Text 23"/>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6" name="Text 24"/>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7" name="Text 25"/>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7</a:t>
            </a:r>
            <a:endParaRPr lang="en-US" sz="1000" dirty="0"/>
          </a:p>
        </p:txBody>
      </p:sp>
      <p:sp>
        <p:nvSpPr>
          <p:cNvPr id="12" name="Shape 7">
            <a:extLst>
              <a:ext uri="{FF2B5EF4-FFF2-40B4-BE49-F238E27FC236}">
                <a16:creationId xmlns:a16="http://schemas.microsoft.com/office/drawing/2014/main" id="{03AE2729-A18D-F8C7-74C8-E4BE1013ADF0}"/>
              </a:ext>
            </a:extLst>
          </p:cNvPr>
          <p:cNvSpPr/>
          <p:nvPr/>
        </p:nvSpPr>
        <p:spPr>
          <a:xfrm>
            <a:off x="6238242"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13" name="Shape 7">
            <a:extLst>
              <a:ext uri="{FF2B5EF4-FFF2-40B4-BE49-F238E27FC236}">
                <a16:creationId xmlns:a16="http://schemas.microsoft.com/office/drawing/2014/main" id="{0703E506-28A0-C136-4AE8-448C9B70F238}"/>
              </a:ext>
            </a:extLst>
          </p:cNvPr>
          <p:cNvSpPr/>
          <p:nvPr/>
        </p:nvSpPr>
        <p:spPr>
          <a:xfrm>
            <a:off x="9037322"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14" name="Text 5">
            <a:extLst>
              <a:ext uri="{FF2B5EF4-FFF2-40B4-BE49-F238E27FC236}">
                <a16:creationId xmlns:a16="http://schemas.microsoft.com/office/drawing/2014/main" id="{6994C6D2-0773-27A1-BD3E-14E2B39804D8}"/>
              </a:ext>
            </a:extLst>
          </p:cNvPr>
          <p:cNvSpPr/>
          <p:nvPr/>
        </p:nvSpPr>
        <p:spPr>
          <a:xfrm>
            <a:off x="3553461"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dirty="0">
                <a:solidFill>
                  <a:srgbClr val="FFFFFF"/>
                </a:solidFill>
                <a:latin typeface="Calibri" pitchFamily="34" charset="0"/>
                <a:ea typeface="Calibri" pitchFamily="34" charset="-122"/>
                <a:cs typeface="Calibri" pitchFamily="34" charset="-120"/>
              </a:rPr>
              <a:t>Payer Rates</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Consolidate every center onto platform contracted rates</a:t>
            </a:r>
            <a:endParaRPr lang="en-US" sz="1050" dirty="0"/>
          </a:p>
        </p:txBody>
      </p:sp>
      <p:sp>
        <p:nvSpPr>
          <p:cNvPr id="15" name="Text 5">
            <a:extLst>
              <a:ext uri="{FF2B5EF4-FFF2-40B4-BE49-F238E27FC236}">
                <a16:creationId xmlns:a16="http://schemas.microsoft.com/office/drawing/2014/main" id="{05F77DB6-4EA3-7139-460E-B6B6C5D8CDF9}"/>
              </a:ext>
            </a:extLst>
          </p:cNvPr>
          <p:cNvSpPr/>
          <p:nvPr/>
        </p:nvSpPr>
        <p:spPr>
          <a:xfrm>
            <a:off x="6352542"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dirty="0">
                <a:solidFill>
                  <a:srgbClr val="FFFFFF"/>
                </a:solidFill>
                <a:latin typeface="Calibri" pitchFamily="34" charset="0"/>
                <a:ea typeface="Calibri" pitchFamily="34" charset="-122"/>
                <a:cs typeface="Calibri" pitchFamily="34" charset="-120"/>
              </a:rPr>
              <a:t>Referral Engine</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A formal sales organization that owns referral growth in each market</a:t>
            </a:r>
            <a:endParaRPr lang="en-US" sz="1050" dirty="0"/>
          </a:p>
        </p:txBody>
      </p:sp>
      <p:sp>
        <p:nvSpPr>
          <p:cNvPr id="16" name="Text 5">
            <a:extLst>
              <a:ext uri="{FF2B5EF4-FFF2-40B4-BE49-F238E27FC236}">
                <a16:creationId xmlns:a16="http://schemas.microsoft.com/office/drawing/2014/main" id="{4CE85346-92C1-75C0-B555-1E49630AC09D}"/>
              </a:ext>
            </a:extLst>
          </p:cNvPr>
          <p:cNvSpPr/>
          <p:nvPr/>
        </p:nvSpPr>
        <p:spPr>
          <a:xfrm>
            <a:off x="9151620"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a:solidFill>
                  <a:srgbClr val="FFFFFF"/>
                </a:solidFill>
                <a:latin typeface="Calibri" pitchFamily="34" charset="0"/>
                <a:ea typeface="Calibri" pitchFamily="34" charset="-122"/>
                <a:cs typeface="Calibri" pitchFamily="34" charset="-120"/>
              </a:rPr>
              <a:t>Patient </a:t>
            </a:r>
            <a:r>
              <a:rPr lang="en-US" sz="1500" b="1" dirty="0">
                <a:solidFill>
                  <a:srgbClr val="FFFFFF"/>
                </a:solidFill>
                <a:latin typeface="Calibri" pitchFamily="34" charset="0"/>
                <a:ea typeface="Calibri" pitchFamily="34" charset="-122"/>
                <a:cs typeface="Calibri" pitchFamily="34" charset="-120"/>
              </a:rPr>
              <a:t>Access</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Centralized scheduling that converts demand into booked studies</a:t>
            </a:r>
            <a:endParaRPr lang="en-US" sz="1050" dirty="0"/>
          </a:p>
        </p:txBody>
      </p:sp>
      <p:sp>
        <p:nvSpPr>
          <p:cNvPr id="8" name="Rectangle 7">
            <a:extLst>
              <a:ext uri="{FF2B5EF4-FFF2-40B4-BE49-F238E27FC236}">
                <a16:creationId xmlns:a16="http://schemas.microsoft.com/office/drawing/2014/main" id="{F9D1B7FB-F136-2A5B-F64F-8A82802BB9AC}"/>
              </a:ext>
            </a:extLst>
          </p:cNvPr>
          <p:cNvSpPr/>
          <p:nvPr/>
        </p:nvSpPr>
        <p:spPr>
          <a:xfrm>
            <a:off x="8827553" y="78339"/>
            <a:ext cx="2179675" cy="605465"/>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TBD: Content to be updated and edited</a:t>
            </a:r>
          </a:p>
        </p:txBody>
      </p:sp>
    </p:spTree>
    <p:extLst>
      <p:ext uri="{BB962C8B-B14F-4D97-AF65-F5344CB8AC3E}">
        <p14:creationId xmlns:p14="http://schemas.microsoft.com/office/powerpoint/2010/main" val="2369351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Illustrative Example of EBITDA Growth Under RadX</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Fuller schedules and a centralized back office can materially increase a center's EBITDA</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866900"/>
            <a:ext cx="182880" cy="182880"/>
          </a:xfrm>
          <a:prstGeom prst="ellipse">
            <a:avLst/>
          </a:prstGeom>
          <a:solidFill>
            <a:srgbClr val="825B90"/>
          </a:solidFill>
          <a:ln w="12700">
            <a:solidFill>
              <a:srgbClr val="825B90"/>
            </a:solidFill>
            <a:prstDash val="solid"/>
          </a:ln>
        </p:spPr>
        <p:txBody>
          <a:bodyPr/>
          <a:lstStyle/>
          <a:p>
            <a:endParaRPr lang="en-US"/>
          </a:p>
        </p:txBody>
      </p:sp>
      <p:sp>
        <p:nvSpPr>
          <p:cNvPr id="7" name="Text 5"/>
          <p:cNvSpPr/>
          <p:nvPr/>
        </p:nvSpPr>
        <p:spPr>
          <a:xfrm>
            <a:off x="960120" y="1828800"/>
            <a:ext cx="4754880" cy="274320"/>
          </a:xfrm>
          <a:prstGeom prst="rect">
            <a:avLst/>
          </a:prstGeom>
          <a:noFill/>
          <a:ln/>
        </p:spPr>
        <p:txBody>
          <a:bodyPr wrap="square" lIns="0" tIns="0" rIns="0" bIns="0" rtlCol="0" anchor="ctr"/>
          <a:lstStyle/>
          <a:p>
            <a:pPr marL="0" indent="0">
              <a:buNone/>
            </a:pPr>
            <a:r>
              <a:rPr lang="en-US" sz="1400" b="1" dirty="0">
                <a:solidFill>
                  <a:srgbClr val="201243"/>
                </a:solidFill>
                <a:latin typeface="Calibri" pitchFamily="34" charset="0"/>
                <a:ea typeface="Calibri" pitchFamily="34" charset="-122"/>
                <a:cs typeface="Calibri" pitchFamily="34" charset="-120"/>
              </a:rPr>
              <a:t>Do More With What You Already Have</a:t>
            </a:r>
            <a:endParaRPr lang="en-US" sz="1400" dirty="0"/>
          </a:p>
        </p:txBody>
      </p:sp>
      <p:sp>
        <p:nvSpPr>
          <p:cNvPr id="8" name="Text 6"/>
          <p:cNvSpPr/>
          <p:nvPr/>
        </p:nvSpPr>
        <p:spPr>
          <a:xfrm>
            <a:off x="960120" y="2108200"/>
            <a:ext cx="4846320" cy="736600"/>
          </a:xfrm>
          <a:prstGeom prst="rect">
            <a:avLst/>
          </a:prstGeom>
          <a:noFill/>
          <a:ln/>
        </p:spPr>
        <p:txBody>
          <a:bodyPr wrap="square" lIns="0" tIns="0" rIns="0" bIns="0" rtlCol="0" anchor="t"/>
          <a:lstStyle/>
          <a:p>
            <a:pPr marL="0" indent="0">
              <a:lnSpc>
                <a:spcPts val="1400"/>
              </a:lnSpc>
              <a:buNone/>
            </a:pPr>
            <a:r>
              <a:rPr lang="en-US" sz="1150" dirty="0">
                <a:solidFill>
                  <a:srgbClr val="3B3350"/>
                </a:solidFill>
                <a:latin typeface="Calibri" pitchFamily="34" charset="0"/>
                <a:ea typeface="Calibri" pitchFamily="34" charset="-122"/>
                <a:cs typeface="Calibri" pitchFamily="34" charset="-120"/>
              </a:rPr>
              <a:t>Most centers have room to run more volume on the equipment already in place. Better scheduling and steadier referral flow fill that gap without the need for additional capital</a:t>
            </a:r>
            <a:endParaRPr lang="en-US" sz="1150" dirty="0"/>
          </a:p>
        </p:txBody>
      </p:sp>
      <p:sp>
        <p:nvSpPr>
          <p:cNvPr id="9" name="Shape 7"/>
          <p:cNvSpPr/>
          <p:nvPr/>
        </p:nvSpPr>
        <p:spPr>
          <a:xfrm>
            <a:off x="640080" y="4025900"/>
            <a:ext cx="182880" cy="182880"/>
          </a:xfrm>
          <a:prstGeom prst="ellipse">
            <a:avLst/>
          </a:prstGeom>
          <a:solidFill>
            <a:srgbClr val="825B90"/>
          </a:solidFill>
          <a:ln w="12700">
            <a:solidFill>
              <a:srgbClr val="825B90"/>
            </a:solidFill>
            <a:prstDash val="solid"/>
          </a:ln>
        </p:spPr>
        <p:txBody>
          <a:bodyPr/>
          <a:lstStyle/>
          <a:p>
            <a:endParaRPr lang="en-US"/>
          </a:p>
        </p:txBody>
      </p:sp>
      <p:sp>
        <p:nvSpPr>
          <p:cNvPr id="10" name="Text 8"/>
          <p:cNvSpPr/>
          <p:nvPr/>
        </p:nvSpPr>
        <p:spPr>
          <a:xfrm>
            <a:off x="960120" y="3987800"/>
            <a:ext cx="4754880" cy="274320"/>
          </a:xfrm>
          <a:prstGeom prst="rect">
            <a:avLst/>
          </a:prstGeom>
          <a:noFill/>
          <a:ln/>
        </p:spPr>
        <p:txBody>
          <a:bodyPr wrap="square" lIns="0" tIns="0" rIns="0" bIns="0" rtlCol="0" anchor="ctr"/>
          <a:lstStyle/>
          <a:p>
            <a:pPr marL="0" indent="0">
              <a:buNone/>
            </a:pPr>
            <a:r>
              <a:rPr lang="en-US" sz="1400" b="1" dirty="0">
                <a:solidFill>
                  <a:srgbClr val="201243"/>
                </a:solidFill>
                <a:latin typeface="Calibri" pitchFamily="34" charset="0"/>
                <a:ea typeface="Calibri" pitchFamily="34" charset="-122"/>
                <a:cs typeface="Calibri" pitchFamily="34" charset="-120"/>
              </a:rPr>
              <a:t>Centralize the Back Office</a:t>
            </a:r>
            <a:endParaRPr lang="en-US" sz="1400" dirty="0"/>
          </a:p>
        </p:txBody>
      </p:sp>
      <p:sp>
        <p:nvSpPr>
          <p:cNvPr id="11" name="Text 9"/>
          <p:cNvSpPr/>
          <p:nvPr/>
        </p:nvSpPr>
        <p:spPr>
          <a:xfrm>
            <a:off x="960120" y="4267200"/>
            <a:ext cx="4846320" cy="736600"/>
          </a:xfrm>
          <a:prstGeom prst="rect">
            <a:avLst/>
          </a:prstGeom>
          <a:noFill/>
          <a:ln/>
        </p:spPr>
        <p:txBody>
          <a:bodyPr wrap="square" lIns="0" tIns="0" rIns="0" bIns="0" rtlCol="0" anchor="t"/>
          <a:lstStyle/>
          <a:p>
            <a:pPr marL="0" indent="0">
              <a:lnSpc>
                <a:spcPts val="1400"/>
              </a:lnSpc>
              <a:buNone/>
            </a:pPr>
            <a:r>
              <a:rPr lang="en-US" sz="1150" dirty="0">
                <a:solidFill>
                  <a:srgbClr val="3B3350"/>
                </a:solidFill>
                <a:latin typeface="Calibri" pitchFamily="34" charset="0"/>
                <a:ea typeface="Calibri" pitchFamily="34" charset="-122"/>
                <a:cs typeface="Calibri" pitchFamily="34" charset="-120"/>
              </a:rPr>
              <a:t>Billing, credentialing, procurement and image reads move onto the RadX platform, which takes cost out of the center. Your clinical team and local relationships stay in place</a:t>
            </a:r>
            <a:endParaRPr lang="en-US" sz="1150" dirty="0"/>
          </a:p>
        </p:txBody>
      </p:sp>
      <p:sp>
        <p:nvSpPr>
          <p:cNvPr id="12" name="Shape 10"/>
          <p:cNvSpPr/>
          <p:nvPr/>
        </p:nvSpPr>
        <p:spPr>
          <a:xfrm>
            <a:off x="640080" y="5080000"/>
            <a:ext cx="5166360" cy="571500"/>
          </a:xfrm>
          <a:prstGeom prst="roundRect">
            <a:avLst>
              <a:gd name="adj" fmla="val 8065"/>
            </a:avLst>
          </a:prstGeom>
          <a:solidFill>
            <a:srgbClr val="F3F6FC"/>
          </a:solidFill>
          <a:ln w="12700">
            <a:solidFill>
              <a:srgbClr val="D7D3DE"/>
            </a:solidFill>
            <a:prstDash val="solid"/>
          </a:ln>
        </p:spPr>
        <p:txBody>
          <a:bodyPr/>
          <a:lstStyle/>
          <a:p>
            <a:endParaRPr lang="en-US"/>
          </a:p>
        </p:txBody>
      </p:sp>
      <p:sp>
        <p:nvSpPr>
          <p:cNvPr id="13" name="Text 11"/>
          <p:cNvSpPr/>
          <p:nvPr/>
        </p:nvSpPr>
        <p:spPr>
          <a:xfrm>
            <a:off x="777240" y="5080000"/>
            <a:ext cx="4892040" cy="571500"/>
          </a:xfrm>
          <a:prstGeom prst="rect">
            <a:avLst/>
          </a:prstGeom>
          <a:noFill/>
          <a:ln/>
        </p:spPr>
        <p:txBody>
          <a:bodyPr wrap="square" lIns="0" tIns="0" rIns="0" bIns="0" rtlCol="0" anchor="ctr"/>
          <a:lstStyle/>
          <a:p>
            <a:pPr marL="0" indent="0">
              <a:buNone/>
            </a:pPr>
            <a:r>
              <a:rPr lang="en-US" sz="1150" b="1" i="1" dirty="0">
                <a:solidFill>
                  <a:srgbClr val="201243"/>
                </a:solidFill>
                <a:latin typeface="Calibri" pitchFamily="34" charset="0"/>
                <a:ea typeface="Calibri" pitchFamily="34" charset="-122"/>
                <a:cs typeface="Calibri" pitchFamily="34" charset="-120"/>
              </a:rPr>
              <a:t>Same physicians, same equipment but a materially different earnings profile</a:t>
            </a:r>
            <a:endParaRPr lang="en-US" sz="1150" dirty="0"/>
          </a:p>
        </p:txBody>
      </p:sp>
      <p:sp>
        <p:nvSpPr>
          <p:cNvPr id="14" name="Text 12"/>
          <p:cNvSpPr/>
          <p:nvPr/>
        </p:nvSpPr>
        <p:spPr>
          <a:xfrm>
            <a:off x="6126480" y="1834576"/>
            <a:ext cx="5486400" cy="274320"/>
          </a:xfrm>
          <a:prstGeom prst="rect">
            <a:avLst/>
          </a:prstGeom>
          <a:noFill/>
          <a:ln/>
        </p:spPr>
        <p:txBody>
          <a:bodyPr wrap="square" lIns="0" tIns="0" rIns="0" bIns="0" rtlCol="0" anchor="ctr"/>
          <a:lstStyle/>
          <a:p>
            <a:pPr marL="0" indent="0">
              <a:buNone/>
            </a:pPr>
            <a:r>
              <a:rPr lang="en-US" sz="1300" b="1" dirty="0">
                <a:solidFill>
                  <a:srgbClr val="6585C7"/>
                </a:solidFill>
                <a:latin typeface="Calibri" pitchFamily="34" charset="0"/>
                <a:ea typeface="Calibri" pitchFamily="34" charset="-122"/>
                <a:cs typeface="Calibri" pitchFamily="34" charset="-120"/>
              </a:rPr>
              <a:t>Illustrative Single-Center EBITDA</a:t>
            </a:r>
            <a:endParaRPr lang="en-US" sz="1300" dirty="0"/>
          </a:p>
        </p:txBody>
      </p:sp>
      <p:sp>
        <p:nvSpPr>
          <p:cNvPr id="15" name="Text 13"/>
          <p:cNvSpPr/>
          <p:nvPr/>
        </p:nvSpPr>
        <p:spPr>
          <a:xfrm>
            <a:off x="6126480" y="2108896"/>
            <a:ext cx="5486400" cy="228600"/>
          </a:xfrm>
          <a:prstGeom prst="rect">
            <a:avLst/>
          </a:prstGeom>
          <a:noFill/>
          <a:ln/>
        </p:spPr>
        <p:txBody>
          <a:bodyPr wrap="square" lIns="0" tIns="0" rIns="0" bIns="0" rtlCol="0" anchor="ctr"/>
          <a:lstStyle/>
          <a:p>
            <a:pPr marL="0" indent="0">
              <a:buNone/>
            </a:pPr>
            <a:r>
              <a:rPr lang="en-US" sz="1000" i="1" dirty="0">
                <a:solidFill>
                  <a:srgbClr val="837D94"/>
                </a:solidFill>
                <a:latin typeface="Calibri" pitchFamily="34" charset="0"/>
                <a:ea typeface="Calibri" pitchFamily="34" charset="-122"/>
                <a:cs typeface="Calibri" pitchFamily="34" charset="-120"/>
              </a:rPr>
              <a:t>Illustrative center, a few years into the RadX model</a:t>
            </a:r>
            <a:endParaRPr lang="en-US" sz="1000" dirty="0"/>
          </a:p>
        </p:txBody>
      </p:sp>
      <p:sp>
        <p:nvSpPr>
          <p:cNvPr id="31" name="Shape 29"/>
          <p:cNvSpPr/>
          <p:nvPr/>
        </p:nvSpPr>
        <p:spPr>
          <a:xfrm>
            <a:off x="6035040" y="5120640"/>
            <a:ext cx="5120640" cy="13716"/>
          </a:xfrm>
          <a:prstGeom prst="rect">
            <a:avLst/>
          </a:prstGeom>
          <a:solidFill>
            <a:srgbClr val="D7D3DE"/>
          </a:solidFill>
          <a:ln/>
        </p:spPr>
        <p:txBody>
          <a:bodyPr/>
          <a:lstStyle/>
          <a:p>
            <a:endParaRPr lang="en-US"/>
          </a:p>
        </p:txBody>
      </p:sp>
      <p:sp>
        <p:nvSpPr>
          <p:cNvPr id="32" name="Text 30"/>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Illustrative economics for a single center. The $1.0M to $2.0M path assumes all three drivers shown at left are executed by Year 2. Actual results vary by center.</a:t>
            </a:r>
            <a:endParaRPr lang="en-US" sz="900" dirty="0"/>
          </a:p>
        </p:txBody>
      </p:sp>
      <p:sp>
        <p:nvSpPr>
          <p:cNvPr id="33" name="Text 31"/>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34" name="Text 32"/>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35" name="Text 33"/>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8</a:t>
            </a:r>
            <a:endParaRPr lang="en-US" sz="1000" dirty="0"/>
          </a:p>
        </p:txBody>
      </p:sp>
      <p:graphicFrame>
        <p:nvGraphicFramePr>
          <p:cNvPr id="91" name="EBITDA Bridge Chart"/>
          <p:cNvGraphicFramePr/>
          <p:nvPr>
            <p:extLst>
              <p:ext uri="{D42A27DB-BD31-4B8C-83A1-F6EECF244321}">
                <p14:modId xmlns:p14="http://schemas.microsoft.com/office/powerpoint/2010/main" val="3039023587"/>
              </p:ext>
            </p:extLst>
          </p:nvPr>
        </p:nvGraphicFramePr>
        <p:xfrm>
          <a:off x="5978525" y="2324100"/>
          <a:ext cx="5175250" cy="2794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CatAtClose">
            <a:extLst>
              <a:ext uri="{FF2B5EF4-FFF2-40B4-BE49-F238E27FC236}">
                <a16:creationId xmlns:a16="http://schemas.microsoft.com/office/drawing/2014/main" id="{BD8DB580-60AB-4CD1-94E6-9FC114E7882E}"/>
              </a:ext>
            </a:extLst>
          </p:cNvPr>
          <p:cNvSpPr txBox="1"/>
          <p:nvPr/>
        </p:nvSpPr>
        <p:spPr>
          <a:xfrm>
            <a:off x="6781800" y="5207000"/>
            <a:ext cx="1079500" cy="279400"/>
          </a:xfrm>
          <a:prstGeom prst="rect">
            <a:avLst/>
          </a:prstGeom>
          <a:noFill/>
        </p:spPr>
        <p:txBody>
          <a:bodyPr vertOverflow="overflow" vert="horz" wrap="square" rtlCol="0" anchor="t">
            <a:noAutofit/>
          </a:bodyP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At Close</a:t>
            </a:r>
            <a:endParaRPr lang="en-US" sz="1050" dirty="0"/>
          </a:p>
        </p:txBody>
      </p:sp>
      <p:sp>
        <p:nvSpPr>
          <p:cNvPr id="18" name="CatYear3">
            <a:extLst>
              <a:ext uri="{FF2B5EF4-FFF2-40B4-BE49-F238E27FC236}">
                <a16:creationId xmlns:a16="http://schemas.microsoft.com/office/drawing/2014/main" id="{6A398D55-EDAE-4627-8A5C-5C032823B0F4}"/>
              </a:ext>
            </a:extLst>
          </p:cNvPr>
          <p:cNvSpPr txBox="1"/>
          <p:nvPr/>
        </p:nvSpPr>
        <p:spPr>
          <a:xfrm>
            <a:off x="9271000" y="5207000"/>
            <a:ext cx="1079500" cy="279400"/>
          </a:xfrm>
          <a:prstGeom prst="rect">
            <a:avLst/>
          </a:prstGeom>
          <a:noFill/>
        </p:spPr>
        <p:txBody>
          <a:bodyPr vertOverflow="overflow" vert="horz" wrap="square" rtlCol="0" anchor="t">
            <a:noAutofit/>
          </a:bodyP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Year 2</a:t>
            </a:r>
            <a:endParaRPr lang="en-US" sz="1050" dirty="0"/>
          </a:p>
        </p:txBody>
      </p:sp>
      <p:sp>
        <p:nvSpPr>
          <p:cNvPr id="16" name="MixDot">
            <a:extLst>
              <a:ext uri="{FF2B5EF4-FFF2-40B4-BE49-F238E27FC236}">
                <a16:creationId xmlns:a16="http://schemas.microsoft.com/office/drawing/2014/main" id="{2197DEF1-1DFA-428B-8E8E-DE77118C8462}"/>
              </a:ext>
            </a:extLst>
          </p:cNvPr>
          <p:cNvSpPr/>
          <p:nvPr/>
        </p:nvSpPr>
        <p:spPr>
          <a:xfrm>
            <a:off x="635000" y="2946400"/>
            <a:ext cx="177800" cy="177800"/>
          </a:xfrm>
          <a:prstGeom prst="ellipse">
            <a:avLst/>
          </a:prstGeom>
          <a:solidFill>
            <a:srgbClr val="825B9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MixHeader">
            <a:extLst>
              <a:ext uri="{FF2B5EF4-FFF2-40B4-BE49-F238E27FC236}">
                <a16:creationId xmlns:a16="http://schemas.microsoft.com/office/drawing/2014/main" id="{63C79E68-4924-4A5D-A99C-62C55F582DBA}"/>
              </a:ext>
            </a:extLst>
          </p:cNvPr>
          <p:cNvSpPr txBox="1"/>
          <p:nvPr/>
        </p:nvSpPr>
        <p:spPr>
          <a:xfrm>
            <a:off x="965200" y="2908300"/>
            <a:ext cx="4749800" cy="279400"/>
          </a:xfrm>
          <a:prstGeom prst="rect">
            <a:avLst/>
          </a:prstGeom>
          <a:noFill/>
        </p:spPr>
        <p:txBody>
          <a:bodyPr vertOverflow="overflow" vert="horz" wrap="square" lIns="0" tIns="0" rIns="0" bIns="0" rtlCol="0" anchor="t" anchorCtr="0">
            <a:noAutofit/>
          </a:bodyPr>
          <a:lstStyle/>
          <a:p>
            <a:pPr marL="0" indent="0">
              <a:buNone/>
            </a:pPr>
            <a:r>
              <a:rPr lang="en-US" sz="1400" b="1" dirty="0">
                <a:solidFill>
                  <a:srgbClr val="201243"/>
                </a:solidFill>
                <a:latin typeface="Calibri" pitchFamily="34" charset="0"/>
                <a:ea typeface="Calibri" pitchFamily="34" charset="-122"/>
                <a:cs typeface="Calibri" pitchFamily="34" charset="-120"/>
              </a:rPr>
              <a:t>Shift the Mix and Reset the Rates</a:t>
            </a:r>
            <a:endParaRPr lang="en-US" sz="1400" dirty="0"/>
          </a:p>
        </p:txBody>
      </p:sp>
      <p:sp>
        <p:nvSpPr>
          <p:cNvPr id="20" name="MixBody">
            <a:extLst>
              <a:ext uri="{FF2B5EF4-FFF2-40B4-BE49-F238E27FC236}">
                <a16:creationId xmlns:a16="http://schemas.microsoft.com/office/drawing/2014/main" id="{E5E82799-F031-44B6-B761-1FCD054B21E5}"/>
              </a:ext>
            </a:extLst>
          </p:cNvPr>
          <p:cNvSpPr txBox="1"/>
          <p:nvPr/>
        </p:nvSpPr>
        <p:spPr>
          <a:xfrm>
            <a:off x="965200" y="3187700"/>
            <a:ext cx="4851400" cy="736600"/>
          </a:xfrm>
          <a:prstGeom prst="rect">
            <a:avLst/>
          </a:prstGeom>
          <a:noFill/>
        </p:spPr>
        <p:txBody>
          <a:bodyPr vertOverflow="overflow" vert="horz" wrap="square" lIns="0" tIns="0" rIns="0" bIns="0" rtlCol="0" anchor="t" anchorCtr="0">
            <a:noAutofit/>
          </a:bodyPr>
          <a:lstStyle/>
          <a:p>
            <a:pPr marL="0" indent="0">
              <a:lnSpc>
                <a:spcPts val="1400"/>
              </a:lnSpc>
              <a:buNone/>
            </a:pPr>
            <a:r>
              <a:rPr lang="en-US" sz="1150" dirty="0">
                <a:solidFill>
                  <a:srgbClr val="3B3350"/>
                </a:solidFill>
                <a:latin typeface="Calibri" pitchFamily="34" charset="0"/>
                <a:ea typeface="Calibri" pitchFamily="34" charset="-122"/>
                <a:cs typeface="Calibri" pitchFamily="34" charset="-120"/>
              </a:rPr>
              <a:t>Higher-value studies, led by MRI, take a larger share of the schedule. Contracted payer rates move onto platform terms, so the same study collects more than it does today</a:t>
            </a:r>
            <a:endParaRPr lang="en-US" sz="1150" dirty="0"/>
          </a:p>
        </p:txBody>
      </p:sp>
      <p:cxnSp>
        <p:nvCxnSpPr>
          <p:cNvPr id="21" name="Straight Arrow Connector 20">
            <a:extLst>
              <a:ext uri="{FF2B5EF4-FFF2-40B4-BE49-F238E27FC236}">
                <a16:creationId xmlns:a16="http://schemas.microsoft.com/office/drawing/2014/main" id="{9C64216D-5872-C072-B410-40EC101102DD}"/>
              </a:ext>
            </a:extLst>
          </p:cNvPr>
          <p:cNvCxnSpPr>
            <a:cxnSpLocks/>
          </p:cNvCxnSpPr>
          <p:nvPr/>
        </p:nvCxnSpPr>
        <p:spPr>
          <a:xfrm flipV="1">
            <a:off x="7163201" y="2759915"/>
            <a:ext cx="2968843" cy="853108"/>
          </a:xfrm>
          <a:prstGeom prst="straightConnector1">
            <a:avLst/>
          </a:prstGeom>
          <a:ln>
            <a:solidFill>
              <a:srgbClr val="825B90"/>
            </a:solidFill>
            <a:tailEnd type="triangle"/>
          </a:ln>
        </p:spPr>
        <p:style>
          <a:lnRef idx="1">
            <a:schemeClr val="accent1"/>
          </a:lnRef>
          <a:fillRef idx="0">
            <a:schemeClr val="accent1"/>
          </a:fillRef>
          <a:effectRef idx="0">
            <a:schemeClr val="accent1"/>
          </a:effectRef>
          <a:fontRef idx="minor">
            <a:schemeClr val="tx1"/>
          </a:fontRef>
        </p:style>
      </p:cxnSp>
      <p:sp>
        <p:nvSpPr>
          <p:cNvPr id="22" name="ArrowCallout">
            <a:extLst>
              <a:ext uri="{FF2B5EF4-FFF2-40B4-BE49-F238E27FC236}">
                <a16:creationId xmlns:a16="http://schemas.microsoft.com/office/drawing/2014/main" id="{8FBD28C7-D22C-9E71-C04D-30C259A0D70C}"/>
              </a:ext>
            </a:extLst>
          </p:cNvPr>
          <p:cNvSpPr txBox="1"/>
          <p:nvPr/>
        </p:nvSpPr>
        <p:spPr>
          <a:xfrm rot="20637888">
            <a:off x="7173730" y="2916587"/>
            <a:ext cx="2862509" cy="279400"/>
          </a:xfrm>
          <a:prstGeom prst="rect">
            <a:avLst/>
          </a:prstGeom>
          <a:noFill/>
          <a:ln>
            <a:noFill/>
          </a:ln>
        </p:spPr>
        <p:txBody>
          <a:bodyPr vertOverflow="overflow" vert="horz" wrap="none" lIns="0" tIns="0" rIns="0" bIns="0" rtlCol="0" anchor="ctr" anchorCtr="0">
            <a:noAutofit/>
          </a:bodyPr>
          <a:lstStyle/>
          <a:p>
            <a:pPr marL="0" indent="0" algn="ctr">
              <a:buNone/>
            </a:pPr>
            <a:r>
              <a:rPr lang="en-US" sz="1200" b="1" dirty="0">
                <a:solidFill>
                  <a:srgbClr val="201243"/>
                </a:solidFill>
                <a:latin typeface="Calibri" pitchFamily="34" charset="0"/>
                <a:ea typeface="Calibri" pitchFamily="34" charset="-122"/>
                <a:cs typeface="Calibri" pitchFamily="34" charset="-120"/>
              </a:rPr>
              <a:t>Growth Opportunity With </a:t>
            </a:r>
            <a:r>
              <a:rPr lang="en-US" sz="1200" b="1" dirty="0" err="1">
                <a:solidFill>
                  <a:srgbClr val="201243"/>
                </a:solidFill>
                <a:latin typeface="Calibri" pitchFamily="34" charset="0"/>
                <a:ea typeface="Calibri" pitchFamily="34" charset="-122"/>
                <a:cs typeface="Calibri" pitchFamily="34" charset="-120"/>
              </a:rPr>
              <a:t>RadX’s</a:t>
            </a:r>
            <a:r>
              <a:rPr lang="en-US" sz="1200" b="1" dirty="0">
                <a:solidFill>
                  <a:srgbClr val="201243"/>
                </a:solidFill>
                <a:latin typeface="Calibri" pitchFamily="34" charset="0"/>
                <a:ea typeface="Calibri" pitchFamily="34" charset="-122"/>
                <a:cs typeface="Calibri" pitchFamily="34" charset="-120"/>
              </a:rPr>
              <a:t> Playbook</a:t>
            </a:r>
            <a:endParaRPr lang="en-US" sz="1200" b="1" dirty="0"/>
          </a:p>
        </p:txBody>
      </p:sp>
    </p:spTree>
    <p:extLst>
      <p:ext uri="{BB962C8B-B14F-4D97-AF65-F5344CB8AC3E}">
        <p14:creationId xmlns:p14="http://schemas.microsoft.com/office/powerpoint/2010/main" val="1568077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201243"/>
        </a:solidFill>
        <a:effectLst/>
      </p:bgPr>
    </p:bg>
    <p:spTree>
      <p:nvGrpSpPr>
        <p:cNvPr id="1" name=""/>
        <p:cNvGrpSpPr/>
        <p:nvPr/>
      </p:nvGrpSpPr>
      <p:grpSpPr>
        <a:xfrm>
          <a:off x="0" y="0"/>
          <a:ext cx="0" cy="0"/>
          <a:chOff x="0" y="0"/>
          <a:chExt cx="0" cy="0"/>
        </a:xfrm>
      </p:grpSpPr>
      <p:sp>
        <p:nvSpPr>
          <p:cNvPr id="3" name="Shape 1"/>
          <p:cNvSpPr/>
          <p:nvPr/>
        </p:nvSpPr>
        <p:spPr>
          <a:xfrm>
            <a:off x="8686800" y="-1371600"/>
            <a:ext cx="5486400" cy="5486400"/>
          </a:xfrm>
          <a:prstGeom prst="ellipse">
            <a:avLst/>
          </a:prstGeom>
          <a:solidFill>
            <a:srgbClr val="312552"/>
          </a:solidFill>
          <a:ln w="12700">
            <a:noFill/>
            <a:prstDash val="solid"/>
          </a:ln>
        </p:spPr>
        <p:txBody>
          <a:bodyPr/>
          <a:lstStyle/>
          <a:p>
            <a:endParaRPr lang="en-US"/>
          </a:p>
        </p:txBody>
      </p:sp>
      <p:sp>
        <p:nvSpPr>
          <p:cNvPr id="5" name="Text 3"/>
          <p:cNvSpPr/>
          <p:nvPr/>
        </p:nvSpPr>
        <p:spPr>
          <a:xfrm>
            <a:off x="8890000" y="6400800"/>
            <a:ext cx="2667000" cy="27940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cs typeface="Calibri" pitchFamily="34" charset="-120"/>
              </a:rPr>
              <a:t>RadX</a:t>
            </a:r>
            <a:r>
              <a:rPr lang="en-US" sz="1000" b="1" dirty="0">
                <a:solidFill>
                  <a:srgbClr val="B7C4E8"/>
                </a:solidFill>
                <a:latin typeface="Calibri" pitchFamily="34" charset="0"/>
                <a:cs typeface="Calibri" pitchFamily="34" charset="-120"/>
              </a:rPr>
              <a:t> inc.</a:t>
            </a:r>
          </a:p>
        </p:txBody>
      </p:sp>
      <p:sp>
        <p:nvSpPr>
          <p:cNvPr id="6" name="Text 4"/>
          <p:cNvSpPr/>
          <p:nvPr/>
        </p:nvSpPr>
        <p:spPr>
          <a:xfrm>
            <a:off x="825500" y="2514600"/>
            <a:ext cx="9906000" cy="787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cs typeface="Calibri" pitchFamily="34" charset="-120"/>
              </a:rPr>
              <a:t>Rolled Equity in the RadX Platform</a:t>
            </a:r>
          </a:p>
        </p:txBody>
      </p:sp>
      <p:sp>
        <p:nvSpPr>
          <p:cNvPr id="8" name="Text 6"/>
          <p:cNvSpPr/>
          <p:nvPr/>
        </p:nvSpPr>
        <p:spPr>
          <a:xfrm>
            <a:off x="825500" y="3975100"/>
            <a:ext cx="5943600" cy="25400"/>
          </a:xfrm>
          <a:prstGeom prst="rect">
            <a:avLst/>
          </a:prstGeom>
          <a:solidFill>
            <a:srgbClr val="825B90"/>
          </a:solidFill>
          <a:ln>
            <a:noFill/>
          </a:ln>
        </p:spPr>
        <p:txBody>
          <a:bodyPr wrap="square" lIns="0" tIns="0" rIns="0" bIns="0" rtlCol="0" anchor="ctr"/>
          <a:lstStyle/>
          <a:p>
            <a:pPr marL="0" indent="0">
              <a:buNone/>
            </a:pPr>
            <a:endParaRPr lang="en-US" sz="1400" dirty="0"/>
          </a:p>
        </p:txBody>
      </p:sp>
      <p:sp>
        <p:nvSpPr>
          <p:cNvPr id="18" name="Text 16"/>
          <p:cNvSpPr/>
          <p:nvPr/>
        </p:nvSpPr>
        <p:spPr>
          <a:xfrm>
            <a:off x="635000" y="6400800"/>
            <a:ext cx="7620000" cy="279400"/>
          </a:xfrm>
          <a:prstGeom prst="rect">
            <a:avLst/>
          </a:prstGeom>
          <a:noFill/>
          <a:ln/>
        </p:spPr>
        <p:txBody>
          <a:bodyPr wrap="square" lIns="0" tIns="0" rIns="0" bIns="0" rtlCol="0" anchor="ctr"/>
          <a:lstStyle/>
          <a:p>
            <a:pPr marL="0" indent="0" algn="l">
              <a:buNone/>
            </a:pPr>
            <a:r>
              <a:rPr lang="en-US" sz="900" dirty="0">
                <a:solidFill>
                  <a:srgbClr val="B7C4E8"/>
                </a:solidFill>
                <a:latin typeface="Calibri" pitchFamily="34" charset="0"/>
                <a:cs typeface="Calibri" pitchFamily="34" charset="-120"/>
              </a:rPr>
              <a:t>Presentation Does Not Constitute a Binding Offer - Figures Subject to Confirmatory Due Diligence</a:t>
            </a:r>
          </a:p>
        </p:txBody>
      </p:sp>
    </p:spTree>
    <p:extLst>
      <p:ext uri="{BB962C8B-B14F-4D97-AF65-F5344CB8AC3E}">
        <p14:creationId xmlns:p14="http://schemas.microsoft.com/office/powerpoint/2010/main" val="1380342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Rolled Equity in the RadX Platform</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Rolled equity is valued at platform multiples, not single-practice multiples</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Text 4"/>
          <p:cNvSpPr/>
          <p:nvPr/>
        </p:nvSpPr>
        <p:spPr>
          <a:xfrm>
            <a:off x="640080" y="1536192"/>
            <a:ext cx="10911535" cy="777240"/>
          </a:xfrm>
          <a:prstGeom prst="rect">
            <a:avLst/>
          </a:prstGeom>
          <a:noFill/>
          <a:ln/>
        </p:spPr>
        <p:txBody>
          <a:bodyPr wrap="square" lIns="0" tIns="0" rIns="0" bIns="0" rtlCol="0" anchor="t"/>
          <a:lstStyle/>
          <a:p>
            <a:pPr marL="0" indent="0">
              <a:lnSpc>
                <a:spcPts val="1700"/>
              </a:lnSpc>
              <a:buNone/>
            </a:pPr>
            <a:r>
              <a:rPr lang="en-US" sz="1250" b="1" dirty="0">
                <a:solidFill>
                  <a:srgbClr val="201243"/>
                </a:solidFill>
                <a:latin typeface="Calibri" pitchFamily="34" charset="0"/>
                <a:ea typeface="Calibri" pitchFamily="34" charset="-122"/>
                <a:cs typeface="Calibri" pitchFamily="34" charset="-120"/>
              </a:rPr>
              <a:t>A </a:t>
            </a:r>
            <a:r>
              <a:rPr lang="en-US" sz="1250" b="1" u="sng" dirty="0">
                <a:solidFill>
                  <a:srgbClr val="201243"/>
                </a:solidFill>
                <a:latin typeface="Calibri" pitchFamily="34" charset="0"/>
                <a:ea typeface="Calibri" pitchFamily="34" charset="-122"/>
                <a:cs typeface="Calibri" pitchFamily="34" charset="-120"/>
              </a:rPr>
              <a:t>SINGLE PRACTICE</a:t>
            </a:r>
            <a:r>
              <a:rPr lang="en-US" sz="1250" b="1" dirty="0">
                <a:solidFill>
                  <a:srgbClr val="201243"/>
                </a:solidFill>
                <a:latin typeface="Calibri" pitchFamily="34" charset="0"/>
                <a:ea typeface="Calibri" pitchFamily="34" charset="-122"/>
                <a:cs typeface="Calibri" pitchFamily="34" charset="-120"/>
              </a:rPr>
              <a:t> and a </a:t>
            </a:r>
            <a:r>
              <a:rPr lang="en-US" sz="1250" b="1" dirty="0">
                <a:solidFill>
                  <a:srgbClr val="825B90"/>
                </a:solidFill>
                <a:latin typeface="Calibri" pitchFamily="34" charset="0"/>
                <a:ea typeface="Calibri" pitchFamily="34" charset="-122"/>
                <a:cs typeface="Calibri" pitchFamily="34" charset="-120"/>
              </a:rPr>
              <a:t>scaled platform</a:t>
            </a:r>
            <a:r>
              <a:rPr lang="en-US" sz="1250" b="1" dirty="0">
                <a:solidFill>
                  <a:srgbClr val="201243"/>
                </a:solidFill>
                <a:latin typeface="Calibri" pitchFamily="34" charset="0"/>
                <a:ea typeface="Calibri" pitchFamily="34" charset="-122"/>
                <a:cs typeface="Calibri" pitchFamily="34" charset="-120"/>
              </a:rPr>
              <a:t> are valued very differently. </a:t>
            </a:r>
            <a:r>
              <a:rPr lang="en-US" sz="1250" dirty="0">
                <a:solidFill>
                  <a:srgbClr val="3B3350"/>
                </a:solidFill>
                <a:latin typeface="Calibri" pitchFamily="34" charset="0"/>
                <a:ea typeface="Calibri" pitchFamily="34" charset="-122"/>
                <a:cs typeface="Calibri" pitchFamily="34" charset="-120"/>
              </a:rPr>
              <a:t>Rollover equity in the </a:t>
            </a:r>
            <a:r>
              <a:rPr lang="en-US" sz="1250" dirty="0" err="1">
                <a:solidFill>
                  <a:srgbClr val="3B3350"/>
                </a:solidFill>
                <a:latin typeface="Calibri" pitchFamily="34" charset="0"/>
                <a:ea typeface="Calibri" pitchFamily="34" charset="-122"/>
                <a:cs typeface="Calibri" pitchFamily="34" charset="-120"/>
              </a:rPr>
              <a:t>RadX</a:t>
            </a:r>
            <a:r>
              <a:rPr lang="en-US" sz="1250" dirty="0">
                <a:solidFill>
                  <a:srgbClr val="3B3350"/>
                </a:solidFill>
                <a:latin typeface="Calibri" pitchFamily="34" charset="0"/>
                <a:ea typeface="Calibri" pitchFamily="34" charset="-122"/>
                <a:cs typeface="Calibri" pitchFamily="34" charset="-120"/>
              </a:rPr>
              <a:t> platform enables the seller to benefit from the difference in valuation</a:t>
            </a:r>
            <a:endParaRPr lang="en-US" sz="1250" dirty="0"/>
          </a:p>
        </p:txBody>
      </p:sp>
      <p:sp>
        <p:nvSpPr>
          <p:cNvPr id="9" name="Text 7"/>
          <p:cNvSpPr/>
          <p:nvPr/>
        </p:nvSpPr>
        <p:spPr>
          <a:xfrm>
            <a:off x="1479550" y="5203899"/>
            <a:ext cx="2148840" cy="548640"/>
          </a:xfrm>
          <a:prstGeom prst="rect">
            <a:avLst/>
          </a:prstGeom>
          <a:noFill/>
          <a:ln/>
        </p:spPr>
        <p:txBody>
          <a:bodyPr wrap="square" lIns="0" tIns="0" rIns="0" bIns="0" rtlCol="0" anchor="ct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Single Company </a:t>
            </a:r>
          </a:p>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Valuation</a:t>
            </a:r>
            <a:endParaRPr lang="en-US" sz="1050" dirty="0"/>
          </a:p>
        </p:txBody>
      </p:sp>
      <p:sp>
        <p:nvSpPr>
          <p:cNvPr id="15" name="Text 13"/>
          <p:cNvSpPr/>
          <p:nvPr/>
        </p:nvSpPr>
        <p:spPr>
          <a:xfrm>
            <a:off x="4832350" y="5203899"/>
            <a:ext cx="2148840" cy="548640"/>
          </a:xfrm>
          <a:prstGeom prst="rect">
            <a:avLst/>
          </a:prstGeom>
          <a:noFill/>
          <a:ln/>
        </p:spPr>
        <p:txBody>
          <a:bodyPr wrap="square" lIns="0" tIns="0" rIns="0" bIns="0" rtlCol="0" anchor="ct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Scaled Platform</a:t>
            </a:r>
            <a:endParaRPr lang="en-US" sz="1050" dirty="0"/>
          </a:p>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Valuation</a:t>
            </a:r>
            <a:endParaRPr lang="en-US" sz="1050" dirty="0"/>
          </a:p>
        </p:txBody>
      </p:sp>
      <p:sp>
        <p:nvSpPr>
          <p:cNvPr id="16" name="Shape 14"/>
          <p:cNvSpPr/>
          <p:nvPr/>
        </p:nvSpPr>
        <p:spPr>
          <a:xfrm>
            <a:off x="914400" y="5094171"/>
            <a:ext cx="6400800" cy="13716"/>
          </a:xfrm>
          <a:prstGeom prst="rect">
            <a:avLst/>
          </a:prstGeom>
          <a:solidFill>
            <a:srgbClr val="D7D3DE"/>
          </a:solidFill>
          <a:ln/>
        </p:spPr>
        <p:txBody>
          <a:bodyPr/>
          <a:lstStyle/>
          <a:p>
            <a:endParaRPr lang="en-US"/>
          </a:p>
        </p:txBody>
      </p:sp>
      <p:sp>
        <p:nvSpPr>
          <p:cNvPr id="17" name="Text 15"/>
          <p:cNvSpPr/>
          <p:nvPr/>
        </p:nvSpPr>
        <p:spPr>
          <a:xfrm>
            <a:off x="914400" y="2331720"/>
            <a:ext cx="2011680" cy="228600"/>
          </a:xfrm>
          <a:prstGeom prst="rect">
            <a:avLst/>
          </a:prstGeom>
          <a:noFill/>
          <a:ln/>
        </p:spPr>
        <p:txBody>
          <a:bodyPr wrap="square" lIns="0" tIns="0" rIns="0" bIns="0" rtlCol="0" anchor="ctr"/>
          <a:lstStyle/>
          <a:p>
            <a:pPr marL="0" indent="0">
              <a:buNone/>
            </a:pPr>
            <a:r>
              <a:rPr lang="en-US" sz="950" i="1" dirty="0">
                <a:solidFill>
                  <a:srgbClr val="837D94"/>
                </a:solidFill>
                <a:latin typeface="Calibri" pitchFamily="34" charset="0"/>
                <a:ea typeface="Calibri" pitchFamily="34" charset="-122"/>
                <a:cs typeface="Calibri" pitchFamily="34" charset="-120"/>
              </a:rPr>
              <a:t>EV / EBITDA multiple</a:t>
            </a:r>
            <a:endParaRPr lang="en-US" sz="950" dirty="0"/>
          </a:p>
        </p:txBody>
      </p:sp>
      <p:sp>
        <p:nvSpPr>
          <p:cNvPr id="18" name="Shape 16"/>
          <p:cNvSpPr/>
          <p:nvPr/>
        </p:nvSpPr>
        <p:spPr>
          <a:xfrm>
            <a:off x="7863840" y="2468880"/>
            <a:ext cx="3687775" cy="2555507"/>
          </a:xfrm>
          <a:prstGeom prst="roundRect">
            <a:avLst>
              <a:gd name="adj" fmla="val 1714"/>
            </a:avLst>
          </a:prstGeom>
          <a:solidFill>
            <a:srgbClr val="F3F6FC"/>
          </a:solidFill>
          <a:ln w="12700">
            <a:solidFill>
              <a:srgbClr val="E3E0EA"/>
            </a:solidFill>
            <a:prstDash val="solid"/>
          </a:ln>
        </p:spPr>
        <p:txBody>
          <a:bodyPr/>
          <a:lstStyle/>
          <a:p>
            <a:endParaRPr lang="en-US"/>
          </a:p>
        </p:txBody>
      </p:sp>
      <p:sp>
        <p:nvSpPr>
          <p:cNvPr id="19" name="Text 17"/>
          <p:cNvSpPr/>
          <p:nvPr/>
        </p:nvSpPr>
        <p:spPr>
          <a:xfrm>
            <a:off x="8138160" y="2651760"/>
            <a:ext cx="3108960" cy="292608"/>
          </a:xfrm>
          <a:prstGeom prst="rect">
            <a:avLst/>
          </a:prstGeom>
          <a:noFill/>
          <a:ln/>
        </p:spPr>
        <p:txBody>
          <a:bodyPr wrap="square" lIns="0" tIns="0" rIns="0" bIns="0" rtlCol="0" anchor="ctr"/>
          <a:lstStyle/>
          <a:p>
            <a:pPr marL="0" indent="0">
              <a:buNone/>
            </a:pPr>
            <a:r>
              <a:rPr lang="en-US" sz="1400" b="1" dirty="0">
                <a:solidFill>
                  <a:srgbClr val="201243"/>
                </a:solidFill>
                <a:latin typeface="Calibri" pitchFamily="34" charset="0"/>
                <a:ea typeface="Calibri" pitchFamily="34" charset="-122"/>
                <a:cs typeface="Calibri" pitchFamily="34" charset="-120"/>
              </a:rPr>
              <a:t>Benefits of Participation in </a:t>
            </a:r>
            <a:r>
              <a:rPr lang="en-US" sz="1400" b="1" dirty="0" err="1">
                <a:solidFill>
                  <a:srgbClr val="201243"/>
                </a:solidFill>
                <a:latin typeface="Calibri" pitchFamily="34" charset="0"/>
                <a:ea typeface="Calibri" pitchFamily="34" charset="-122"/>
                <a:cs typeface="Calibri" pitchFamily="34" charset="-120"/>
              </a:rPr>
              <a:t>RadX’s</a:t>
            </a:r>
            <a:r>
              <a:rPr lang="en-US" sz="1400" b="1" dirty="0">
                <a:solidFill>
                  <a:srgbClr val="201243"/>
                </a:solidFill>
                <a:latin typeface="Calibri" pitchFamily="34" charset="0"/>
                <a:ea typeface="Calibri" pitchFamily="34" charset="-122"/>
                <a:cs typeface="Calibri" pitchFamily="34" charset="-120"/>
              </a:rPr>
              <a:t> Growth</a:t>
            </a:r>
            <a:endParaRPr lang="en-US" sz="1400" dirty="0"/>
          </a:p>
        </p:txBody>
      </p:sp>
      <p:sp>
        <p:nvSpPr>
          <p:cNvPr id="20" name="Text 18"/>
          <p:cNvSpPr/>
          <p:nvPr/>
        </p:nvSpPr>
        <p:spPr>
          <a:xfrm>
            <a:off x="8183880" y="3172968"/>
            <a:ext cx="3093415" cy="1545336"/>
          </a:xfrm>
          <a:prstGeom prst="rect">
            <a:avLst/>
          </a:prstGeom>
          <a:noFill/>
          <a:ln/>
        </p:spPr>
        <p:txBody>
          <a:bodyPr wrap="square" lIns="0" tIns="0" rIns="0" bIns="0" rtlCol="0" anchor="t"/>
          <a:lstStyle/>
          <a:p>
            <a:pPr marL="342900" indent="-342900">
              <a:lnSpc>
                <a:spcPts val="13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Meaningful cash at close, whatever you elect to roll</a:t>
            </a:r>
            <a:endParaRPr lang="en-US" sz="1150" dirty="0"/>
          </a:p>
          <a:p>
            <a:pPr marL="342900" indent="-342900">
              <a:lnSpc>
                <a:spcPts val="13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Same security and priority as founder and institutional capital</a:t>
            </a:r>
            <a:endParaRPr lang="en-US" sz="1150" dirty="0"/>
          </a:p>
          <a:p>
            <a:pPr marL="342900" indent="-342900">
              <a:lnSpc>
                <a:spcPts val="13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Upside from EBITDA growth and from the platform multiple at exit</a:t>
            </a:r>
            <a:endParaRPr lang="en-US" sz="1150" dirty="0"/>
          </a:p>
        </p:txBody>
      </p:sp>
      <p:sp>
        <p:nvSpPr>
          <p:cNvPr id="21" name="Text 19"/>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Multiple ranges are illustrative and based on observed public and private comparables for scaled outpatient imaging platforms. No particular exit valuation is assured.</a:t>
            </a:r>
            <a:endParaRPr lang="en-US" sz="900" dirty="0"/>
          </a:p>
        </p:txBody>
      </p:sp>
      <p:sp>
        <p:nvSpPr>
          <p:cNvPr id="22" name="Text 20"/>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3" name="Text 21"/>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4" name="Text 22"/>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10</a:t>
            </a:r>
            <a:endParaRPr lang="en-US" sz="1000" dirty="0"/>
          </a:p>
        </p:txBody>
      </p:sp>
      <p:graphicFrame>
        <p:nvGraphicFramePr>
          <p:cNvPr id="90" name="Valuation Chart"/>
          <p:cNvGraphicFramePr/>
          <p:nvPr/>
        </p:nvGraphicFramePr>
        <p:xfrm>
          <a:off x="749300" y="2297631"/>
          <a:ext cx="69596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11" name="Straight Arrow Connector 10">
            <a:extLst>
              <a:ext uri="{FF2B5EF4-FFF2-40B4-BE49-F238E27FC236}">
                <a16:creationId xmlns:a16="http://schemas.microsoft.com/office/drawing/2014/main" id="{08866E7C-348B-E0AC-067E-B5C73F22584F}"/>
              </a:ext>
            </a:extLst>
          </p:cNvPr>
          <p:cNvCxnSpPr>
            <a:cxnSpLocks/>
          </p:cNvCxnSpPr>
          <p:nvPr/>
        </p:nvCxnSpPr>
        <p:spPr>
          <a:xfrm flipV="1">
            <a:off x="2531444" y="2297631"/>
            <a:ext cx="3214838" cy="1388845"/>
          </a:xfrm>
          <a:prstGeom prst="straightConnector1">
            <a:avLst/>
          </a:prstGeom>
          <a:ln>
            <a:solidFill>
              <a:srgbClr val="825B90"/>
            </a:solidFill>
            <a:tailEnd type="triangle"/>
          </a:ln>
        </p:spPr>
        <p:style>
          <a:lnRef idx="1">
            <a:schemeClr val="accent1"/>
          </a:lnRef>
          <a:fillRef idx="0">
            <a:schemeClr val="accent1"/>
          </a:fillRef>
          <a:effectRef idx="0">
            <a:schemeClr val="accent1"/>
          </a:effectRef>
          <a:fontRef idx="minor">
            <a:schemeClr val="tx1"/>
          </a:fontRef>
        </p:style>
      </p:cxnSp>
      <p:sp>
        <p:nvSpPr>
          <p:cNvPr id="26" name="ArrowCallout">
            <a:extLst>
              <a:ext uri="{FF2B5EF4-FFF2-40B4-BE49-F238E27FC236}">
                <a16:creationId xmlns:a16="http://schemas.microsoft.com/office/drawing/2014/main" id="{3AD25A85-17A9-3FB1-0C7F-92992A0A0169}"/>
              </a:ext>
            </a:extLst>
          </p:cNvPr>
          <p:cNvSpPr txBox="1"/>
          <p:nvPr/>
        </p:nvSpPr>
        <p:spPr>
          <a:xfrm rot="20197100">
            <a:off x="2180925" y="2727025"/>
            <a:ext cx="3810000" cy="279400"/>
          </a:xfrm>
          <a:prstGeom prst="rect">
            <a:avLst/>
          </a:prstGeom>
          <a:noFill/>
          <a:ln>
            <a:noFill/>
          </a:ln>
        </p:spPr>
        <p:txBody>
          <a:bodyPr vertOverflow="overflow" vert="horz" wrap="none" lIns="0" tIns="0" rIns="0" bIns="0" rtlCol="0" anchor="ctr" anchorCtr="0">
            <a:noAutofit/>
          </a:bodyPr>
          <a:lstStyle/>
          <a:p>
            <a:pPr marL="0" indent="0" algn="ctr">
              <a:buNone/>
            </a:pPr>
            <a:r>
              <a:rPr lang="en-US" sz="1200" b="1" dirty="0">
                <a:solidFill>
                  <a:srgbClr val="201243"/>
                </a:solidFill>
                <a:latin typeface="Calibri" pitchFamily="34" charset="0"/>
                <a:ea typeface="Calibri" pitchFamily="34" charset="-122"/>
                <a:cs typeface="Calibri" pitchFamily="34" charset="-120"/>
              </a:rPr>
              <a:t>Rollover Equity Appreciation Opportunity</a:t>
            </a:r>
            <a:endParaRPr lang="en-US" sz="1200" b="1" dirty="0"/>
          </a:p>
        </p:txBody>
      </p:sp>
    </p:spTree>
    <p:extLst>
      <p:ext uri="{BB962C8B-B14F-4D97-AF65-F5344CB8AC3E}">
        <p14:creationId xmlns:p14="http://schemas.microsoft.com/office/powerpoint/2010/main" val="2490042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F7BB-0131-AEB6-1358-86B767F747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C02020-3C6C-4C8B-A47C-449820248901}"/>
              </a:ext>
            </a:extLst>
          </p:cNvPr>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a:extLst>
              <a:ext uri="{FF2B5EF4-FFF2-40B4-BE49-F238E27FC236}">
                <a16:creationId xmlns:a16="http://schemas.microsoft.com/office/drawing/2014/main" id="{268B87FA-24A4-FEE9-DFE0-9F0B290409D6}"/>
              </a:ext>
            </a:extLst>
          </p:cNvPr>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Illustration of Total Consideration Over Platform’s Lifecycle</a:t>
            </a:r>
            <a:endParaRPr lang="en-US" sz="2700" dirty="0"/>
          </a:p>
        </p:txBody>
      </p:sp>
      <p:sp>
        <p:nvSpPr>
          <p:cNvPr id="4" name="Text 2">
            <a:extLst>
              <a:ext uri="{FF2B5EF4-FFF2-40B4-BE49-F238E27FC236}">
                <a16:creationId xmlns:a16="http://schemas.microsoft.com/office/drawing/2014/main" id="{6859FB00-FB03-1F27-7B8F-34CE5200133D}"/>
              </a:ext>
            </a:extLst>
          </p:cNvPr>
          <p:cNvSpPr/>
          <p:nvPr/>
        </p:nvSpPr>
        <p:spPr>
          <a:xfrm>
            <a:off x="640080" y="841248"/>
            <a:ext cx="10515600" cy="292608"/>
          </a:xfrm>
          <a:prstGeom prst="rect">
            <a:avLst/>
          </a:prstGeom>
          <a:noFill/>
          <a:ln/>
        </p:spPr>
        <p:txBody>
          <a:bodyPr wrap="square" lIns="0" tIns="0" rIns="0" bIns="0" rtlCol="0" anchor="ctr"/>
          <a:lstStyle/>
          <a:p>
            <a:r>
              <a:rPr lang="en-US" sz="1300" i="1" dirty="0">
                <a:solidFill>
                  <a:srgbClr val="837D94"/>
                </a:solidFill>
                <a:latin typeface="Calibri" pitchFamily="34" charset="0"/>
                <a:ea typeface="Calibri" pitchFamily="34" charset="-122"/>
                <a:cs typeface="Calibri" pitchFamily="34" charset="-120"/>
              </a:rPr>
              <a:t>Applying the platform multiple to your rolled equity, total consideration reaches $58M</a:t>
            </a:r>
            <a:endParaRPr lang="en-US" sz="1300" dirty="0"/>
          </a:p>
        </p:txBody>
      </p:sp>
      <p:sp>
        <p:nvSpPr>
          <p:cNvPr id="5" name="Shape 3">
            <a:extLst>
              <a:ext uri="{FF2B5EF4-FFF2-40B4-BE49-F238E27FC236}">
                <a16:creationId xmlns:a16="http://schemas.microsoft.com/office/drawing/2014/main" id="{E47D882B-8EDF-6CF4-E407-5940A899E298}"/>
              </a:ext>
            </a:extLst>
          </p:cNvPr>
          <p:cNvSpPr/>
          <p:nvPr/>
        </p:nvSpPr>
        <p:spPr>
          <a:xfrm>
            <a:off x="640080" y="1207008"/>
            <a:ext cx="10911535" cy="18288"/>
          </a:xfrm>
          <a:prstGeom prst="rect">
            <a:avLst/>
          </a:prstGeom>
          <a:solidFill>
            <a:srgbClr val="201243"/>
          </a:solidFill>
          <a:ln/>
        </p:spPr>
        <p:txBody>
          <a:bodyPr/>
          <a:lstStyle/>
          <a:p>
            <a:endParaRPr lang="en-US"/>
          </a:p>
        </p:txBody>
      </p:sp>
      <p:sp>
        <p:nvSpPr>
          <p:cNvPr id="19" name="Text 17">
            <a:extLst>
              <a:ext uri="{FF2B5EF4-FFF2-40B4-BE49-F238E27FC236}">
                <a16:creationId xmlns:a16="http://schemas.microsoft.com/office/drawing/2014/main" id="{509EE2C2-A657-F14E-88C0-D7685EACAFEF}"/>
              </a:ext>
            </a:extLst>
          </p:cNvPr>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Illustrative only. Total consideration of $58M assumes rolled equity grows to four times its value at close upon a platform liquidation event. Holdback / escrow released post-closing subject to customary indemnity and net working capital true-up.</a:t>
            </a:r>
            <a:endParaRPr lang="en-US" sz="900" dirty="0"/>
          </a:p>
        </p:txBody>
      </p:sp>
      <p:sp>
        <p:nvSpPr>
          <p:cNvPr id="20" name="Text 18">
            <a:extLst>
              <a:ext uri="{FF2B5EF4-FFF2-40B4-BE49-F238E27FC236}">
                <a16:creationId xmlns:a16="http://schemas.microsoft.com/office/drawing/2014/main" id="{ECC1BED7-E53E-517D-7CA0-23A8BA04A884}"/>
              </a:ext>
            </a:extLst>
          </p:cNvPr>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1" name="Text 19">
            <a:extLst>
              <a:ext uri="{FF2B5EF4-FFF2-40B4-BE49-F238E27FC236}">
                <a16:creationId xmlns:a16="http://schemas.microsoft.com/office/drawing/2014/main" id="{1C3E353F-4950-0279-4F3D-C4DE3268F714}"/>
              </a:ext>
            </a:extLst>
          </p:cNvPr>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2" name="Text 20">
            <a:extLst>
              <a:ext uri="{FF2B5EF4-FFF2-40B4-BE49-F238E27FC236}">
                <a16:creationId xmlns:a16="http://schemas.microsoft.com/office/drawing/2014/main" id="{682F6CAA-108A-8DFF-1044-DFA1E50F0CDB}"/>
              </a:ext>
            </a:extLst>
          </p:cNvPr>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11</a:t>
            </a:r>
            <a:endParaRPr lang="en-US" sz="1000" dirty="0"/>
          </a:p>
        </p:txBody>
      </p:sp>
      <p:graphicFrame>
        <p:nvGraphicFramePr>
          <p:cNvPr id="92" name="Consideration Chart">
            <a:extLst>
              <a:ext uri="{FF2B5EF4-FFF2-40B4-BE49-F238E27FC236}">
                <a16:creationId xmlns:a16="http://schemas.microsoft.com/office/drawing/2014/main" id="{9AB70388-0A8A-6427-5206-42FBB5534D54}"/>
              </a:ext>
            </a:extLst>
          </p:cNvPr>
          <p:cNvGraphicFramePr/>
          <p:nvPr>
            <p:extLst>
              <p:ext uri="{D42A27DB-BD31-4B8C-83A1-F6EECF244321}">
                <p14:modId xmlns:p14="http://schemas.microsoft.com/office/powerpoint/2010/main" val="4028705764"/>
              </p:ext>
            </p:extLst>
          </p:nvPr>
        </p:nvGraphicFramePr>
        <p:xfrm>
          <a:off x="1295400" y="2248087"/>
          <a:ext cx="9601200" cy="323405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5">
            <a:extLst>
              <a:ext uri="{FF2B5EF4-FFF2-40B4-BE49-F238E27FC236}">
                <a16:creationId xmlns:a16="http://schemas.microsoft.com/office/drawing/2014/main" id="{BB9C93D6-1A46-2B50-DE53-FCD7CA0D8306}"/>
              </a:ext>
            </a:extLst>
          </p:cNvPr>
          <p:cNvSpPr/>
          <p:nvPr/>
        </p:nvSpPr>
        <p:spPr>
          <a:xfrm>
            <a:off x="1664278" y="4415342"/>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Cash at Close</a:t>
            </a:r>
          </a:p>
          <a:p>
            <a:pPr algn="ctr"/>
            <a:r>
              <a:rPr lang="en-US" sz="1100" dirty="0">
                <a:solidFill>
                  <a:srgbClr val="1F1142"/>
                </a:solidFill>
                <a:latin typeface="Calibri" pitchFamily="34" charset="0"/>
                <a:ea typeface="Calibri" pitchFamily="34" charset="-122"/>
                <a:cs typeface="Calibri" pitchFamily="34" charset="-120"/>
              </a:rPr>
              <a:t>$30M</a:t>
            </a:r>
          </a:p>
        </p:txBody>
      </p:sp>
      <p:sp>
        <p:nvSpPr>
          <p:cNvPr id="9" name="Text 7">
            <a:extLst>
              <a:ext uri="{FF2B5EF4-FFF2-40B4-BE49-F238E27FC236}">
                <a16:creationId xmlns:a16="http://schemas.microsoft.com/office/drawing/2014/main" id="{7E5B0026-3AC0-5706-01AF-00F378D5C7F1}"/>
              </a:ext>
            </a:extLst>
          </p:cNvPr>
          <p:cNvSpPr/>
          <p:nvPr/>
        </p:nvSpPr>
        <p:spPr>
          <a:xfrm>
            <a:off x="1695511" y="3500942"/>
            <a:ext cx="1600079" cy="401632"/>
          </a:xfrm>
          <a:prstGeom prst="rect">
            <a:avLst/>
          </a:prstGeom>
          <a:noFill/>
          <a:ln/>
        </p:spPr>
        <p:txBody>
          <a:bodyPr wrap="square" lIns="0" tIns="0" rIns="0" bIns="0" rtlCol="0" anchor="ctr"/>
          <a:lstStyle/>
          <a:p>
            <a:pPr marL="0" indent="0" algn="ctr">
              <a:buNone/>
            </a:pPr>
            <a:r>
              <a:rPr lang="en-US" sz="1100" dirty="0">
                <a:solidFill>
                  <a:srgbClr val="1F1142"/>
                </a:solidFill>
                <a:latin typeface="Calibri" pitchFamily="34" charset="0"/>
                <a:ea typeface="Calibri" pitchFamily="34" charset="-122"/>
                <a:cs typeface="Calibri" pitchFamily="34" charset="-120"/>
              </a:rPr>
              <a:t>Deferred Cash</a:t>
            </a:r>
          </a:p>
          <a:p>
            <a:pPr marL="0" indent="0" algn="ctr">
              <a:buNone/>
            </a:pPr>
            <a:r>
              <a:rPr lang="en-US" sz="1100" dirty="0">
                <a:solidFill>
                  <a:srgbClr val="1F1142"/>
                </a:solidFill>
                <a:latin typeface="Calibri" pitchFamily="34" charset="0"/>
                <a:ea typeface="Calibri" pitchFamily="34" charset="-122"/>
                <a:cs typeface="Calibri" pitchFamily="34" charset="-120"/>
              </a:rPr>
              <a:t>$8M</a:t>
            </a:r>
            <a:endParaRPr lang="en-US" sz="1100" dirty="0"/>
          </a:p>
        </p:txBody>
      </p:sp>
      <p:sp>
        <p:nvSpPr>
          <p:cNvPr id="10" name="Text 8">
            <a:extLst>
              <a:ext uri="{FF2B5EF4-FFF2-40B4-BE49-F238E27FC236}">
                <a16:creationId xmlns:a16="http://schemas.microsoft.com/office/drawing/2014/main" id="{93DFDABC-A4E4-C9A3-0891-7E64EB9228E3}"/>
              </a:ext>
            </a:extLst>
          </p:cNvPr>
          <p:cNvSpPr/>
          <p:nvPr/>
        </p:nvSpPr>
        <p:spPr>
          <a:xfrm>
            <a:off x="1581150" y="3205367"/>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$38M</a:t>
            </a:r>
            <a:endParaRPr lang="en-US" sz="1500" dirty="0"/>
          </a:p>
        </p:txBody>
      </p:sp>
      <p:sp>
        <p:nvSpPr>
          <p:cNvPr id="11" name="Text 9">
            <a:extLst>
              <a:ext uri="{FF2B5EF4-FFF2-40B4-BE49-F238E27FC236}">
                <a16:creationId xmlns:a16="http://schemas.microsoft.com/office/drawing/2014/main" id="{1121F0B3-699F-EE64-ADC5-8BC8FD546D68}"/>
              </a:ext>
            </a:extLst>
          </p:cNvPr>
          <p:cNvSpPr/>
          <p:nvPr/>
        </p:nvSpPr>
        <p:spPr>
          <a:xfrm>
            <a:off x="1306830" y="5586790"/>
            <a:ext cx="237744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Total </a:t>
            </a:r>
          </a:p>
          <a:p>
            <a:pPr marL="0" indent="0" algn="ctr">
              <a:buNone/>
            </a:pPr>
            <a:r>
              <a:rPr lang="en-US" sz="1200" dirty="0">
                <a:solidFill>
                  <a:srgbClr val="1F1142"/>
                </a:solidFill>
                <a:latin typeface="Calibri" pitchFamily="34" charset="0"/>
                <a:ea typeface="Calibri" pitchFamily="34" charset="-122"/>
                <a:cs typeface="Calibri" pitchFamily="34" charset="-120"/>
              </a:rPr>
              <a:t>Cash</a:t>
            </a:r>
            <a:endParaRPr lang="en-US" sz="1200" dirty="0"/>
          </a:p>
        </p:txBody>
      </p:sp>
      <p:sp>
        <p:nvSpPr>
          <p:cNvPr id="13" name="Text 11">
            <a:extLst>
              <a:ext uri="{FF2B5EF4-FFF2-40B4-BE49-F238E27FC236}">
                <a16:creationId xmlns:a16="http://schemas.microsoft.com/office/drawing/2014/main" id="{D7B1DE13-3D0D-45DF-AB6A-50BE9D1C34C0}"/>
              </a:ext>
            </a:extLst>
          </p:cNvPr>
          <p:cNvSpPr/>
          <p:nvPr/>
        </p:nvSpPr>
        <p:spPr>
          <a:xfrm>
            <a:off x="3981450" y="2945017"/>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$5M</a:t>
            </a:r>
            <a:endParaRPr lang="en-US" sz="1500" dirty="0"/>
          </a:p>
        </p:txBody>
      </p:sp>
      <p:sp>
        <p:nvSpPr>
          <p:cNvPr id="14" name="Text 12">
            <a:extLst>
              <a:ext uri="{FF2B5EF4-FFF2-40B4-BE49-F238E27FC236}">
                <a16:creationId xmlns:a16="http://schemas.microsoft.com/office/drawing/2014/main" id="{1A92460A-68CC-E48F-3A3F-7018348E5185}"/>
              </a:ext>
            </a:extLst>
          </p:cNvPr>
          <p:cNvSpPr/>
          <p:nvPr/>
        </p:nvSpPr>
        <p:spPr>
          <a:xfrm>
            <a:off x="3615690" y="5586790"/>
            <a:ext cx="2560320" cy="317500"/>
          </a:xfrm>
          <a:prstGeom prst="rect">
            <a:avLst/>
          </a:prstGeom>
          <a:noFill/>
          <a:ln/>
        </p:spPr>
        <p:txBody>
          <a:bodyPr wrap="square" lIns="0" tIns="0" rIns="0" bIns="0" rtlCol="0" anchor="ctr"/>
          <a:lstStyle/>
          <a:p>
            <a:pPr marL="0" indent="0" algn="ctr">
              <a:lnSpc>
                <a:spcPts val="1500"/>
              </a:lnSpc>
              <a:buNone/>
            </a:pPr>
            <a:r>
              <a:rPr lang="en-US" sz="1200" dirty="0">
                <a:solidFill>
                  <a:srgbClr val="1F1142"/>
                </a:solidFill>
                <a:latin typeface="Calibri" pitchFamily="34" charset="0"/>
                <a:ea typeface="Calibri" pitchFamily="34" charset="-122"/>
                <a:cs typeface="Calibri" pitchFamily="34" charset="-120"/>
              </a:rPr>
              <a:t>Seller Rollover </a:t>
            </a:r>
          </a:p>
          <a:p>
            <a:pPr marL="0" indent="0" algn="ctr">
              <a:lnSpc>
                <a:spcPts val="1500"/>
              </a:lnSpc>
              <a:buNone/>
            </a:pPr>
            <a:r>
              <a:rPr lang="en-US" sz="1200" dirty="0">
                <a:solidFill>
                  <a:srgbClr val="1F1142"/>
                </a:solidFill>
                <a:latin typeface="Calibri" pitchFamily="34" charset="0"/>
                <a:ea typeface="Calibri" pitchFamily="34" charset="-122"/>
                <a:cs typeface="Calibri" pitchFamily="34" charset="-120"/>
              </a:rPr>
              <a:t>Equity</a:t>
            </a:r>
            <a:endParaRPr lang="en-US" sz="1200" dirty="0"/>
          </a:p>
        </p:txBody>
      </p:sp>
      <p:sp>
        <p:nvSpPr>
          <p:cNvPr id="16" name="Text 14">
            <a:extLst>
              <a:ext uri="{FF2B5EF4-FFF2-40B4-BE49-F238E27FC236}">
                <a16:creationId xmlns:a16="http://schemas.microsoft.com/office/drawing/2014/main" id="{971ED57B-2EDD-DB81-7526-DC71FC6AB559}"/>
              </a:ext>
            </a:extLst>
          </p:cNvPr>
          <p:cNvSpPr/>
          <p:nvPr/>
        </p:nvSpPr>
        <p:spPr>
          <a:xfrm>
            <a:off x="8782050" y="2066773"/>
            <a:ext cx="1828800" cy="347472"/>
          </a:xfrm>
          <a:prstGeom prst="rect">
            <a:avLst/>
          </a:prstGeom>
          <a:noFill/>
          <a:ln/>
        </p:spPr>
        <p:txBody>
          <a:bodyPr wrap="square" lIns="0" tIns="0" rIns="0" bIns="0" rtlCol="0" anchor="ctr"/>
          <a:lstStyle/>
          <a:p>
            <a:pPr marL="0" indent="0" algn="ctr">
              <a:buNone/>
            </a:pPr>
            <a:r>
              <a:rPr lang="en-US" sz="1500" b="1" dirty="0">
                <a:solidFill>
                  <a:srgbClr val="201243"/>
                </a:solidFill>
                <a:latin typeface="Calibri" pitchFamily="34" charset="0"/>
                <a:ea typeface="Calibri" pitchFamily="34" charset="-122"/>
                <a:cs typeface="Calibri" pitchFamily="34" charset="-120"/>
              </a:rPr>
              <a:t>$58M</a:t>
            </a:r>
            <a:endParaRPr lang="en-US" sz="1500" dirty="0"/>
          </a:p>
        </p:txBody>
      </p:sp>
      <p:sp>
        <p:nvSpPr>
          <p:cNvPr id="17" name="Text 15">
            <a:extLst>
              <a:ext uri="{FF2B5EF4-FFF2-40B4-BE49-F238E27FC236}">
                <a16:creationId xmlns:a16="http://schemas.microsoft.com/office/drawing/2014/main" id="{E2B63B5B-0BC7-5F66-0088-D70664CD4195}"/>
              </a:ext>
            </a:extLst>
          </p:cNvPr>
          <p:cNvSpPr/>
          <p:nvPr/>
        </p:nvSpPr>
        <p:spPr>
          <a:xfrm>
            <a:off x="8416290" y="5586282"/>
            <a:ext cx="256032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Total </a:t>
            </a:r>
          </a:p>
          <a:p>
            <a:pPr marL="0" indent="0" algn="ctr">
              <a:buNone/>
            </a:pPr>
            <a:r>
              <a:rPr lang="en-US" sz="1200" dirty="0">
                <a:solidFill>
                  <a:srgbClr val="1F1142"/>
                </a:solidFill>
                <a:latin typeface="Calibri" pitchFamily="34" charset="0"/>
                <a:ea typeface="Calibri" pitchFamily="34" charset="-122"/>
                <a:cs typeface="Calibri" pitchFamily="34" charset="-120"/>
              </a:rPr>
              <a:t>Consideration</a:t>
            </a:r>
            <a:endParaRPr lang="en-US" sz="1200" dirty="0"/>
          </a:p>
        </p:txBody>
      </p:sp>
      <p:sp>
        <p:nvSpPr>
          <p:cNvPr id="18" name="Shape 16">
            <a:extLst>
              <a:ext uri="{FF2B5EF4-FFF2-40B4-BE49-F238E27FC236}">
                <a16:creationId xmlns:a16="http://schemas.microsoft.com/office/drawing/2014/main" id="{CD09671C-8B4C-5FA5-02B6-5F09FAE3516E}"/>
              </a:ext>
            </a:extLst>
          </p:cNvPr>
          <p:cNvSpPr/>
          <p:nvPr/>
        </p:nvSpPr>
        <p:spPr>
          <a:xfrm>
            <a:off x="1524000" y="5477062"/>
            <a:ext cx="9144000" cy="13716"/>
          </a:xfrm>
          <a:prstGeom prst="rect">
            <a:avLst/>
          </a:prstGeom>
          <a:solidFill>
            <a:srgbClr val="D7D3DE"/>
          </a:solidFill>
          <a:ln/>
        </p:spPr>
        <p:txBody>
          <a:bodyPr/>
          <a:lstStyle/>
          <a:p>
            <a:endParaRPr lang="en-US"/>
          </a:p>
        </p:txBody>
      </p:sp>
      <p:sp>
        <p:nvSpPr>
          <p:cNvPr id="6" name="Text 5">
            <a:extLst>
              <a:ext uri="{FF2B5EF4-FFF2-40B4-BE49-F238E27FC236}">
                <a16:creationId xmlns:a16="http://schemas.microsoft.com/office/drawing/2014/main" id="{2D469AC6-A982-B281-031A-30524C554A2A}"/>
              </a:ext>
            </a:extLst>
          </p:cNvPr>
          <p:cNvSpPr/>
          <p:nvPr/>
        </p:nvSpPr>
        <p:spPr>
          <a:xfrm>
            <a:off x="4064577" y="3577142"/>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Paid to the Company in the form of the Rollover Equity at Close</a:t>
            </a:r>
          </a:p>
        </p:txBody>
      </p:sp>
      <p:sp>
        <p:nvSpPr>
          <p:cNvPr id="201" name="UpsideValue">
            <a:extLst>
              <a:ext uri="{FF2B5EF4-FFF2-40B4-BE49-F238E27FC236}">
                <a16:creationId xmlns:a16="http://schemas.microsoft.com/office/drawing/2014/main" id="{971ED57B-2EDD-DB81-7526-DC71FC6AB559}"/>
              </a:ext>
            </a:extLst>
          </p:cNvPr>
          <p:cNvSpPr/>
          <p:nvPr/>
        </p:nvSpPr>
        <p:spPr>
          <a:xfrm>
            <a:off x="6381750" y="2142177"/>
            <a:ext cx="1828800" cy="347472"/>
          </a:xfrm>
          <a:prstGeom prst="rect">
            <a:avLst/>
          </a:prstGeom>
          <a:noFill/>
          <a:ln/>
        </p:spPr>
        <p:txBody>
          <a:bodyPr wrap="square" lIns="0" tIns="0" rIns="0" bIns="0" rtlCol="0" anchor="ctr"/>
          <a:lstStyle/>
          <a:p>
            <a:pPr marL="0" indent="0" algn="ctr">
              <a:buNone/>
            </a:pPr>
            <a:r>
              <a:rPr lang="en-US" sz="1500" b="1" dirty="0">
                <a:solidFill>
                  <a:srgbClr val="201243"/>
                </a:solidFill>
                <a:latin typeface="Calibri" pitchFamily="34" charset="0"/>
                <a:ea typeface="Calibri" pitchFamily="34" charset="-122"/>
                <a:cs typeface="Calibri" pitchFamily="34" charset="-120"/>
              </a:rPr>
              <a:t>$15M</a:t>
            </a:r>
            <a:endParaRPr lang="en-US" sz="1500" dirty="0"/>
          </a:p>
        </p:txBody>
      </p:sp>
      <p:sp>
        <p:nvSpPr>
          <p:cNvPr id="202" name="UpsideCat">
            <a:extLst>
              <a:ext uri="{FF2B5EF4-FFF2-40B4-BE49-F238E27FC236}">
                <a16:creationId xmlns:a16="http://schemas.microsoft.com/office/drawing/2014/main" id="{E2B63B5B-0BC7-5F66-0088-D70664CD4195}"/>
              </a:ext>
            </a:extLst>
          </p:cNvPr>
          <p:cNvSpPr/>
          <p:nvPr/>
        </p:nvSpPr>
        <p:spPr>
          <a:xfrm>
            <a:off x="6015990" y="5586282"/>
            <a:ext cx="256032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Seller’s Equity </a:t>
            </a:r>
          </a:p>
          <a:p>
            <a:pPr marL="0" indent="0" algn="ctr">
              <a:buNone/>
            </a:pPr>
            <a:r>
              <a:rPr lang="en-US" sz="1200" dirty="0">
                <a:solidFill>
                  <a:srgbClr val="1F1142"/>
                </a:solidFill>
                <a:latin typeface="Calibri" pitchFamily="34" charset="0"/>
                <a:ea typeface="Calibri" pitchFamily="34" charset="-122"/>
                <a:cs typeface="Calibri" pitchFamily="34" charset="-120"/>
              </a:rPr>
              <a:t>Appreciation</a:t>
            </a:r>
            <a:endParaRPr lang="en-US" sz="1200" dirty="0"/>
          </a:p>
        </p:txBody>
      </p:sp>
      <p:sp>
        <p:nvSpPr>
          <p:cNvPr id="8" name="Left Brace 7">
            <a:extLst>
              <a:ext uri="{FF2B5EF4-FFF2-40B4-BE49-F238E27FC236}">
                <a16:creationId xmlns:a16="http://schemas.microsoft.com/office/drawing/2014/main" id="{6DFFFDBF-F3D6-B704-D498-0B62A007E8D2}"/>
              </a:ext>
            </a:extLst>
          </p:cNvPr>
          <p:cNvSpPr/>
          <p:nvPr/>
        </p:nvSpPr>
        <p:spPr>
          <a:xfrm rot="5400000">
            <a:off x="3560562" y="853410"/>
            <a:ext cx="247650" cy="3711174"/>
          </a:xfrm>
          <a:prstGeom prst="leftBrace">
            <a:avLst/>
          </a:prstGeom>
          <a:ln w="15875" cap="flat" cmpd="sng" algn="ctr">
            <a:solidFill>
              <a:srgbClr val="825B90"/>
            </a:solidFill>
            <a:prstDash val="soli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 12">
            <a:extLst>
              <a:ext uri="{FF2B5EF4-FFF2-40B4-BE49-F238E27FC236}">
                <a16:creationId xmlns:a16="http://schemas.microsoft.com/office/drawing/2014/main" id="{69A6F144-7ED9-256D-2686-4B38C1E9ECE3}"/>
              </a:ext>
            </a:extLst>
          </p:cNvPr>
          <p:cNvSpPr/>
          <p:nvPr/>
        </p:nvSpPr>
        <p:spPr>
          <a:xfrm>
            <a:off x="2154037" y="2203404"/>
            <a:ext cx="3060700" cy="355600"/>
          </a:xfrm>
          <a:prstGeom prst="rect">
            <a:avLst/>
          </a:prstGeom>
          <a:noFill/>
          <a:ln>
            <a:noFill/>
          </a:ln>
        </p:spPr>
        <p:txBody>
          <a:bodyPr wrap="none" lIns="0" tIns="0" rIns="0" bIns="0" rtlCol="0" anchor="ctr" anchorCtr="0">
            <a:noAutofit/>
          </a:bodyPr>
          <a:lstStyle/>
          <a:p>
            <a:pPr marL="0" indent="0" algn="ctr">
              <a:buNone/>
            </a:pPr>
            <a:r>
              <a:rPr lang="en-US" sz="1400" b="1" dirty="0">
                <a:solidFill>
                  <a:srgbClr val="201243"/>
                </a:solidFill>
                <a:latin typeface="Calibri" pitchFamily="34" charset="0"/>
                <a:cs typeface="Calibri" pitchFamily="34" charset="-120"/>
              </a:rPr>
              <a:t>Consideration At Close: $43M</a:t>
            </a:r>
          </a:p>
        </p:txBody>
      </p:sp>
      <p:sp>
        <p:nvSpPr>
          <p:cNvPr id="15" name="Text 5">
            <a:extLst>
              <a:ext uri="{FF2B5EF4-FFF2-40B4-BE49-F238E27FC236}">
                <a16:creationId xmlns:a16="http://schemas.microsoft.com/office/drawing/2014/main" id="{AA6F0BC5-FFED-2DF4-E145-A8573DFE10A8}"/>
              </a:ext>
            </a:extLst>
          </p:cNvPr>
          <p:cNvSpPr/>
          <p:nvPr/>
        </p:nvSpPr>
        <p:spPr>
          <a:xfrm>
            <a:off x="6464877" y="3287435"/>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Appreciation in Seller’s equity stake in </a:t>
            </a:r>
            <a:r>
              <a:rPr lang="en-US" sz="1100" dirty="0" err="1">
                <a:solidFill>
                  <a:srgbClr val="1F1142"/>
                </a:solidFill>
                <a:latin typeface="Calibri" pitchFamily="34" charset="0"/>
                <a:ea typeface="Calibri" pitchFamily="34" charset="-122"/>
                <a:cs typeface="Calibri" pitchFamily="34" charset="-120"/>
              </a:rPr>
              <a:t>RadX</a:t>
            </a:r>
            <a:r>
              <a:rPr lang="en-US" sz="1100" dirty="0">
                <a:solidFill>
                  <a:srgbClr val="1F1142"/>
                </a:solidFill>
                <a:latin typeface="Calibri" pitchFamily="34" charset="0"/>
                <a:ea typeface="Calibri" pitchFamily="34" charset="-122"/>
                <a:cs typeface="Calibri" pitchFamily="34" charset="-120"/>
              </a:rPr>
              <a:t> at Exit (represents 4x return)</a:t>
            </a:r>
          </a:p>
        </p:txBody>
      </p:sp>
      <p:sp>
        <p:nvSpPr>
          <p:cNvPr id="24" name="Rectangle 23">
            <a:extLst>
              <a:ext uri="{FF2B5EF4-FFF2-40B4-BE49-F238E27FC236}">
                <a16:creationId xmlns:a16="http://schemas.microsoft.com/office/drawing/2014/main" id="{6FD2DD21-FCE8-0251-9B41-149E13FF6BDE}"/>
              </a:ext>
            </a:extLst>
          </p:cNvPr>
          <p:cNvSpPr/>
          <p:nvPr/>
        </p:nvSpPr>
        <p:spPr>
          <a:xfrm>
            <a:off x="8804909" y="1879092"/>
            <a:ext cx="1776465" cy="4105569"/>
          </a:xfrm>
          <a:prstGeom prst="rect">
            <a:avLst/>
          </a:prstGeom>
          <a:no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C37243D-0E4F-C583-EB6B-92F66B30FFDD}"/>
              </a:ext>
            </a:extLst>
          </p:cNvPr>
          <p:cNvSpPr/>
          <p:nvPr/>
        </p:nvSpPr>
        <p:spPr>
          <a:xfrm>
            <a:off x="9195937" y="2047779"/>
            <a:ext cx="1001027" cy="385460"/>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a:extLst>
              <a:ext uri="{FF2B5EF4-FFF2-40B4-BE49-F238E27FC236}">
                <a16:creationId xmlns:a16="http://schemas.microsoft.com/office/drawing/2014/main" id="{4F013A51-57F6-D545-3E06-06CC448083EA}"/>
              </a:ext>
            </a:extLst>
          </p:cNvPr>
          <p:cNvSpPr/>
          <p:nvPr/>
        </p:nvSpPr>
        <p:spPr>
          <a:xfrm rot="16200000">
            <a:off x="5957252" y="2574163"/>
            <a:ext cx="247650" cy="3711174"/>
          </a:xfrm>
          <a:prstGeom prst="leftBrace">
            <a:avLst/>
          </a:prstGeom>
          <a:ln w="15875" cap="flat" cmpd="sng" algn="ctr">
            <a:solidFill>
              <a:srgbClr val="825B90"/>
            </a:solidFill>
            <a:prstDash val="soli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 12">
            <a:extLst>
              <a:ext uri="{FF2B5EF4-FFF2-40B4-BE49-F238E27FC236}">
                <a16:creationId xmlns:a16="http://schemas.microsoft.com/office/drawing/2014/main" id="{A173B04D-D778-D9F2-4322-9A2B557F8D72}"/>
              </a:ext>
            </a:extLst>
          </p:cNvPr>
          <p:cNvSpPr/>
          <p:nvPr/>
        </p:nvSpPr>
        <p:spPr>
          <a:xfrm>
            <a:off x="4076700" y="4524161"/>
            <a:ext cx="4013200" cy="355600"/>
          </a:xfrm>
          <a:prstGeom prst="rect">
            <a:avLst/>
          </a:prstGeom>
          <a:noFill/>
          <a:ln>
            <a:noFill/>
          </a:ln>
        </p:spPr>
        <p:txBody>
          <a:bodyPr wrap="none" lIns="0" tIns="0" rIns="0" bIns="0" rtlCol="0" anchor="ctr" anchorCtr="0">
            <a:noAutofit/>
          </a:bodyPr>
          <a:lstStyle/>
          <a:p>
            <a:pPr marL="0" indent="0" algn="ctr">
              <a:buNone/>
            </a:pPr>
            <a:r>
              <a:rPr lang="en-US" sz="1400" b="1" dirty="0">
                <a:solidFill>
                  <a:srgbClr val="201243"/>
                </a:solidFill>
                <a:latin typeface="Calibri" pitchFamily="34" charset="0"/>
                <a:cs typeface="Calibri" pitchFamily="34" charset="-120"/>
              </a:rPr>
              <a:t>$5M Equity Rollover Grows To $20M At Exit</a:t>
            </a:r>
          </a:p>
        </p:txBody>
      </p:sp>
      <p:sp>
        <p:nvSpPr>
          <p:cNvPr id="28" name="Text 4">
            <a:extLst>
              <a:ext uri="{FF2B5EF4-FFF2-40B4-BE49-F238E27FC236}">
                <a16:creationId xmlns:a16="http://schemas.microsoft.com/office/drawing/2014/main" id="{914DB4BB-CB62-A8F5-171D-45ED30AC54E0}"/>
              </a:ext>
            </a:extLst>
          </p:cNvPr>
          <p:cNvSpPr/>
          <p:nvPr/>
        </p:nvSpPr>
        <p:spPr>
          <a:xfrm>
            <a:off x="640080" y="1536192"/>
            <a:ext cx="10911535" cy="777240"/>
          </a:xfrm>
          <a:prstGeom prst="rect">
            <a:avLst/>
          </a:prstGeom>
          <a:noFill/>
          <a:ln/>
        </p:spPr>
        <p:txBody>
          <a:bodyPr wrap="square" lIns="0" tIns="0" rIns="0" bIns="0" rtlCol="0" anchor="t"/>
          <a:lstStyle/>
          <a:p>
            <a:pPr marL="0" indent="0">
              <a:lnSpc>
                <a:spcPts val="1700"/>
              </a:lnSpc>
              <a:buNone/>
            </a:pPr>
            <a:r>
              <a:rPr lang="en-US" sz="1250" b="1" dirty="0">
                <a:solidFill>
                  <a:srgbClr val="201243"/>
                </a:solidFill>
                <a:latin typeface="Calibri" pitchFamily="34" charset="0"/>
                <a:ea typeface="Calibri" pitchFamily="34" charset="-122"/>
                <a:cs typeface="Calibri" pitchFamily="34" charset="-120"/>
              </a:rPr>
              <a:t>Rollover Equity is realized only at a </a:t>
            </a:r>
            <a:r>
              <a:rPr lang="en-US" sz="1250" b="1" dirty="0" err="1">
                <a:solidFill>
                  <a:srgbClr val="201243"/>
                </a:solidFill>
                <a:latin typeface="Calibri" pitchFamily="34" charset="0"/>
                <a:ea typeface="Calibri" pitchFamily="34" charset="-122"/>
                <a:cs typeface="Calibri" pitchFamily="34" charset="-120"/>
              </a:rPr>
              <a:t>RadX</a:t>
            </a:r>
            <a:r>
              <a:rPr lang="en-US" sz="1250" b="1" dirty="0">
                <a:solidFill>
                  <a:srgbClr val="201243"/>
                </a:solidFill>
                <a:latin typeface="Calibri" pitchFamily="34" charset="0"/>
                <a:ea typeface="Calibri" pitchFamily="34" charset="-122"/>
                <a:cs typeface="Calibri" pitchFamily="34" charset="-120"/>
              </a:rPr>
              <a:t> liquidity event or upon sale of the </a:t>
            </a:r>
            <a:r>
              <a:rPr lang="en-US" sz="1250" b="1" dirty="0" err="1">
                <a:solidFill>
                  <a:srgbClr val="201243"/>
                </a:solidFill>
                <a:latin typeface="Calibri" pitchFamily="34" charset="0"/>
                <a:ea typeface="Calibri" pitchFamily="34" charset="-122"/>
                <a:cs typeface="Calibri" pitchFamily="34" charset="-120"/>
              </a:rPr>
              <a:t>RadX</a:t>
            </a:r>
            <a:r>
              <a:rPr lang="en-US" sz="1250" b="1" dirty="0">
                <a:solidFill>
                  <a:srgbClr val="201243"/>
                </a:solidFill>
                <a:latin typeface="Calibri" pitchFamily="34" charset="0"/>
                <a:ea typeface="Calibri" pitchFamily="34" charset="-122"/>
                <a:cs typeface="Calibri" pitchFamily="34" charset="-120"/>
              </a:rPr>
              <a:t> platform. </a:t>
            </a:r>
            <a:r>
              <a:rPr lang="en-US" sz="1250" dirty="0">
                <a:solidFill>
                  <a:srgbClr val="3B3350"/>
                </a:solidFill>
                <a:latin typeface="Calibri" pitchFamily="34" charset="0"/>
                <a:ea typeface="Calibri" pitchFamily="34" charset="-122"/>
                <a:cs typeface="Calibri" pitchFamily="34" charset="-120"/>
              </a:rPr>
              <a:t>Rollover equity realization will occur alongside other </a:t>
            </a:r>
            <a:r>
              <a:rPr lang="en-US" sz="1250" dirty="0" err="1">
                <a:solidFill>
                  <a:srgbClr val="3B3350"/>
                </a:solidFill>
                <a:latin typeface="Calibri" pitchFamily="34" charset="0"/>
                <a:ea typeface="Calibri" pitchFamily="34" charset="-122"/>
                <a:cs typeface="Calibri" pitchFamily="34" charset="-120"/>
              </a:rPr>
              <a:t>RadX</a:t>
            </a:r>
            <a:r>
              <a:rPr lang="en-US" sz="1250" dirty="0">
                <a:solidFill>
                  <a:srgbClr val="3B3350"/>
                </a:solidFill>
                <a:latin typeface="Calibri" pitchFamily="34" charset="0"/>
                <a:ea typeface="Calibri" pitchFamily="34" charset="-122"/>
                <a:cs typeface="Calibri" pitchFamily="34" charset="-120"/>
              </a:rPr>
              <a:t> common equity</a:t>
            </a:r>
            <a:endParaRPr lang="en-US" sz="1250" dirty="0"/>
          </a:p>
        </p:txBody>
      </p:sp>
    </p:spTree>
    <p:extLst>
      <p:ext uri="{BB962C8B-B14F-4D97-AF65-F5344CB8AC3E}">
        <p14:creationId xmlns:p14="http://schemas.microsoft.com/office/powerpoint/2010/main" val="1195951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201243"/>
        </a:solidFill>
        <a:effectLst/>
      </p:bgPr>
    </p:bg>
    <p:spTree>
      <p:nvGrpSpPr>
        <p:cNvPr id="1" name=""/>
        <p:cNvGrpSpPr/>
        <p:nvPr/>
      </p:nvGrpSpPr>
      <p:grpSpPr>
        <a:xfrm>
          <a:off x="0" y="0"/>
          <a:ext cx="0" cy="0"/>
          <a:chOff x="0" y="0"/>
          <a:chExt cx="0" cy="0"/>
        </a:xfrm>
      </p:grpSpPr>
      <p:sp>
        <p:nvSpPr>
          <p:cNvPr id="3" name="Shape 1"/>
          <p:cNvSpPr/>
          <p:nvPr/>
        </p:nvSpPr>
        <p:spPr>
          <a:xfrm>
            <a:off x="8686800" y="-1371600"/>
            <a:ext cx="5486400" cy="5486400"/>
          </a:xfrm>
          <a:prstGeom prst="ellipse">
            <a:avLst/>
          </a:prstGeom>
          <a:solidFill>
            <a:srgbClr val="312552"/>
          </a:solidFill>
          <a:ln w="12700">
            <a:noFill/>
            <a:prstDash val="solid"/>
          </a:ln>
        </p:spPr>
        <p:txBody>
          <a:bodyPr/>
          <a:lstStyle/>
          <a:p>
            <a:endParaRPr lang="en-US"/>
          </a:p>
        </p:txBody>
      </p:sp>
      <p:sp>
        <p:nvSpPr>
          <p:cNvPr id="5" name="Text 3"/>
          <p:cNvSpPr/>
          <p:nvPr/>
        </p:nvSpPr>
        <p:spPr>
          <a:xfrm>
            <a:off x="8890000" y="6400800"/>
            <a:ext cx="2667000" cy="27940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cs typeface="Calibri" pitchFamily="34" charset="-120"/>
              </a:rPr>
              <a:t>RadX</a:t>
            </a:r>
            <a:r>
              <a:rPr lang="en-US" sz="1000" b="1" dirty="0">
                <a:solidFill>
                  <a:srgbClr val="B7C4E8"/>
                </a:solidFill>
                <a:latin typeface="Calibri" pitchFamily="34" charset="0"/>
                <a:cs typeface="Calibri" pitchFamily="34" charset="-120"/>
              </a:rPr>
              <a:t> inc.</a:t>
            </a:r>
          </a:p>
        </p:txBody>
      </p:sp>
      <p:sp>
        <p:nvSpPr>
          <p:cNvPr id="6" name="Text 4"/>
          <p:cNvSpPr/>
          <p:nvPr/>
        </p:nvSpPr>
        <p:spPr>
          <a:xfrm>
            <a:off x="825500" y="2514600"/>
            <a:ext cx="9906000" cy="787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cs typeface="Calibri" pitchFamily="34" charset="-120"/>
              </a:rPr>
              <a:t>Retained Equity in Center</a:t>
            </a:r>
          </a:p>
        </p:txBody>
      </p:sp>
      <p:sp>
        <p:nvSpPr>
          <p:cNvPr id="8" name="Text 6"/>
          <p:cNvSpPr/>
          <p:nvPr/>
        </p:nvSpPr>
        <p:spPr>
          <a:xfrm>
            <a:off x="825500" y="3975100"/>
            <a:ext cx="5943600" cy="25400"/>
          </a:xfrm>
          <a:prstGeom prst="rect">
            <a:avLst/>
          </a:prstGeom>
          <a:solidFill>
            <a:srgbClr val="825B90"/>
          </a:solidFill>
          <a:ln>
            <a:noFill/>
          </a:ln>
        </p:spPr>
        <p:txBody>
          <a:bodyPr wrap="square" lIns="0" tIns="0" rIns="0" bIns="0" rtlCol="0" anchor="ctr"/>
          <a:lstStyle/>
          <a:p>
            <a:pPr marL="0" indent="0">
              <a:buNone/>
            </a:pPr>
            <a:endParaRPr lang="en-US" sz="1400" dirty="0"/>
          </a:p>
        </p:txBody>
      </p:sp>
      <p:sp>
        <p:nvSpPr>
          <p:cNvPr id="18" name="Text 16"/>
          <p:cNvSpPr/>
          <p:nvPr/>
        </p:nvSpPr>
        <p:spPr>
          <a:xfrm>
            <a:off x="635000" y="6400800"/>
            <a:ext cx="7620000" cy="279400"/>
          </a:xfrm>
          <a:prstGeom prst="rect">
            <a:avLst/>
          </a:prstGeom>
          <a:noFill/>
          <a:ln/>
        </p:spPr>
        <p:txBody>
          <a:bodyPr wrap="square" lIns="0" tIns="0" rIns="0" bIns="0" rtlCol="0" anchor="ctr"/>
          <a:lstStyle/>
          <a:p>
            <a:pPr marL="0" indent="0" algn="l">
              <a:buNone/>
            </a:pPr>
            <a:r>
              <a:rPr lang="en-US" sz="900" dirty="0">
                <a:solidFill>
                  <a:srgbClr val="B7C4E8"/>
                </a:solidFill>
                <a:latin typeface="Calibri" pitchFamily="34" charset="0"/>
                <a:cs typeface="Calibri" pitchFamily="34" charset="-120"/>
              </a:rPr>
              <a:t>Presentation Does Not Constitute a Binding Offer - Figures Subject to Confirmatory Due Diligence</a:t>
            </a:r>
          </a:p>
        </p:txBody>
      </p:sp>
    </p:spTree>
    <p:extLst>
      <p:ext uri="{BB962C8B-B14F-4D97-AF65-F5344CB8AC3E}">
        <p14:creationId xmlns:p14="http://schemas.microsoft.com/office/powerpoint/2010/main" val="863863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B60B-A54F-43C0-7F69-22B0233316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547B07-6691-7215-0AF9-A09CB06D9D8F}"/>
              </a:ext>
            </a:extLst>
          </p:cNvPr>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a:extLst>
              <a:ext uri="{FF2B5EF4-FFF2-40B4-BE49-F238E27FC236}">
                <a16:creationId xmlns:a16="http://schemas.microsoft.com/office/drawing/2014/main" id="{2A124117-4CA4-3663-D6A8-C999A82FC870}"/>
              </a:ext>
            </a:extLst>
          </p:cNvPr>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Assumptions Behind the Illustrative Example</a:t>
            </a:r>
          </a:p>
        </p:txBody>
      </p:sp>
      <p:sp>
        <p:nvSpPr>
          <p:cNvPr id="4" name="Text 2">
            <a:extLst>
              <a:ext uri="{FF2B5EF4-FFF2-40B4-BE49-F238E27FC236}">
                <a16:creationId xmlns:a16="http://schemas.microsoft.com/office/drawing/2014/main" id="{BF501815-9F7E-96C8-F9EE-BD62AF50D7E4}"/>
              </a:ext>
            </a:extLst>
          </p:cNvPr>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A simple illustration of how the transaction and your retained interest work</a:t>
            </a:r>
          </a:p>
        </p:txBody>
      </p:sp>
      <p:sp>
        <p:nvSpPr>
          <p:cNvPr id="5" name="Shape 3">
            <a:extLst>
              <a:ext uri="{FF2B5EF4-FFF2-40B4-BE49-F238E27FC236}">
                <a16:creationId xmlns:a16="http://schemas.microsoft.com/office/drawing/2014/main" id="{8DFFBC70-1950-7F73-1CB2-DB04B6D570AA}"/>
              </a:ext>
            </a:extLst>
          </p:cNvPr>
          <p:cNvSpPr/>
          <p:nvPr/>
        </p:nvSpPr>
        <p:spPr>
          <a:xfrm>
            <a:off x="640080" y="1207008"/>
            <a:ext cx="10911535" cy="18288"/>
          </a:xfrm>
          <a:prstGeom prst="rect">
            <a:avLst/>
          </a:prstGeom>
          <a:solidFill>
            <a:srgbClr val="201243"/>
          </a:solidFill>
          <a:ln/>
        </p:spPr>
        <p:txBody>
          <a:bodyPr/>
          <a:lstStyle/>
          <a:p>
            <a:endParaRPr lang="en-US"/>
          </a:p>
        </p:txBody>
      </p:sp>
      <p:sp>
        <p:nvSpPr>
          <p:cNvPr id="6" name="Text 4">
            <a:extLst>
              <a:ext uri="{FF2B5EF4-FFF2-40B4-BE49-F238E27FC236}">
                <a16:creationId xmlns:a16="http://schemas.microsoft.com/office/drawing/2014/main" id="{983B57A2-AB23-16A2-F571-5394DA6D7140}"/>
              </a:ext>
            </a:extLst>
          </p:cNvPr>
          <p:cNvSpPr/>
          <p:nvPr/>
        </p:nvSpPr>
        <p:spPr>
          <a:xfrm>
            <a:off x="640080" y="1536192"/>
            <a:ext cx="10911535" cy="777240"/>
          </a:xfrm>
          <a:prstGeom prst="rect">
            <a:avLst/>
          </a:prstGeom>
          <a:noFill/>
          <a:ln/>
        </p:spPr>
        <p:txBody>
          <a:bodyPr wrap="square" lIns="0" tIns="0" rIns="0" bIns="0" rtlCol="0" anchor="t"/>
          <a:lstStyle/>
          <a:p>
            <a:pPr marL="0" indent="0">
              <a:lnSpc>
                <a:spcPts val="1700"/>
              </a:lnSpc>
              <a:buNone/>
            </a:pPr>
            <a:r>
              <a:rPr lang="en-US" sz="1250" b="1" dirty="0">
                <a:solidFill>
                  <a:srgbClr val="201243"/>
                </a:solidFill>
                <a:latin typeface="Calibri" pitchFamily="34" charset="0"/>
                <a:ea typeface="Calibri" pitchFamily="34" charset="-122"/>
                <a:cs typeface="Calibri" pitchFamily="34" charset="-120"/>
              </a:rPr>
              <a:t>RadX acquires 80% of your center. You retain 20%. </a:t>
            </a:r>
            <a:r>
              <a:rPr lang="en-US" sz="1250" dirty="0">
                <a:solidFill>
                  <a:srgbClr val="3B3350"/>
                </a:solidFill>
                <a:latin typeface="Calibri" pitchFamily="34" charset="0"/>
                <a:ea typeface="Calibri" pitchFamily="34" charset="-122"/>
                <a:cs typeface="Calibri" pitchFamily="34" charset="-120"/>
              </a:rPr>
              <a:t>The four assumptions below drive every figure on the page that follows.</a:t>
            </a:r>
          </a:p>
        </p:txBody>
      </p:sp>
      <p:sp>
        <p:nvSpPr>
          <p:cNvPr id="21" name="Text 19">
            <a:extLst>
              <a:ext uri="{FF2B5EF4-FFF2-40B4-BE49-F238E27FC236}">
                <a16:creationId xmlns:a16="http://schemas.microsoft.com/office/drawing/2014/main" id="{54D74A34-16EB-5564-832D-53AF81F52866}"/>
              </a:ext>
            </a:extLst>
          </p:cNvPr>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Purchase multiple, ownership split and cash flow share are shown for illustration and are subject to confirmatory diligence and definitive documentation. </a:t>
            </a:r>
          </a:p>
        </p:txBody>
      </p:sp>
      <p:sp>
        <p:nvSpPr>
          <p:cNvPr id="22" name="Text 20">
            <a:extLst>
              <a:ext uri="{FF2B5EF4-FFF2-40B4-BE49-F238E27FC236}">
                <a16:creationId xmlns:a16="http://schemas.microsoft.com/office/drawing/2014/main" id="{0BB85116-FAD8-05E1-1651-4F9A4A9374C5}"/>
              </a:ext>
            </a:extLst>
          </p:cNvPr>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3" name="Text 21">
            <a:extLst>
              <a:ext uri="{FF2B5EF4-FFF2-40B4-BE49-F238E27FC236}">
                <a16:creationId xmlns:a16="http://schemas.microsoft.com/office/drawing/2014/main" id="{7E198F2B-F452-52DB-4369-51E1A620165E}"/>
              </a:ext>
            </a:extLst>
          </p:cNvPr>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4" name="Text 22">
            <a:extLst>
              <a:ext uri="{FF2B5EF4-FFF2-40B4-BE49-F238E27FC236}">
                <a16:creationId xmlns:a16="http://schemas.microsoft.com/office/drawing/2014/main" id="{099688E3-F08D-9B55-00F2-A09BE6E8001A}"/>
              </a:ext>
            </a:extLst>
          </p:cNvPr>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13</a:t>
            </a:r>
            <a:endParaRPr lang="en-US" sz="1000" dirty="0"/>
          </a:p>
        </p:txBody>
      </p:sp>
      <p:sp>
        <p:nvSpPr>
          <p:cNvPr id="26" name="AssumpRow01">
            <a:extLst>
              <a:ext uri="{FF2B5EF4-FFF2-40B4-BE49-F238E27FC236}">
                <a16:creationId xmlns:a16="http://schemas.microsoft.com/office/drawing/2014/main" id="{7F09A051-A6B1-4ACF-8341-CE81853E783F}"/>
              </a:ext>
            </a:extLst>
          </p:cNvPr>
          <p:cNvSpPr/>
          <p:nvPr/>
        </p:nvSpPr>
        <p:spPr>
          <a:xfrm>
            <a:off x="635000" y="2184400"/>
            <a:ext cx="10909300" cy="812800"/>
          </a:xfrm>
          <a:prstGeom prst="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AssumpBar01">
            <a:extLst>
              <a:ext uri="{FF2B5EF4-FFF2-40B4-BE49-F238E27FC236}">
                <a16:creationId xmlns:a16="http://schemas.microsoft.com/office/drawing/2014/main" id="{9C8C276F-278D-47F0-A6D2-B409B05473E5}"/>
              </a:ext>
            </a:extLst>
          </p:cNvPr>
          <p:cNvSpPr/>
          <p:nvPr/>
        </p:nvSpPr>
        <p:spPr>
          <a:xfrm>
            <a:off x="635000" y="2184400"/>
            <a:ext cx="63500" cy="812800"/>
          </a:xfrm>
          <a:prstGeom prst="rect">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AssumpBadge01">
            <a:extLst>
              <a:ext uri="{FF2B5EF4-FFF2-40B4-BE49-F238E27FC236}">
                <a16:creationId xmlns:a16="http://schemas.microsoft.com/office/drawing/2014/main" id="{76B35CA7-BE33-4B92-88DC-DD04CFF55B40}"/>
              </a:ext>
            </a:extLst>
          </p:cNvPr>
          <p:cNvSpPr/>
          <p:nvPr/>
        </p:nvSpPr>
        <p:spPr>
          <a:xfrm>
            <a:off x="939800" y="2387600"/>
            <a:ext cx="406400" cy="406400"/>
          </a:xfrm>
          <a:prstGeom prst="ellipse">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1400" b="1" dirty="0">
                <a:solidFill>
                  <a:srgbClr val="FFFFFF"/>
                </a:solidFill>
                <a:latin typeface="Calibri"/>
                <a:ea typeface="Calibri"/>
                <a:cs typeface="Calibri"/>
              </a:rPr>
              <a:t>1</a:t>
            </a:r>
          </a:p>
        </p:txBody>
      </p:sp>
      <p:sp>
        <p:nvSpPr>
          <p:cNvPr id="34" name="AssumpText01">
            <a:extLst>
              <a:ext uri="{FF2B5EF4-FFF2-40B4-BE49-F238E27FC236}">
                <a16:creationId xmlns:a16="http://schemas.microsoft.com/office/drawing/2014/main" id="{C82E4BE1-1C35-4D76-9355-536A1CA3031C}"/>
              </a:ext>
            </a:extLst>
          </p:cNvPr>
          <p:cNvSpPr txBox="1"/>
          <p:nvPr/>
        </p:nvSpPr>
        <p:spPr>
          <a:xfrm>
            <a:off x="1574800" y="2184400"/>
            <a:ext cx="9779000" cy="812800"/>
          </a:xfrm>
          <a:prstGeom prst="rect">
            <a:avLst/>
          </a:prstGeom>
          <a:noFill/>
        </p:spPr>
        <p:txBody>
          <a:bodyPr vertOverflow="overflow" vert="horz" wrap="square" rtlCol="0" anchor="ctr" anchorCtr="0">
            <a:noAutofit/>
          </a:bodyPr>
          <a:lstStyle/>
          <a:p>
            <a:pPr algn="l"/>
            <a:r>
              <a:rPr lang="en-US" sz="2000" b="1">
                <a:solidFill>
                  <a:srgbClr val="201243"/>
                </a:solidFill>
                <a:latin typeface="Calibri"/>
                <a:ea typeface="Calibri"/>
                <a:cs typeface="Calibri"/>
              </a:rPr>
              <a:t>RadX acquires 80% of your center at a 6.0x EBITDA multiple</a:t>
            </a:r>
          </a:p>
        </p:txBody>
      </p:sp>
      <p:sp>
        <p:nvSpPr>
          <p:cNvPr id="35" name="AssumpRow02">
            <a:extLst>
              <a:ext uri="{FF2B5EF4-FFF2-40B4-BE49-F238E27FC236}">
                <a16:creationId xmlns:a16="http://schemas.microsoft.com/office/drawing/2014/main" id="{B4DD46CC-0520-43B8-95F0-27304F6797F2}"/>
              </a:ext>
            </a:extLst>
          </p:cNvPr>
          <p:cNvSpPr/>
          <p:nvPr/>
        </p:nvSpPr>
        <p:spPr>
          <a:xfrm>
            <a:off x="635000" y="3111500"/>
            <a:ext cx="10909300" cy="812800"/>
          </a:xfrm>
          <a:prstGeom prst="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AssumpBar02">
            <a:extLst>
              <a:ext uri="{FF2B5EF4-FFF2-40B4-BE49-F238E27FC236}">
                <a16:creationId xmlns:a16="http://schemas.microsoft.com/office/drawing/2014/main" id="{CC99E156-DA40-4E9A-9DB0-8623BD6F15CB}"/>
              </a:ext>
            </a:extLst>
          </p:cNvPr>
          <p:cNvSpPr/>
          <p:nvPr/>
        </p:nvSpPr>
        <p:spPr>
          <a:xfrm>
            <a:off x="635000" y="3111500"/>
            <a:ext cx="63500" cy="812800"/>
          </a:xfrm>
          <a:prstGeom prst="rect">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AssumpBadge02">
            <a:extLst>
              <a:ext uri="{FF2B5EF4-FFF2-40B4-BE49-F238E27FC236}">
                <a16:creationId xmlns:a16="http://schemas.microsoft.com/office/drawing/2014/main" id="{5CAD5677-C853-43AC-9EB4-C3BA7143CC9C}"/>
              </a:ext>
            </a:extLst>
          </p:cNvPr>
          <p:cNvSpPr/>
          <p:nvPr/>
        </p:nvSpPr>
        <p:spPr>
          <a:xfrm>
            <a:off x="939800" y="3314700"/>
            <a:ext cx="406400" cy="406400"/>
          </a:xfrm>
          <a:prstGeom prst="ellipse">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1400" b="1" dirty="0">
                <a:solidFill>
                  <a:srgbClr val="FFFFFF"/>
                </a:solidFill>
                <a:latin typeface="Calibri"/>
                <a:ea typeface="Calibri"/>
                <a:cs typeface="Calibri"/>
              </a:rPr>
              <a:t>2</a:t>
            </a:r>
          </a:p>
        </p:txBody>
      </p:sp>
      <p:sp>
        <p:nvSpPr>
          <p:cNvPr id="38" name="AssumpText02">
            <a:extLst>
              <a:ext uri="{FF2B5EF4-FFF2-40B4-BE49-F238E27FC236}">
                <a16:creationId xmlns:a16="http://schemas.microsoft.com/office/drawing/2014/main" id="{F658D7B1-AA2F-4626-8295-7C3E40D519A8}"/>
              </a:ext>
            </a:extLst>
          </p:cNvPr>
          <p:cNvSpPr txBox="1"/>
          <p:nvPr/>
        </p:nvSpPr>
        <p:spPr>
          <a:xfrm>
            <a:off x="1574800" y="3111500"/>
            <a:ext cx="9779000" cy="812800"/>
          </a:xfrm>
          <a:prstGeom prst="rect">
            <a:avLst/>
          </a:prstGeom>
          <a:noFill/>
        </p:spPr>
        <p:txBody>
          <a:bodyPr vertOverflow="overflow" vert="horz" wrap="square" rtlCol="0" anchor="ctr" anchorCtr="0">
            <a:noAutofit/>
          </a:bodyPr>
          <a:lstStyle/>
          <a:p>
            <a:pPr algn="l"/>
            <a:r>
              <a:rPr lang="en-US" sz="2000" b="1" dirty="0">
                <a:solidFill>
                  <a:srgbClr val="201243"/>
                </a:solidFill>
                <a:latin typeface="Calibri"/>
                <a:ea typeface="Calibri"/>
                <a:cs typeface="Calibri"/>
              </a:rPr>
              <a:t>$1.0M EBITDA  ×  6.0x  ×  80%  =  </a:t>
            </a:r>
            <a:r>
              <a:rPr lang="en-US" sz="2000" b="1" u="sng" dirty="0">
                <a:solidFill>
                  <a:srgbClr val="201243"/>
                </a:solidFill>
                <a:latin typeface="Calibri"/>
                <a:ea typeface="Calibri"/>
                <a:cs typeface="Calibri"/>
              </a:rPr>
              <a:t>$4.8M of cash to you at close</a:t>
            </a:r>
          </a:p>
        </p:txBody>
      </p:sp>
      <p:sp>
        <p:nvSpPr>
          <p:cNvPr id="39" name="AssumpRow03">
            <a:extLst>
              <a:ext uri="{FF2B5EF4-FFF2-40B4-BE49-F238E27FC236}">
                <a16:creationId xmlns:a16="http://schemas.microsoft.com/office/drawing/2014/main" id="{3700325F-E169-430C-BB43-988621B0A863}"/>
              </a:ext>
            </a:extLst>
          </p:cNvPr>
          <p:cNvSpPr/>
          <p:nvPr/>
        </p:nvSpPr>
        <p:spPr>
          <a:xfrm>
            <a:off x="635000" y="4038600"/>
            <a:ext cx="10909300" cy="812800"/>
          </a:xfrm>
          <a:prstGeom prst="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AssumpBar03">
            <a:extLst>
              <a:ext uri="{FF2B5EF4-FFF2-40B4-BE49-F238E27FC236}">
                <a16:creationId xmlns:a16="http://schemas.microsoft.com/office/drawing/2014/main" id="{F7355B4C-E136-4504-8EEE-E90C54D0FCB7}"/>
              </a:ext>
            </a:extLst>
          </p:cNvPr>
          <p:cNvSpPr/>
          <p:nvPr/>
        </p:nvSpPr>
        <p:spPr>
          <a:xfrm>
            <a:off x="635000" y="4038600"/>
            <a:ext cx="63500" cy="812800"/>
          </a:xfrm>
          <a:prstGeom prst="rect">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AssumpBadge03">
            <a:extLst>
              <a:ext uri="{FF2B5EF4-FFF2-40B4-BE49-F238E27FC236}">
                <a16:creationId xmlns:a16="http://schemas.microsoft.com/office/drawing/2014/main" id="{CB0435B4-61A6-4680-B9B9-4577D25A3E1A}"/>
              </a:ext>
            </a:extLst>
          </p:cNvPr>
          <p:cNvSpPr/>
          <p:nvPr/>
        </p:nvSpPr>
        <p:spPr>
          <a:xfrm>
            <a:off x="939800" y="4241800"/>
            <a:ext cx="406400" cy="406400"/>
          </a:xfrm>
          <a:prstGeom prst="ellipse">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1400" b="1" dirty="0">
                <a:solidFill>
                  <a:srgbClr val="FFFFFF"/>
                </a:solidFill>
                <a:latin typeface="Calibri"/>
                <a:ea typeface="Calibri"/>
                <a:cs typeface="Calibri"/>
              </a:rPr>
              <a:t>3</a:t>
            </a:r>
          </a:p>
        </p:txBody>
      </p:sp>
      <p:sp>
        <p:nvSpPr>
          <p:cNvPr id="42" name="AssumpText03">
            <a:extLst>
              <a:ext uri="{FF2B5EF4-FFF2-40B4-BE49-F238E27FC236}">
                <a16:creationId xmlns:a16="http://schemas.microsoft.com/office/drawing/2014/main" id="{A4D51DEE-4630-4A70-9799-924677947AD7}"/>
              </a:ext>
            </a:extLst>
          </p:cNvPr>
          <p:cNvSpPr txBox="1"/>
          <p:nvPr/>
        </p:nvSpPr>
        <p:spPr>
          <a:xfrm>
            <a:off x="1574800" y="4038600"/>
            <a:ext cx="9779000" cy="812800"/>
          </a:xfrm>
          <a:prstGeom prst="rect">
            <a:avLst/>
          </a:prstGeom>
          <a:noFill/>
        </p:spPr>
        <p:txBody>
          <a:bodyPr vertOverflow="overflow" vert="horz" wrap="square" rtlCol="0" anchor="ctr" anchorCtr="0">
            <a:noAutofit/>
          </a:bodyPr>
          <a:lstStyle/>
          <a:p>
            <a:pPr algn="l"/>
            <a:r>
              <a:rPr lang="en-US" sz="2000" b="1" dirty="0">
                <a:solidFill>
                  <a:srgbClr val="201243"/>
                </a:solidFill>
                <a:latin typeface="Calibri"/>
                <a:ea typeface="Calibri"/>
                <a:cs typeface="Calibri"/>
              </a:rPr>
              <a:t>You retain 20% of the equity in your business</a:t>
            </a:r>
          </a:p>
        </p:txBody>
      </p:sp>
      <p:sp>
        <p:nvSpPr>
          <p:cNvPr id="43" name="AssumpRow04">
            <a:extLst>
              <a:ext uri="{FF2B5EF4-FFF2-40B4-BE49-F238E27FC236}">
                <a16:creationId xmlns:a16="http://schemas.microsoft.com/office/drawing/2014/main" id="{F113C05A-A6AE-47C1-A3B1-74261FE81294}"/>
              </a:ext>
            </a:extLst>
          </p:cNvPr>
          <p:cNvSpPr/>
          <p:nvPr/>
        </p:nvSpPr>
        <p:spPr>
          <a:xfrm>
            <a:off x="635000" y="4965700"/>
            <a:ext cx="10909300" cy="812800"/>
          </a:xfrm>
          <a:prstGeom prst="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AssumpBar04">
            <a:extLst>
              <a:ext uri="{FF2B5EF4-FFF2-40B4-BE49-F238E27FC236}">
                <a16:creationId xmlns:a16="http://schemas.microsoft.com/office/drawing/2014/main" id="{881B0B4C-6B43-4AC2-ADE7-16A7EE6E30C6}"/>
              </a:ext>
            </a:extLst>
          </p:cNvPr>
          <p:cNvSpPr/>
          <p:nvPr/>
        </p:nvSpPr>
        <p:spPr>
          <a:xfrm>
            <a:off x="635000" y="4965700"/>
            <a:ext cx="63500" cy="812800"/>
          </a:xfrm>
          <a:prstGeom prst="rect">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AssumpBadge04">
            <a:extLst>
              <a:ext uri="{FF2B5EF4-FFF2-40B4-BE49-F238E27FC236}">
                <a16:creationId xmlns:a16="http://schemas.microsoft.com/office/drawing/2014/main" id="{582D9A4B-0F12-4286-B0CE-C897B0A500A5}"/>
              </a:ext>
            </a:extLst>
          </p:cNvPr>
          <p:cNvSpPr/>
          <p:nvPr/>
        </p:nvSpPr>
        <p:spPr>
          <a:xfrm>
            <a:off x="939800" y="5168900"/>
            <a:ext cx="406400" cy="406400"/>
          </a:xfrm>
          <a:prstGeom prst="ellipse">
            <a:avLst/>
          </a:prstGeom>
          <a:solidFill>
            <a:srgbClr val="20124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sz="1400" b="1" dirty="0">
                <a:solidFill>
                  <a:srgbClr val="FFFFFF"/>
                </a:solidFill>
                <a:latin typeface="Calibri"/>
                <a:ea typeface="Calibri"/>
                <a:cs typeface="Calibri"/>
              </a:rPr>
              <a:t>4</a:t>
            </a:r>
          </a:p>
        </p:txBody>
      </p:sp>
      <p:sp>
        <p:nvSpPr>
          <p:cNvPr id="46" name="AssumpText04">
            <a:extLst>
              <a:ext uri="{FF2B5EF4-FFF2-40B4-BE49-F238E27FC236}">
                <a16:creationId xmlns:a16="http://schemas.microsoft.com/office/drawing/2014/main" id="{82F60D74-0F5B-4890-85BC-5180DE05111B}"/>
              </a:ext>
            </a:extLst>
          </p:cNvPr>
          <p:cNvSpPr txBox="1"/>
          <p:nvPr/>
        </p:nvSpPr>
        <p:spPr>
          <a:xfrm>
            <a:off x="1574800" y="4965700"/>
            <a:ext cx="9779000" cy="812800"/>
          </a:xfrm>
          <a:prstGeom prst="rect">
            <a:avLst/>
          </a:prstGeom>
          <a:noFill/>
        </p:spPr>
        <p:txBody>
          <a:bodyPr vertOverflow="overflow" vert="horz" wrap="square" rtlCol="0" anchor="ctr" anchorCtr="0">
            <a:noAutofit/>
          </a:bodyPr>
          <a:lstStyle/>
          <a:p>
            <a:pPr algn="l"/>
            <a:r>
              <a:rPr lang="en-US" sz="2000" b="1">
                <a:solidFill>
                  <a:srgbClr val="201243"/>
                </a:solidFill>
                <a:latin typeface="Calibri"/>
                <a:ea typeface="Calibri"/>
                <a:cs typeface="Calibri"/>
              </a:rPr>
              <a:t>You keep 20% of the annual cash flow every year until a sale</a:t>
            </a:r>
          </a:p>
        </p:txBody>
      </p:sp>
    </p:spTree>
    <p:extLst>
      <p:ext uri="{BB962C8B-B14F-4D97-AF65-F5344CB8AC3E}">
        <p14:creationId xmlns:p14="http://schemas.microsoft.com/office/powerpoint/2010/main" val="4290138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Illustrative Value of Your Retained Equity in Your Center</a:t>
            </a:r>
          </a:p>
        </p:txBody>
      </p:sp>
      <p:sp>
        <p:nvSpPr>
          <p:cNvPr id="4" name="Text 2"/>
          <p:cNvSpPr/>
          <p:nvPr/>
        </p:nvSpPr>
        <p:spPr>
          <a:xfrm>
            <a:off x="640080" y="841248"/>
            <a:ext cx="10515600" cy="292608"/>
          </a:xfrm>
          <a:prstGeom prst="rect">
            <a:avLst/>
          </a:prstGeom>
          <a:noFill/>
          <a:ln/>
        </p:spPr>
        <p:txBody>
          <a:bodyPr wrap="square" lIns="0" tIns="0" rIns="0" bIns="0" rtlCol="0" anchor="ctr"/>
          <a:lstStyle/>
          <a:p>
            <a:r>
              <a:rPr lang="en-US" sz="1300" i="1" dirty="0">
                <a:solidFill>
                  <a:srgbClr val="837D94"/>
                </a:solidFill>
                <a:latin typeface="Calibri" pitchFamily="34" charset="0"/>
                <a:ea typeface="Calibri" pitchFamily="34" charset="-122"/>
                <a:cs typeface="Calibri" pitchFamily="34" charset="-120"/>
              </a:rPr>
              <a:t>Retained ownership shares in the cash flow the operating playbook creates</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Text 4"/>
          <p:cNvSpPr/>
          <p:nvPr/>
        </p:nvSpPr>
        <p:spPr>
          <a:xfrm>
            <a:off x="640080" y="1536192"/>
            <a:ext cx="10911535" cy="777240"/>
          </a:xfrm>
          <a:prstGeom prst="rect">
            <a:avLst/>
          </a:prstGeom>
          <a:noFill/>
          <a:ln/>
        </p:spPr>
        <p:txBody>
          <a:bodyPr wrap="square" lIns="0" tIns="0" rIns="0" bIns="0" rtlCol="0" anchor="t"/>
          <a:lstStyle/>
          <a:p>
            <a:pPr>
              <a:lnSpc>
                <a:spcPts val="1700"/>
              </a:lnSpc>
            </a:pPr>
            <a:r>
              <a:rPr lang="en-US" sz="1250" b="1" dirty="0">
                <a:solidFill>
                  <a:srgbClr val="201243"/>
                </a:solidFill>
                <a:latin typeface="Calibri" pitchFamily="34" charset="0"/>
                <a:ea typeface="Calibri" pitchFamily="34" charset="-122"/>
                <a:cs typeface="Calibri" pitchFamily="34" charset="-120"/>
              </a:rPr>
              <a:t>The same business, generating more cash. </a:t>
            </a:r>
            <a:r>
              <a:rPr lang="en-US" sz="1250" dirty="0">
                <a:solidFill>
                  <a:srgbClr val="3B3350"/>
                </a:solidFill>
                <a:latin typeface="Calibri" pitchFamily="34" charset="0"/>
                <a:ea typeface="Calibri" pitchFamily="34" charset="-122"/>
                <a:cs typeface="Calibri" pitchFamily="34" charset="-120"/>
              </a:rPr>
              <a:t>The </a:t>
            </a:r>
            <a:r>
              <a:rPr lang="en-US" sz="1250" dirty="0" err="1">
                <a:solidFill>
                  <a:srgbClr val="3B3350"/>
                </a:solidFill>
                <a:latin typeface="Calibri" pitchFamily="34" charset="0"/>
                <a:ea typeface="Calibri" pitchFamily="34" charset="-122"/>
                <a:cs typeface="Calibri" pitchFamily="34" charset="-120"/>
              </a:rPr>
              <a:t>RadX</a:t>
            </a:r>
            <a:r>
              <a:rPr lang="en-US" sz="1250" dirty="0">
                <a:solidFill>
                  <a:srgbClr val="3B3350"/>
                </a:solidFill>
                <a:latin typeface="Calibri" pitchFamily="34" charset="0"/>
                <a:ea typeface="Calibri" pitchFamily="34" charset="-122"/>
                <a:cs typeface="Calibri" pitchFamily="34" charset="-120"/>
              </a:rPr>
              <a:t> playbook lifts EBITDA at your center. Your ownership percentage stays the same, so the same slice is worth more.</a:t>
            </a:r>
            <a:endParaRPr lang="en-US" sz="1250" dirty="0"/>
          </a:p>
        </p:txBody>
      </p:sp>
      <p:sp>
        <p:nvSpPr>
          <p:cNvPr id="9" name="Text 7"/>
          <p:cNvSpPr/>
          <p:nvPr/>
        </p:nvSpPr>
        <p:spPr>
          <a:xfrm>
            <a:off x="635000" y="1795132"/>
            <a:ext cx="3746500" cy="381000"/>
          </a:xfrm>
          <a:prstGeom prst="rect">
            <a:avLst/>
          </a:prstGeom>
          <a:noFill/>
          <a:ln/>
        </p:spPr>
        <p:txBody>
          <a:bodyPr wrap="square" lIns="0" tIns="0" rIns="0" bIns="0" rtlCol="0" anchor="ctr"/>
          <a:lstStyle/>
          <a:p>
            <a:pPr marL="0" indent="0" algn="ctr">
              <a:lnSpc>
                <a:spcPts val="2400"/>
              </a:lnSpc>
              <a:buNone/>
            </a:pPr>
            <a:r>
              <a:rPr lang="en-US" sz="1500" b="1" dirty="0">
                <a:solidFill>
                  <a:srgbClr val="3B3350"/>
                </a:solidFill>
                <a:latin typeface="Calibri" pitchFamily="34" charset="0"/>
                <a:ea typeface="Calibri" pitchFamily="34" charset="-122"/>
                <a:cs typeface="Calibri" pitchFamily="34" charset="-120"/>
              </a:rPr>
              <a:t>AT CLOSE</a:t>
            </a:r>
          </a:p>
        </p:txBody>
      </p:sp>
      <p:sp>
        <p:nvSpPr>
          <p:cNvPr id="15" name="Text 13"/>
          <p:cNvSpPr/>
          <p:nvPr/>
        </p:nvSpPr>
        <p:spPr>
          <a:xfrm>
            <a:off x="4572000" y="1795132"/>
            <a:ext cx="3746500" cy="381000"/>
          </a:xfrm>
          <a:prstGeom prst="rect">
            <a:avLst/>
          </a:prstGeom>
          <a:noFill/>
          <a:ln/>
        </p:spPr>
        <p:txBody>
          <a:bodyPr wrap="square" lIns="0" tIns="0" rIns="0" bIns="0" rtlCol="0" anchor="ctr"/>
          <a:lstStyle/>
          <a:p>
            <a:pPr marL="0" indent="0" algn="ctr">
              <a:lnSpc>
                <a:spcPts val="2400"/>
              </a:lnSpc>
              <a:buNone/>
            </a:pPr>
            <a:r>
              <a:rPr lang="en-US" sz="2200" b="1" dirty="0">
                <a:solidFill>
                  <a:srgbClr val="6585C7"/>
                </a:solidFill>
                <a:latin typeface="Calibri" pitchFamily="34" charset="0"/>
                <a:ea typeface="Calibri" pitchFamily="34" charset="-122"/>
                <a:cs typeface="Calibri" pitchFamily="34" charset="-120"/>
              </a:rPr>
              <a:t>AFTER</a:t>
            </a:r>
            <a:r>
              <a:rPr lang="en-US" sz="1500" b="1" dirty="0">
                <a:solidFill>
                  <a:srgbClr val="3B3350"/>
                </a:solidFill>
                <a:latin typeface="Calibri" pitchFamily="34" charset="0"/>
                <a:ea typeface="Calibri" pitchFamily="34" charset="-122"/>
                <a:cs typeface="Calibri" pitchFamily="34" charset="-120"/>
              </a:rPr>
              <a:t> RADX IMPROVEMENTS (YEAR 2)</a:t>
            </a:r>
          </a:p>
        </p:txBody>
      </p:sp>
      <p:sp>
        <p:nvSpPr>
          <p:cNvPr id="18" name="Shape 16"/>
          <p:cNvSpPr/>
          <p:nvPr/>
        </p:nvSpPr>
        <p:spPr>
          <a:xfrm>
            <a:off x="8572500" y="2260600"/>
            <a:ext cx="2984500" cy="2222500"/>
          </a:xfrm>
          <a:prstGeom prst="roundRect">
            <a:avLst>
              <a:gd name="adj" fmla="val 1714"/>
            </a:avLst>
          </a:prstGeom>
          <a:solidFill>
            <a:srgbClr val="F3F6FC"/>
          </a:solidFill>
          <a:ln w="12700">
            <a:solidFill>
              <a:srgbClr val="E3E0EA"/>
            </a:solidFill>
            <a:prstDash val="solid"/>
          </a:ln>
        </p:spPr>
        <p:txBody>
          <a:bodyPr/>
          <a:lstStyle/>
          <a:p>
            <a:endParaRPr lang="en-US"/>
          </a:p>
        </p:txBody>
      </p:sp>
      <p:sp>
        <p:nvSpPr>
          <p:cNvPr id="19" name="Text 17"/>
          <p:cNvSpPr/>
          <p:nvPr/>
        </p:nvSpPr>
        <p:spPr>
          <a:xfrm>
            <a:off x="8801100" y="2438400"/>
            <a:ext cx="2527300" cy="254000"/>
          </a:xfrm>
          <a:prstGeom prst="rect">
            <a:avLst/>
          </a:prstGeom>
          <a:noFill/>
          <a:ln/>
        </p:spPr>
        <p:txBody>
          <a:bodyPr wrap="square" lIns="0" tIns="0" rIns="0" bIns="0" rtlCol="0" anchor="ctr"/>
          <a:lstStyle/>
          <a:p>
            <a:pPr marL="0" indent="0">
              <a:buNone/>
            </a:pPr>
            <a:r>
              <a:rPr lang="en-US" sz="1300" b="1" dirty="0">
                <a:solidFill>
                  <a:srgbClr val="201243"/>
                </a:solidFill>
                <a:latin typeface="Calibri" pitchFamily="34" charset="0"/>
                <a:ea typeface="Calibri" pitchFamily="34" charset="-122"/>
                <a:cs typeface="Calibri" pitchFamily="34" charset="-120"/>
              </a:rPr>
              <a:t>Benefits of Retaining Equity</a:t>
            </a:r>
          </a:p>
        </p:txBody>
      </p:sp>
      <p:sp>
        <p:nvSpPr>
          <p:cNvPr id="20" name="Text 18"/>
          <p:cNvSpPr/>
          <p:nvPr/>
        </p:nvSpPr>
        <p:spPr>
          <a:xfrm>
            <a:off x="8826500" y="2889697"/>
            <a:ext cx="2476500" cy="1600200"/>
          </a:xfrm>
          <a:prstGeom prst="rect">
            <a:avLst/>
          </a:prstGeom>
          <a:noFill/>
          <a:ln/>
        </p:spPr>
        <p:txBody>
          <a:bodyPr wrap="square" lIns="0" tIns="0" rIns="0" bIns="0" rtlCol="0" anchor="t"/>
          <a:lstStyle/>
          <a:p>
            <a:pPr marL="171450" indent="-171450">
              <a:lnSpc>
                <a:spcPts val="1400"/>
              </a:lnSpc>
              <a:spcAft>
                <a:spcPts val="800"/>
              </a:spcAft>
              <a:buSzPct val="100000"/>
              <a:buChar char="•"/>
            </a:pPr>
            <a:r>
              <a:rPr lang="en-US" sz="1100" dirty="0">
                <a:solidFill>
                  <a:srgbClr val="3B3350"/>
                </a:solidFill>
                <a:latin typeface="Calibri" pitchFamily="34" charset="0"/>
                <a:ea typeface="Calibri" pitchFamily="34" charset="-122"/>
                <a:cs typeface="Calibri" pitchFamily="34" charset="-120"/>
              </a:rPr>
              <a:t>Meaningful cash at close</a:t>
            </a:r>
          </a:p>
          <a:p>
            <a:pPr marL="171450" indent="-171450">
              <a:lnSpc>
                <a:spcPts val="1400"/>
              </a:lnSpc>
              <a:spcAft>
                <a:spcPts val="800"/>
              </a:spcAft>
              <a:buSzPct val="100000"/>
              <a:buChar char="•"/>
            </a:pPr>
            <a:r>
              <a:rPr lang="en-US" sz="1100" dirty="0">
                <a:solidFill>
                  <a:srgbClr val="3B3350"/>
                </a:solidFill>
                <a:latin typeface="Calibri" pitchFamily="34" charset="0"/>
                <a:ea typeface="Calibri" pitchFamily="34" charset="-122"/>
                <a:cs typeface="Calibri" pitchFamily="34" charset="-120"/>
              </a:rPr>
              <a:t>You keep 20% of your own center</a:t>
            </a:r>
          </a:p>
          <a:p>
            <a:pPr marL="171450" indent="-171450">
              <a:lnSpc>
                <a:spcPts val="1400"/>
              </a:lnSpc>
              <a:spcAft>
                <a:spcPts val="800"/>
              </a:spcAft>
              <a:buSzPct val="100000"/>
              <a:buChar char="•"/>
            </a:pPr>
            <a:r>
              <a:rPr lang="en-US" sz="1100" dirty="0">
                <a:solidFill>
                  <a:srgbClr val="3B3350"/>
                </a:solidFill>
                <a:latin typeface="Calibri" pitchFamily="34" charset="0"/>
                <a:ea typeface="Calibri" pitchFamily="34" charset="-122"/>
                <a:cs typeface="Calibri" pitchFamily="34" charset="-120"/>
              </a:rPr>
              <a:t>Distributions rise as cash flow grows</a:t>
            </a:r>
          </a:p>
          <a:p>
            <a:pPr marL="171450" indent="-171450">
              <a:lnSpc>
                <a:spcPts val="1400"/>
              </a:lnSpc>
              <a:spcAft>
                <a:spcPts val="800"/>
              </a:spcAft>
              <a:buSzPct val="100000"/>
              <a:buChar char="•"/>
            </a:pPr>
            <a:r>
              <a:rPr lang="en-US" sz="1100" dirty="0">
                <a:solidFill>
                  <a:srgbClr val="3B3350"/>
                </a:solidFill>
                <a:latin typeface="Calibri" pitchFamily="34" charset="0"/>
                <a:ea typeface="Calibri" pitchFamily="34" charset="-122"/>
                <a:cs typeface="Calibri" pitchFamily="34" charset="-120"/>
              </a:rPr>
              <a:t>Your 20% is worth more as EBITDA grows</a:t>
            </a:r>
          </a:p>
        </p:txBody>
      </p:sp>
      <p:sp>
        <p:nvSpPr>
          <p:cNvPr id="21" name="Text 19"/>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Illustrative example only. Assumes $1.0M of center EBITDA at close doubling to $2.0M within two years and a 6.0x EBITDA multiple on a retained 20% interest, consistent with the assumptions on the prior page. Annual cash flow continues until a sale of the center. </a:t>
            </a:r>
          </a:p>
        </p:txBody>
      </p:sp>
      <p:sp>
        <p:nvSpPr>
          <p:cNvPr id="22" name="Text 20"/>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3" name="Text 21"/>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4" name="Text 22"/>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14</a:t>
            </a:r>
            <a:endParaRPr lang="en-US" sz="1000" dirty="0"/>
          </a:p>
        </p:txBody>
      </p:sp>
      <p:graphicFrame>
        <p:nvGraphicFramePr>
          <p:cNvPr id="401" name="Pie Today"/>
          <p:cNvGraphicFramePr/>
          <p:nvPr/>
        </p:nvGraphicFramePr>
        <p:xfrm>
          <a:off x="1825625" y="3689350"/>
          <a:ext cx="1365250" cy="1365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02" name="Pie Improved"/>
          <p:cNvGraphicFramePr/>
          <p:nvPr/>
        </p:nvGraphicFramePr>
        <p:xfrm>
          <a:off x="5480050" y="3124200"/>
          <a:ext cx="1930400" cy="1930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PieTitleToday">
            <a:extLst>
              <a:ext uri="{FF2B5EF4-FFF2-40B4-BE49-F238E27FC236}">
                <a16:creationId xmlns:a16="http://schemas.microsoft.com/office/drawing/2014/main" id="{3D1DB569-26A8-46EA-8EE7-C8FB211D57AB}"/>
              </a:ext>
            </a:extLst>
          </p:cNvPr>
          <p:cNvSpPr txBox="1"/>
          <p:nvPr/>
        </p:nvSpPr>
        <p:spPr>
          <a:xfrm>
            <a:off x="635000" y="3276600"/>
            <a:ext cx="3746500" cy="304800"/>
          </a:xfrm>
          <a:prstGeom prst="rect">
            <a:avLst/>
          </a:prstGeom>
          <a:noFill/>
          <a:ln>
            <a:noFill/>
          </a:ln>
        </p:spPr>
        <p:txBody>
          <a:bodyPr vertOverflow="overflow" vert="horz" wrap="square" lIns="0" tIns="0" rIns="0" bIns="0" rtlCol="0" anchor="ctr" anchorCtr="0">
            <a:noAutofit/>
          </a:bodyPr>
          <a:lstStyle/>
          <a:p>
            <a:pPr marL="0" indent="0" algn="ctr">
              <a:lnSpc>
                <a:spcPts val="2000"/>
              </a:lnSpc>
              <a:buNone/>
            </a:pPr>
            <a:r>
              <a:rPr lang="en-US" sz="1500" b="1" dirty="0">
                <a:solidFill>
                  <a:srgbClr val="201243"/>
                </a:solidFill>
                <a:latin typeface="Calibri" pitchFamily="34" charset="0"/>
                <a:ea typeface="Calibri" pitchFamily="34" charset="-122"/>
                <a:cs typeface="Calibri" pitchFamily="34" charset="-120"/>
              </a:rPr>
              <a:t>$1.0M of EBITDA</a:t>
            </a:r>
          </a:p>
        </p:txBody>
      </p:sp>
      <p:sp>
        <p:nvSpPr>
          <p:cNvPr id="12" name="PieCalloutToday">
            <a:extLst>
              <a:ext uri="{FF2B5EF4-FFF2-40B4-BE49-F238E27FC236}">
                <a16:creationId xmlns:a16="http://schemas.microsoft.com/office/drawing/2014/main" id="{54610266-56EA-45C1-B4C1-76599372FC6D}"/>
              </a:ext>
            </a:extLst>
          </p:cNvPr>
          <p:cNvSpPr/>
          <p:nvPr/>
        </p:nvSpPr>
        <p:spPr>
          <a:xfrm>
            <a:off x="635000" y="5156200"/>
            <a:ext cx="3746500" cy="711200"/>
          </a:xfrm>
          <a:prstGeom prst="round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45720" tIns="45720" rIns="45720" bIns="45720" rtlCol="0" anchor="ctr" anchorCtr="0">
            <a:noAutofit/>
          </a:bodyPr>
          <a:lstStyle/>
          <a:p>
            <a:pPr algn="ctr">
              <a:lnSpc>
                <a:spcPts val="2400"/>
              </a:lnSpc>
            </a:pPr>
            <a:r>
              <a:rPr lang="en-US" sz="2200" b="1" dirty="0">
                <a:solidFill>
                  <a:srgbClr val="6585C7"/>
                </a:solidFill>
                <a:latin typeface="Calibri" pitchFamily="34" charset="0"/>
                <a:ea typeface="Calibri" pitchFamily="34" charset="-122"/>
                <a:cs typeface="Calibri" pitchFamily="34" charset="-120"/>
              </a:rPr>
              <a:t>$1.2M</a:t>
            </a:r>
            <a:r>
              <a:rPr lang="en-US" sz="1200" dirty="0">
                <a:solidFill>
                  <a:srgbClr val="3B3350"/>
                </a:solidFill>
                <a:latin typeface="Calibri" pitchFamily="34" charset="0"/>
                <a:ea typeface="Calibri" pitchFamily="34" charset="-122"/>
                <a:cs typeface="Calibri" pitchFamily="34" charset="-120"/>
              </a:rPr>
              <a:t> retained equity value (6.0x EBITDA)</a:t>
            </a:r>
          </a:p>
          <a:p>
            <a:pPr marL="0" indent="0" algn="ctr">
              <a:lnSpc>
                <a:spcPts val="1800"/>
              </a:lnSpc>
              <a:buNone/>
            </a:pPr>
            <a:r>
              <a:rPr lang="en-US" sz="1400" b="1" dirty="0">
                <a:solidFill>
                  <a:srgbClr val="201243"/>
                </a:solidFill>
                <a:latin typeface="Calibri" pitchFamily="34" charset="0"/>
                <a:ea typeface="Calibri" pitchFamily="34" charset="-122"/>
                <a:cs typeface="Calibri" pitchFamily="34" charset="-120"/>
              </a:rPr>
              <a:t>plus $200K per year (20% of EBITDA)</a:t>
            </a:r>
          </a:p>
        </p:txBody>
      </p:sp>
      <p:sp>
        <p:nvSpPr>
          <p:cNvPr id="13" name="PieTitleImproved">
            <a:extLst>
              <a:ext uri="{FF2B5EF4-FFF2-40B4-BE49-F238E27FC236}">
                <a16:creationId xmlns:a16="http://schemas.microsoft.com/office/drawing/2014/main" id="{230AE36C-16FA-4CD8-AAD3-1C9E1E1AA03B}"/>
              </a:ext>
            </a:extLst>
          </p:cNvPr>
          <p:cNvSpPr txBox="1"/>
          <p:nvPr/>
        </p:nvSpPr>
        <p:spPr>
          <a:xfrm>
            <a:off x="4572000" y="2794000"/>
            <a:ext cx="3746500" cy="304800"/>
          </a:xfrm>
          <a:prstGeom prst="rect">
            <a:avLst/>
          </a:prstGeom>
          <a:noFill/>
          <a:ln>
            <a:noFill/>
          </a:ln>
        </p:spPr>
        <p:txBody>
          <a:bodyPr vertOverflow="overflow" vert="horz" wrap="square" lIns="0" tIns="0" rIns="0" bIns="0" rtlCol="0" anchor="ctr" anchorCtr="0">
            <a:noAutofit/>
          </a:bodyPr>
          <a:lstStyle/>
          <a:p>
            <a:pPr marL="0" indent="0" algn="ctr">
              <a:lnSpc>
                <a:spcPts val="2000"/>
              </a:lnSpc>
              <a:buNone/>
            </a:pPr>
            <a:r>
              <a:rPr lang="en-US" sz="1500" b="1" dirty="0">
                <a:solidFill>
                  <a:srgbClr val="201243"/>
                </a:solidFill>
                <a:latin typeface="Calibri" pitchFamily="34" charset="0"/>
                <a:ea typeface="Calibri" pitchFamily="34" charset="-122"/>
                <a:cs typeface="Calibri" pitchFamily="34" charset="-120"/>
              </a:rPr>
              <a:t>$2.0M of EBITDA</a:t>
            </a:r>
          </a:p>
        </p:txBody>
      </p:sp>
      <p:sp>
        <p:nvSpPr>
          <p:cNvPr id="14" name="PieCalloutImproved">
            <a:extLst>
              <a:ext uri="{FF2B5EF4-FFF2-40B4-BE49-F238E27FC236}">
                <a16:creationId xmlns:a16="http://schemas.microsoft.com/office/drawing/2014/main" id="{9448A1E9-D0BA-4BEC-9175-7995602EFB9D}"/>
              </a:ext>
            </a:extLst>
          </p:cNvPr>
          <p:cNvSpPr/>
          <p:nvPr/>
        </p:nvSpPr>
        <p:spPr>
          <a:xfrm>
            <a:off x="4572000" y="5156200"/>
            <a:ext cx="3746500" cy="711200"/>
          </a:xfrm>
          <a:prstGeom prst="round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45720" tIns="45720" rIns="45720" bIns="45720" rtlCol="0" anchor="ctr" anchorCtr="0">
            <a:noAutofit/>
          </a:bodyPr>
          <a:lstStyle/>
          <a:p>
            <a:pPr marL="0" indent="0" algn="ctr">
              <a:lnSpc>
                <a:spcPts val="2400"/>
              </a:lnSpc>
              <a:buNone/>
            </a:pPr>
            <a:r>
              <a:rPr lang="en-US" sz="2200" b="1" dirty="0">
                <a:solidFill>
                  <a:srgbClr val="6585C7"/>
                </a:solidFill>
                <a:latin typeface="Calibri" pitchFamily="34" charset="0"/>
                <a:ea typeface="Calibri" pitchFamily="34" charset="-122"/>
                <a:cs typeface="Calibri" pitchFamily="34" charset="-120"/>
              </a:rPr>
              <a:t>$2.4M</a:t>
            </a:r>
            <a:r>
              <a:rPr lang="en-US" sz="1200" dirty="0">
                <a:solidFill>
                  <a:srgbClr val="3B3350"/>
                </a:solidFill>
                <a:latin typeface="Calibri" pitchFamily="34" charset="0"/>
                <a:ea typeface="Calibri" pitchFamily="34" charset="-122"/>
                <a:cs typeface="Calibri" pitchFamily="34" charset="-120"/>
              </a:rPr>
              <a:t> retained equity value (6.0x EBITDA)</a:t>
            </a:r>
          </a:p>
          <a:p>
            <a:pPr marL="0" indent="0" algn="ctr">
              <a:lnSpc>
                <a:spcPts val="1800"/>
              </a:lnSpc>
              <a:buNone/>
            </a:pPr>
            <a:r>
              <a:rPr lang="en-US" sz="1400" b="1" dirty="0">
                <a:solidFill>
                  <a:srgbClr val="201243"/>
                </a:solidFill>
                <a:latin typeface="Calibri" pitchFamily="34" charset="0"/>
                <a:ea typeface="Calibri" pitchFamily="34" charset="-122"/>
                <a:cs typeface="Calibri" pitchFamily="34" charset="-120"/>
              </a:rPr>
              <a:t>plus $400K per year (20% of EBITDA)</a:t>
            </a:r>
          </a:p>
        </p:txBody>
      </p:sp>
      <p:sp>
        <p:nvSpPr>
          <p:cNvPr id="8" name="PieTitleToday">
            <a:extLst>
              <a:ext uri="{FF2B5EF4-FFF2-40B4-BE49-F238E27FC236}">
                <a16:creationId xmlns:a16="http://schemas.microsoft.com/office/drawing/2014/main" id="{0793925E-0B4F-EAA9-0573-D97C869FB135}"/>
              </a:ext>
            </a:extLst>
          </p:cNvPr>
          <p:cNvSpPr txBox="1"/>
          <p:nvPr/>
        </p:nvSpPr>
        <p:spPr>
          <a:xfrm>
            <a:off x="3063875" y="3672332"/>
            <a:ext cx="990600" cy="431800"/>
          </a:xfrm>
          <a:prstGeom prst="rect">
            <a:avLst/>
          </a:prstGeom>
          <a:noFill/>
          <a:ln>
            <a:noFill/>
          </a:ln>
        </p:spPr>
        <p:txBody>
          <a:bodyPr vertOverflow="overflow" vert="horz" wrap="square" lIns="0" tIns="0" rIns="0" bIns="0" rtlCol="0" anchor="ctr" anchorCtr="0">
            <a:noAutofit/>
          </a:bodyPr>
          <a:lstStyle/>
          <a:p>
            <a:pPr marL="0" indent="0" algn="ctr">
              <a:lnSpc>
                <a:spcPts val="1800"/>
              </a:lnSpc>
              <a:buNone/>
            </a:pPr>
            <a:r>
              <a:rPr lang="en-US" sz="1700" b="1" dirty="0">
                <a:solidFill>
                  <a:srgbClr val="6585C7"/>
                </a:solidFill>
                <a:latin typeface="Calibri" pitchFamily="34" charset="0"/>
                <a:ea typeface="Calibri" pitchFamily="34" charset="-122"/>
                <a:cs typeface="Calibri" pitchFamily="34" charset="-120"/>
              </a:rPr>
              <a:t>20%</a:t>
            </a:r>
          </a:p>
          <a:p>
            <a:pPr marL="0" indent="0" algn="ctr">
              <a:lnSpc>
                <a:spcPts val="1300"/>
              </a:lnSpc>
              <a:buNone/>
            </a:pPr>
            <a:r>
              <a:rPr lang="en-US" sz="1100" b="1" dirty="0">
                <a:solidFill>
                  <a:srgbClr val="6585C7"/>
                </a:solidFill>
                <a:latin typeface="Calibri" pitchFamily="34" charset="0"/>
                <a:ea typeface="Calibri" pitchFamily="34" charset="-122"/>
                <a:cs typeface="Calibri" pitchFamily="34" charset="-120"/>
              </a:rPr>
              <a:t>Retained</a:t>
            </a:r>
          </a:p>
          <a:p>
            <a:pPr marL="0" indent="0" algn="ctr">
              <a:lnSpc>
                <a:spcPts val="1300"/>
              </a:lnSpc>
              <a:buNone/>
            </a:pPr>
            <a:r>
              <a:rPr lang="en-US" sz="1100" b="1" dirty="0">
                <a:solidFill>
                  <a:srgbClr val="6585C7"/>
                </a:solidFill>
                <a:latin typeface="Calibri" pitchFamily="34" charset="0"/>
                <a:ea typeface="Calibri" pitchFamily="34" charset="-122"/>
                <a:cs typeface="Calibri" pitchFamily="34" charset="-120"/>
              </a:rPr>
              <a:t>Ownership</a:t>
            </a:r>
          </a:p>
        </p:txBody>
      </p:sp>
      <p:sp>
        <p:nvSpPr>
          <p:cNvPr id="10" name="PieTitleToday">
            <a:extLst>
              <a:ext uri="{FF2B5EF4-FFF2-40B4-BE49-F238E27FC236}">
                <a16:creationId xmlns:a16="http://schemas.microsoft.com/office/drawing/2014/main" id="{ABD5A102-E0EA-7581-D3C2-A223A80BBD81}"/>
              </a:ext>
            </a:extLst>
          </p:cNvPr>
          <p:cNvSpPr txBox="1"/>
          <p:nvPr/>
        </p:nvSpPr>
        <p:spPr>
          <a:xfrm>
            <a:off x="7169150" y="3147237"/>
            <a:ext cx="990600" cy="431800"/>
          </a:xfrm>
          <a:prstGeom prst="rect">
            <a:avLst/>
          </a:prstGeom>
          <a:noFill/>
          <a:ln>
            <a:noFill/>
          </a:ln>
        </p:spPr>
        <p:txBody>
          <a:bodyPr vertOverflow="overflow" vert="horz" wrap="square" lIns="0" tIns="0" rIns="0" bIns="0" rtlCol="0" anchor="ctr" anchorCtr="0">
            <a:noAutofit/>
          </a:bodyPr>
          <a:lstStyle/>
          <a:p>
            <a:pPr marL="0" indent="0" algn="ctr">
              <a:lnSpc>
                <a:spcPts val="1800"/>
              </a:lnSpc>
              <a:buNone/>
            </a:pPr>
            <a:r>
              <a:rPr lang="en-US" sz="1700" b="1" dirty="0">
                <a:solidFill>
                  <a:srgbClr val="6585C7"/>
                </a:solidFill>
                <a:latin typeface="Calibri" pitchFamily="34" charset="0"/>
                <a:ea typeface="Calibri" pitchFamily="34" charset="-122"/>
                <a:cs typeface="Calibri" pitchFamily="34" charset="-120"/>
              </a:rPr>
              <a:t>20%</a:t>
            </a:r>
          </a:p>
          <a:p>
            <a:pPr marL="0" indent="0" algn="ctr">
              <a:lnSpc>
                <a:spcPts val="1300"/>
              </a:lnSpc>
              <a:buNone/>
            </a:pPr>
            <a:r>
              <a:rPr lang="en-US" sz="1100" b="1" dirty="0">
                <a:solidFill>
                  <a:srgbClr val="6585C7"/>
                </a:solidFill>
                <a:latin typeface="Calibri" pitchFamily="34" charset="0"/>
                <a:ea typeface="Calibri" pitchFamily="34" charset="-122"/>
                <a:cs typeface="Calibri" pitchFamily="34" charset="-120"/>
              </a:rPr>
              <a:t>Retained</a:t>
            </a:r>
          </a:p>
          <a:p>
            <a:pPr marL="0" indent="0" algn="ctr">
              <a:lnSpc>
                <a:spcPts val="1300"/>
              </a:lnSpc>
              <a:buNone/>
            </a:pPr>
            <a:r>
              <a:rPr lang="en-US" sz="1100" b="1" dirty="0">
                <a:solidFill>
                  <a:srgbClr val="6585C7"/>
                </a:solidFill>
                <a:latin typeface="Calibri" pitchFamily="34" charset="0"/>
                <a:ea typeface="Calibri" pitchFamily="34" charset="-122"/>
                <a:cs typeface="Calibri" pitchFamily="34" charset="-120"/>
              </a:rPr>
              <a:t>Ownership</a:t>
            </a:r>
          </a:p>
        </p:txBody>
      </p:sp>
      <p:sp>
        <p:nvSpPr>
          <p:cNvPr id="17" name="CalloutAccent12">
            <a:extLst>
              <a:ext uri="{FF2B5EF4-FFF2-40B4-BE49-F238E27FC236}">
                <a16:creationId xmlns:a16="http://schemas.microsoft.com/office/drawing/2014/main" id="{B0C2E82A-03A1-4CFF-9CB7-055E659A2E6C}"/>
              </a:ext>
            </a:extLst>
          </p:cNvPr>
          <p:cNvSpPr/>
          <p:nvPr/>
        </p:nvSpPr>
        <p:spPr>
          <a:xfrm>
            <a:off x="635000" y="5156200"/>
            <a:ext cx="37465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CalloutAccent14">
            <a:extLst>
              <a:ext uri="{FF2B5EF4-FFF2-40B4-BE49-F238E27FC236}">
                <a16:creationId xmlns:a16="http://schemas.microsoft.com/office/drawing/2014/main" id="{E1354C0B-567C-4DFA-B13B-37228E5ABF2F}"/>
              </a:ext>
            </a:extLst>
          </p:cNvPr>
          <p:cNvSpPr/>
          <p:nvPr/>
        </p:nvSpPr>
        <p:spPr>
          <a:xfrm>
            <a:off x="4572000" y="5156200"/>
            <a:ext cx="37465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Arrow: Right 28">
            <a:extLst>
              <a:ext uri="{FF2B5EF4-FFF2-40B4-BE49-F238E27FC236}">
                <a16:creationId xmlns:a16="http://schemas.microsoft.com/office/drawing/2014/main" id="{F33A9A94-8755-B34F-78F6-EB998E1169AA}"/>
              </a:ext>
            </a:extLst>
          </p:cNvPr>
          <p:cNvSpPr/>
          <p:nvPr/>
        </p:nvSpPr>
        <p:spPr>
          <a:xfrm>
            <a:off x="4635500" y="3911600"/>
            <a:ext cx="431800" cy="635000"/>
          </a:xfrm>
          <a:prstGeom prst="rightArrow">
            <a:avLst/>
          </a:prstGeom>
          <a:solidFill>
            <a:srgbClr val="6585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alloutAccent12">
            <a:extLst>
              <a:ext uri="{FF2B5EF4-FFF2-40B4-BE49-F238E27FC236}">
                <a16:creationId xmlns:a16="http://schemas.microsoft.com/office/drawing/2014/main" id="{EF8C6730-DE60-155B-F291-BE436E75D600}"/>
              </a:ext>
            </a:extLst>
          </p:cNvPr>
          <p:cNvSpPr/>
          <p:nvPr/>
        </p:nvSpPr>
        <p:spPr>
          <a:xfrm>
            <a:off x="635000" y="2146300"/>
            <a:ext cx="37465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CalloutAccent14">
            <a:extLst>
              <a:ext uri="{FF2B5EF4-FFF2-40B4-BE49-F238E27FC236}">
                <a16:creationId xmlns:a16="http://schemas.microsoft.com/office/drawing/2014/main" id="{D2111C64-7F23-C5A7-6C30-3695B4E42FCD}"/>
              </a:ext>
            </a:extLst>
          </p:cNvPr>
          <p:cNvSpPr/>
          <p:nvPr/>
        </p:nvSpPr>
        <p:spPr>
          <a:xfrm>
            <a:off x="4572000" y="2146300"/>
            <a:ext cx="37465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ExplainClose">
            <a:extLst>
              <a:ext uri="{FF2B5EF4-FFF2-40B4-BE49-F238E27FC236}">
                <a16:creationId xmlns:a16="http://schemas.microsoft.com/office/drawing/2014/main" id="{E132567B-3C1B-49B5-ADB7-EDFA1B99DF08}"/>
              </a:ext>
            </a:extLst>
          </p:cNvPr>
          <p:cNvSpPr txBox="1"/>
          <p:nvPr/>
        </p:nvSpPr>
        <p:spPr>
          <a:xfrm>
            <a:off x="635000" y="2260600"/>
            <a:ext cx="3746500" cy="431800"/>
          </a:xfrm>
          <a:prstGeom prst="rect">
            <a:avLst/>
          </a:prstGeom>
          <a:noFill/>
        </p:spPr>
        <p:txBody>
          <a:bodyPr vertOverflow="overflow" vert="horz" wrap="square" rtlCol="0" anchor="t" anchorCtr="0">
            <a:noAutofit/>
          </a:bodyPr>
          <a:lstStyle/>
          <a:p>
            <a:pPr algn="l"/>
            <a:r>
              <a:rPr lang="en-US" sz="1100" dirty="0" err="1">
                <a:solidFill>
                  <a:srgbClr val="3B3350"/>
                </a:solidFill>
                <a:latin typeface="Calibri"/>
                <a:ea typeface="Calibri"/>
                <a:cs typeface="Calibri"/>
              </a:rPr>
              <a:t>RadX</a:t>
            </a:r>
            <a:r>
              <a:rPr lang="en-US" sz="1100" dirty="0">
                <a:solidFill>
                  <a:srgbClr val="3B3350"/>
                </a:solidFill>
                <a:latin typeface="Calibri"/>
                <a:ea typeface="Calibri"/>
                <a:cs typeface="Calibri"/>
              </a:rPr>
              <a:t> acquires 80% of the equity in your center for $4.8M of cash at close and the Seller retains 20% of the equity value</a:t>
            </a:r>
          </a:p>
        </p:txBody>
      </p:sp>
      <p:sp>
        <p:nvSpPr>
          <p:cNvPr id="16" name="ExplainAfter">
            <a:extLst>
              <a:ext uri="{FF2B5EF4-FFF2-40B4-BE49-F238E27FC236}">
                <a16:creationId xmlns:a16="http://schemas.microsoft.com/office/drawing/2014/main" id="{D847F38D-8F13-436A-8CC3-FBE59A4121D9}"/>
              </a:ext>
            </a:extLst>
          </p:cNvPr>
          <p:cNvSpPr txBox="1"/>
          <p:nvPr/>
        </p:nvSpPr>
        <p:spPr>
          <a:xfrm>
            <a:off x="4572000" y="2260600"/>
            <a:ext cx="3746500" cy="431800"/>
          </a:xfrm>
          <a:prstGeom prst="rect">
            <a:avLst/>
          </a:prstGeom>
          <a:noFill/>
        </p:spPr>
        <p:txBody>
          <a:bodyPr vertOverflow="overflow" vert="horz" wrap="square" rtlCol="0" anchor="t" anchorCtr="0">
            <a:noAutofit/>
          </a:bodyPr>
          <a:lstStyle/>
          <a:p>
            <a:pPr algn="l"/>
            <a:r>
              <a:rPr lang="en-US" sz="1100" dirty="0">
                <a:solidFill>
                  <a:srgbClr val="3B3350"/>
                </a:solidFill>
                <a:latin typeface="Calibri"/>
                <a:ea typeface="Calibri"/>
                <a:cs typeface="Calibri"/>
              </a:rPr>
              <a:t>The </a:t>
            </a:r>
            <a:r>
              <a:rPr lang="en-US" sz="1100" dirty="0" err="1">
                <a:solidFill>
                  <a:srgbClr val="3B3350"/>
                </a:solidFill>
                <a:latin typeface="Calibri"/>
                <a:ea typeface="Calibri"/>
                <a:cs typeface="Calibri"/>
              </a:rPr>
              <a:t>RadX</a:t>
            </a:r>
            <a:r>
              <a:rPr lang="en-US" sz="1100" dirty="0">
                <a:solidFill>
                  <a:srgbClr val="3B3350"/>
                </a:solidFill>
                <a:latin typeface="Calibri"/>
                <a:ea typeface="Calibri"/>
                <a:cs typeface="Calibri"/>
              </a:rPr>
              <a:t> operating playbook grows the business, lifting center EBITDA to $2.0M within two years</a:t>
            </a:r>
          </a:p>
        </p:txBody>
      </p:sp>
    </p:spTree>
    <p:extLst>
      <p:ext uri="{BB962C8B-B14F-4D97-AF65-F5344CB8AC3E}">
        <p14:creationId xmlns:p14="http://schemas.microsoft.com/office/powerpoint/2010/main" val="3200241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Path to Close</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RadX is prepared to move from signed LOI to closing in approximately 5 weeks</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822960" y="3401568"/>
            <a:ext cx="10545775" cy="32004"/>
          </a:xfrm>
          <a:prstGeom prst="rect">
            <a:avLst/>
          </a:prstGeom>
          <a:solidFill>
            <a:srgbClr val="201243"/>
          </a:solidFill>
          <a:ln/>
        </p:spPr>
        <p:txBody>
          <a:bodyPr/>
          <a:lstStyle/>
          <a:p>
            <a:endParaRPr lang="en-US"/>
          </a:p>
        </p:txBody>
      </p:sp>
      <p:sp>
        <p:nvSpPr>
          <p:cNvPr id="7" name="Shape 5"/>
          <p:cNvSpPr/>
          <p:nvPr/>
        </p:nvSpPr>
        <p:spPr>
          <a:xfrm>
            <a:off x="1197864"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8" name="Text 6"/>
          <p:cNvSpPr/>
          <p:nvPr/>
        </p:nvSpPr>
        <p:spPr>
          <a:xfrm>
            <a:off x="521208" y="296265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Today</a:t>
            </a:r>
            <a:endParaRPr lang="en-US" sz="1050" dirty="0"/>
          </a:p>
        </p:txBody>
      </p:sp>
      <p:sp>
        <p:nvSpPr>
          <p:cNvPr id="9" name="Shape 7"/>
          <p:cNvSpPr/>
          <p:nvPr/>
        </p:nvSpPr>
        <p:spPr>
          <a:xfrm>
            <a:off x="466344" y="1636776"/>
            <a:ext cx="1664208" cy="1261872"/>
          </a:xfrm>
          <a:prstGeom prst="roundRect">
            <a:avLst>
              <a:gd name="adj" fmla="val 4348"/>
            </a:avLst>
          </a:prstGeom>
          <a:solidFill>
            <a:srgbClr val="F3F6FC"/>
          </a:solidFill>
          <a:ln w="12700">
            <a:solidFill>
              <a:srgbClr val="D7D3DE"/>
            </a:solidFill>
            <a:prstDash val="solid"/>
          </a:ln>
        </p:spPr>
        <p:txBody>
          <a:bodyPr/>
          <a:lstStyle/>
          <a:p>
            <a:endParaRPr lang="en-US"/>
          </a:p>
        </p:txBody>
      </p:sp>
      <p:sp>
        <p:nvSpPr>
          <p:cNvPr id="10" name="Text 8"/>
          <p:cNvSpPr/>
          <p:nvPr/>
        </p:nvSpPr>
        <p:spPr>
          <a:xfrm>
            <a:off x="557784" y="1737360"/>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Indication of Interest</a:t>
            </a:r>
            <a:endParaRPr lang="en-US" sz="1050" dirty="0"/>
          </a:p>
        </p:txBody>
      </p:sp>
      <p:sp>
        <p:nvSpPr>
          <p:cNvPr id="11" name="Text 9"/>
          <p:cNvSpPr/>
          <p:nvPr/>
        </p:nvSpPr>
        <p:spPr>
          <a:xfrm>
            <a:off x="557784" y="2167128"/>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Preliminary terms shared and mutual fit discussion</a:t>
            </a:r>
            <a:endParaRPr lang="en-US" sz="850" dirty="0"/>
          </a:p>
        </p:txBody>
      </p:sp>
      <p:sp>
        <p:nvSpPr>
          <p:cNvPr id="12" name="Shape 10"/>
          <p:cNvSpPr/>
          <p:nvPr/>
        </p:nvSpPr>
        <p:spPr>
          <a:xfrm>
            <a:off x="3596564" y="3319272"/>
            <a:ext cx="201168" cy="201168"/>
          </a:xfrm>
          <a:prstGeom prst="ellipse">
            <a:avLst/>
          </a:prstGeom>
          <a:solidFill>
            <a:srgbClr val="825B90"/>
          </a:solidFill>
          <a:ln w="25400">
            <a:solidFill>
              <a:srgbClr val="FFFFFF"/>
            </a:solidFill>
            <a:prstDash val="solid"/>
          </a:ln>
        </p:spPr>
        <p:txBody>
          <a:bodyPr/>
          <a:lstStyle/>
          <a:p>
            <a:endParaRPr lang="en-US"/>
          </a:p>
        </p:txBody>
      </p:sp>
      <p:grpSp>
        <p:nvGrpSpPr>
          <p:cNvPr id="43" name="Group 42">
            <a:extLst>
              <a:ext uri="{FF2B5EF4-FFF2-40B4-BE49-F238E27FC236}">
                <a16:creationId xmlns:a16="http://schemas.microsoft.com/office/drawing/2014/main" id="{A4819886-2666-7B48-5337-A69408940B61}"/>
              </a:ext>
            </a:extLst>
          </p:cNvPr>
          <p:cNvGrpSpPr/>
          <p:nvPr/>
        </p:nvGrpSpPr>
        <p:grpSpPr>
          <a:xfrm>
            <a:off x="2863771" y="3602736"/>
            <a:ext cx="1664208" cy="1591056"/>
            <a:chOff x="2385304" y="3602736"/>
            <a:chExt cx="1664208" cy="1591056"/>
          </a:xfrm>
        </p:grpSpPr>
        <p:sp>
          <p:nvSpPr>
            <p:cNvPr id="13" name="Text 11"/>
            <p:cNvSpPr/>
            <p:nvPr/>
          </p:nvSpPr>
          <p:spPr>
            <a:xfrm>
              <a:off x="2440168" y="3602736"/>
              <a:ext cx="1554480" cy="256032"/>
            </a:xfrm>
            <a:prstGeom prst="rect">
              <a:avLst/>
            </a:prstGeom>
            <a:noFill/>
            <a:ln/>
          </p:spPr>
          <p:txBody>
            <a:bodyPr wrap="square" lIns="0" tIns="0" rIns="0" bIns="0" rtlCol="0" anchor="ctr"/>
            <a:lstStyle/>
            <a:p>
              <a:pPr algn="ctr"/>
              <a:r>
                <a:rPr lang="en-US" sz="1050" b="1" dirty="0">
                  <a:solidFill>
                    <a:srgbClr val="201243"/>
                  </a:solidFill>
                  <a:latin typeface="Calibri" pitchFamily="34" charset="0"/>
                  <a:ea typeface="Calibri" pitchFamily="34" charset="-122"/>
                  <a:cs typeface="Calibri" pitchFamily="34" charset="-120"/>
                </a:rPr>
                <a:t>Weeks 1 – 2</a:t>
              </a:r>
              <a:endParaRPr lang="en-US" sz="1050" dirty="0"/>
            </a:p>
          </p:txBody>
        </p:sp>
        <p:sp>
          <p:nvSpPr>
            <p:cNvPr id="14" name="Shape 12"/>
            <p:cNvSpPr/>
            <p:nvPr/>
          </p:nvSpPr>
          <p:spPr>
            <a:xfrm>
              <a:off x="2385304" y="3931920"/>
              <a:ext cx="1664208" cy="1261872"/>
            </a:xfrm>
            <a:prstGeom prst="roundRect">
              <a:avLst>
                <a:gd name="adj" fmla="val 4348"/>
              </a:avLst>
            </a:prstGeom>
            <a:solidFill>
              <a:srgbClr val="FFFFFF"/>
            </a:solidFill>
            <a:ln w="12700">
              <a:solidFill>
                <a:srgbClr val="D7D3DE"/>
              </a:solidFill>
              <a:prstDash val="solid"/>
            </a:ln>
          </p:spPr>
          <p:txBody>
            <a:bodyPr/>
            <a:lstStyle/>
            <a:p>
              <a:endParaRPr lang="en-US"/>
            </a:p>
          </p:txBody>
        </p:sp>
        <p:sp>
          <p:nvSpPr>
            <p:cNvPr id="15" name="Text 13"/>
            <p:cNvSpPr/>
            <p:nvPr/>
          </p:nvSpPr>
          <p:spPr>
            <a:xfrm>
              <a:off x="2476744" y="4032504"/>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Signed LOI &amp; Exclusivity</a:t>
              </a:r>
              <a:endParaRPr lang="en-US" sz="1050" dirty="0"/>
            </a:p>
          </p:txBody>
        </p:sp>
        <p:sp>
          <p:nvSpPr>
            <p:cNvPr id="16" name="Text 14"/>
            <p:cNvSpPr/>
            <p:nvPr/>
          </p:nvSpPr>
          <p:spPr>
            <a:xfrm>
              <a:off x="2476744" y="4462272"/>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Economics and structure agreed; diligence period begins</a:t>
              </a:r>
              <a:endParaRPr lang="en-US" sz="850" dirty="0"/>
            </a:p>
          </p:txBody>
        </p:sp>
      </p:grpSp>
      <p:sp>
        <p:nvSpPr>
          <p:cNvPr id="17" name="Shape 15"/>
          <p:cNvSpPr/>
          <p:nvPr/>
        </p:nvSpPr>
        <p:spPr>
          <a:xfrm>
            <a:off x="5995264" y="3319272"/>
            <a:ext cx="201168" cy="201168"/>
          </a:xfrm>
          <a:prstGeom prst="ellipse">
            <a:avLst/>
          </a:prstGeom>
          <a:solidFill>
            <a:srgbClr val="825B90"/>
          </a:solidFill>
          <a:ln w="25400">
            <a:solidFill>
              <a:srgbClr val="FFFFFF"/>
            </a:solidFill>
            <a:prstDash val="solid"/>
          </a:ln>
        </p:spPr>
        <p:txBody>
          <a:bodyPr/>
          <a:lstStyle/>
          <a:p>
            <a:endParaRPr lang="en-US"/>
          </a:p>
        </p:txBody>
      </p:sp>
      <p:grpSp>
        <p:nvGrpSpPr>
          <p:cNvPr id="44" name="Group 43">
            <a:extLst>
              <a:ext uri="{FF2B5EF4-FFF2-40B4-BE49-F238E27FC236}">
                <a16:creationId xmlns:a16="http://schemas.microsoft.com/office/drawing/2014/main" id="{D269FF28-3574-E6FD-626F-81E306820D66}"/>
              </a:ext>
            </a:extLst>
          </p:cNvPr>
          <p:cNvGrpSpPr/>
          <p:nvPr/>
        </p:nvGrpSpPr>
        <p:grpSpPr>
          <a:xfrm>
            <a:off x="5261199" y="1636776"/>
            <a:ext cx="1664208" cy="1581912"/>
            <a:chOff x="4304264" y="1636776"/>
            <a:chExt cx="1664208" cy="1581912"/>
          </a:xfrm>
        </p:grpSpPr>
        <p:sp>
          <p:nvSpPr>
            <p:cNvPr id="18" name="Text 16"/>
            <p:cNvSpPr/>
            <p:nvPr/>
          </p:nvSpPr>
          <p:spPr>
            <a:xfrm>
              <a:off x="4359128" y="296265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Week 3</a:t>
              </a:r>
              <a:endParaRPr lang="en-US" sz="1050" dirty="0"/>
            </a:p>
          </p:txBody>
        </p:sp>
        <p:sp>
          <p:nvSpPr>
            <p:cNvPr id="19" name="Shape 17"/>
            <p:cNvSpPr/>
            <p:nvPr/>
          </p:nvSpPr>
          <p:spPr>
            <a:xfrm>
              <a:off x="4304264" y="1636776"/>
              <a:ext cx="1664208" cy="1261872"/>
            </a:xfrm>
            <a:prstGeom prst="roundRect">
              <a:avLst>
                <a:gd name="adj" fmla="val 4348"/>
              </a:avLst>
            </a:prstGeom>
            <a:solidFill>
              <a:srgbClr val="F3F6FC"/>
            </a:solidFill>
            <a:ln w="12700">
              <a:solidFill>
                <a:srgbClr val="D7D3DE"/>
              </a:solidFill>
              <a:prstDash val="solid"/>
            </a:ln>
          </p:spPr>
          <p:txBody>
            <a:bodyPr/>
            <a:lstStyle/>
            <a:p>
              <a:endParaRPr lang="en-US"/>
            </a:p>
          </p:txBody>
        </p:sp>
        <p:sp>
          <p:nvSpPr>
            <p:cNvPr id="20" name="Text 18"/>
            <p:cNvSpPr/>
            <p:nvPr/>
          </p:nvSpPr>
          <p:spPr>
            <a:xfrm>
              <a:off x="4395704" y="1737360"/>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Confirmatory Diligence</a:t>
              </a:r>
              <a:endParaRPr lang="en-US" sz="1050" dirty="0"/>
            </a:p>
          </p:txBody>
        </p:sp>
        <p:sp>
          <p:nvSpPr>
            <p:cNvPr id="21" name="Text 19"/>
            <p:cNvSpPr/>
            <p:nvPr/>
          </p:nvSpPr>
          <p:spPr>
            <a:xfrm>
              <a:off x="4395704" y="2167128"/>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Quality of earnings, payer and billing review, equipment and lease diligence</a:t>
              </a:r>
              <a:endParaRPr lang="en-US" sz="850" dirty="0"/>
            </a:p>
          </p:txBody>
        </p:sp>
      </p:grpSp>
      <p:sp>
        <p:nvSpPr>
          <p:cNvPr id="22" name="Shape 20"/>
          <p:cNvSpPr/>
          <p:nvPr/>
        </p:nvSpPr>
        <p:spPr>
          <a:xfrm>
            <a:off x="8393964" y="3319272"/>
            <a:ext cx="201168" cy="201168"/>
          </a:xfrm>
          <a:prstGeom prst="ellipse">
            <a:avLst/>
          </a:prstGeom>
          <a:solidFill>
            <a:srgbClr val="825B90"/>
          </a:solidFill>
          <a:ln w="25400">
            <a:solidFill>
              <a:srgbClr val="FFFFFF"/>
            </a:solidFill>
            <a:prstDash val="solid"/>
          </a:ln>
        </p:spPr>
        <p:txBody>
          <a:bodyPr/>
          <a:lstStyle/>
          <a:p>
            <a:endParaRPr lang="en-US"/>
          </a:p>
        </p:txBody>
      </p:sp>
      <p:grpSp>
        <p:nvGrpSpPr>
          <p:cNvPr id="42" name="Group 41">
            <a:extLst>
              <a:ext uri="{FF2B5EF4-FFF2-40B4-BE49-F238E27FC236}">
                <a16:creationId xmlns:a16="http://schemas.microsoft.com/office/drawing/2014/main" id="{13E76DC7-E86A-65C3-F141-6C0F67D67A20}"/>
              </a:ext>
            </a:extLst>
          </p:cNvPr>
          <p:cNvGrpSpPr/>
          <p:nvPr/>
        </p:nvGrpSpPr>
        <p:grpSpPr>
          <a:xfrm>
            <a:off x="7658623" y="3602736"/>
            <a:ext cx="1664208" cy="1591056"/>
            <a:chOff x="6223224" y="3602736"/>
            <a:chExt cx="1664208" cy="1591056"/>
          </a:xfrm>
        </p:grpSpPr>
        <p:sp>
          <p:nvSpPr>
            <p:cNvPr id="23" name="Text 21"/>
            <p:cNvSpPr/>
            <p:nvPr/>
          </p:nvSpPr>
          <p:spPr>
            <a:xfrm>
              <a:off x="6278088" y="360273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Week 4</a:t>
              </a:r>
              <a:endParaRPr lang="en-US" sz="1050" dirty="0"/>
            </a:p>
          </p:txBody>
        </p:sp>
        <p:sp>
          <p:nvSpPr>
            <p:cNvPr id="24" name="Shape 22"/>
            <p:cNvSpPr/>
            <p:nvPr/>
          </p:nvSpPr>
          <p:spPr>
            <a:xfrm>
              <a:off x="6223224" y="3931920"/>
              <a:ext cx="1664208" cy="1261872"/>
            </a:xfrm>
            <a:prstGeom prst="roundRect">
              <a:avLst>
                <a:gd name="adj" fmla="val 4348"/>
              </a:avLst>
            </a:prstGeom>
            <a:solidFill>
              <a:srgbClr val="FFFFFF"/>
            </a:solidFill>
            <a:ln w="12700">
              <a:solidFill>
                <a:srgbClr val="D7D3DE"/>
              </a:solidFill>
              <a:prstDash val="solid"/>
            </a:ln>
          </p:spPr>
          <p:txBody>
            <a:bodyPr/>
            <a:lstStyle/>
            <a:p>
              <a:endParaRPr lang="en-US"/>
            </a:p>
          </p:txBody>
        </p:sp>
        <p:sp>
          <p:nvSpPr>
            <p:cNvPr id="25" name="Text 23"/>
            <p:cNvSpPr/>
            <p:nvPr/>
          </p:nvSpPr>
          <p:spPr>
            <a:xfrm>
              <a:off x="6314664" y="4032504"/>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Definitive Documentation</a:t>
              </a:r>
              <a:endParaRPr lang="en-US" sz="1050" dirty="0"/>
            </a:p>
          </p:txBody>
        </p:sp>
        <p:sp>
          <p:nvSpPr>
            <p:cNvPr id="26" name="Text 24"/>
            <p:cNvSpPr/>
            <p:nvPr/>
          </p:nvSpPr>
          <p:spPr>
            <a:xfrm>
              <a:off x="6314664" y="4462272"/>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Purchase agreement, rollover documentation and employment terms negotiated in parallel</a:t>
              </a:r>
              <a:endParaRPr lang="en-US" sz="850" dirty="0"/>
            </a:p>
          </p:txBody>
        </p:sp>
      </p:grpSp>
      <p:sp>
        <p:nvSpPr>
          <p:cNvPr id="28" name="Text 26"/>
          <p:cNvSpPr/>
          <p:nvPr/>
        </p:nvSpPr>
        <p:spPr>
          <a:xfrm>
            <a:off x="10110915" y="296265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Week 5</a:t>
            </a:r>
            <a:endParaRPr lang="en-US" sz="1050" dirty="0"/>
          </a:p>
        </p:txBody>
      </p:sp>
      <p:sp>
        <p:nvSpPr>
          <p:cNvPr id="29" name="Shape 27"/>
          <p:cNvSpPr/>
          <p:nvPr/>
        </p:nvSpPr>
        <p:spPr>
          <a:xfrm>
            <a:off x="10056051" y="1636776"/>
            <a:ext cx="1664208" cy="1261872"/>
          </a:xfrm>
          <a:prstGeom prst="roundRect">
            <a:avLst>
              <a:gd name="adj" fmla="val 4348"/>
            </a:avLst>
          </a:prstGeom>
          <a:solidFill>
            <a:srgbClr val="F3F6FC"/>
          </a:solidFill>
          <a:ln w="12700">
            <a:solidFill>
              <a:srgbClr val="D7D3DE"/>
            </a:solidFill>
            <a:prstDash val="solid"/>
          </a:ln>
        </p:spPr>
        <p:txBody>
          <a:bodyPr/>
          <a:lstStyle/>
          <a:p>
            <a:endParaRPr lang="en-US"/>
          </a:p>
        </p:txBody>
      </p:sp>
      <p:sp>
        <p:nvSpPr>
          <p:cNvPr id="30" name="Text 28"/>
          <p:cNvSpPr/>
          <p:nvPr/>
        </p:nvSpPr>
        <p:spPr>
          <a:xfrm>
            <a:off x="10147491" y="1737360"/>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Closing</a:t>
            </a:r>
            <a:endParaRPr lang="en-US" sz="1050" dirty="0"/>
          </a:p>
        </p:txBody>
      </p:sp>
      <p:sp>
        <p:nvSpPr>
          <p:cNvPr id="31" name="Text 29"/>
          <p:cNvSpPr/>
          <p:nvPr/>
        </p:nvSpPr>
        <p:spPr>
          <a:xfrm>
            <a:off x="10147491" y="2167128"/>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Funding of cash consideration and issuance of any rollover equity</a:t>
            </a:r>
            <a:endParaRPr lang="en-US" sz="850" dirty="0"/>
          </a:p>
        </p:txBody>
      </p:sp>
      <p:sp>
        <p:nvSpPr>
          <p:cNvPr id="32" name="Shape 30"/>
          <p:cNvSpPr/>
          <p:nvPr/>
        </p:nvSpPr>
        <p:spPr>
          <a:xfrm>
            <a:off x="10792663"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37" name="Shape 35"/>
          <p:cNvSpPr/>
          <p:nvPr/>
        </p:nvSpPr>
        <p:spPr>
          <a:xfrm>
            <a:off x="640080" y="5779008"/>
            <a:ext cx="10911535" cy="438912"/>
          </a:xfrm>
          <a:prstGeom prst="roundRect">
            <a:avLst>
              <a:gd name="adj" fmla="val 10417"/>
            </a:avLst>
          </a:prstGeom>
          <a:solidFill>
            <a:srgbClr val="201243"/>
          </a:solidFill>
          <a:ln w="12700">
            <a:solidFill>
              <a:srgbClr val="201243"/>
            </a:solidFill>
            <a:prstDash val="solid"/>
          </a:ln>
        </p:spPr>
        <p:txBody>
          <a:bodyPr/>
          <a:lstStyle/>
          <a:p>
            <a:endParaRPr lang="en-US"/>
          </a:p>
        </p:txBody>
      </p:sp>
      <p:sp>
        <p:nvSpPr>
          <p:cNvPr id="38" name="Text 36"/>
          <p:cNvSpPr/>
          <p:nvPr/>
        </p:nvSpPr>
        <p:spPr>
          <a:xfrm>
            <a:off x="640080" y="5779008"/>
            <a:ext cx="10911535"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RadX funds acquisitions from committed capital, so there is no financing contingency and no third-party approval required to close</a:t>
            </a:r>
            <a:endParaRPr lang="en-US" sz="1150" dirty="0"/>
          </a:p>
        </p:txBody>
      </p:sp>
      <p:sp>
        <p:nvSpPr>
          <p:cNvPr id="39" name="Text 37"/>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40" name="Text 38"/>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41" name="Text 39"/>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15</a:t>
            </a:r>
            <a:endParaRPr lang="en-US" sz="1000" dirty="0"/>
          </a:p>
        </p:txBody>
      </p:sp>
      <p:sp>
        <p:nvSpPr>
          <p:cNvPr id="33" name="Rectangle 32">
            <a:extLst>
              <a:ext uri="{FF2B5EF4-FFF2-40B4-BE49-F238E27FC236}">
                <a16:creationId xmlns:a16="http://schemas.microsoft.com/office/drawing/2014/main" id="{FF139E80-92B3-3D7C-5679-4ACF57361395}"/>
              </a:ext>
            </a:extLst>
          </p:cNvPr>
          <p:cNvSpPr/>
          <p:nvPr/>
        </p:nvSpPr>
        <p:spPr>
          <a:xfrm>
            <a:off x="8827553" y="78339"/>
            <a:ext cx="2179675" cy="605465"/>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TEAM TO EDIT</a:t>
            </a:r>
          </a:p>
        </p:txBody>
      </p:sp>
    </p:spTree>
    <p:extLst>
      <p:ext uri="{BB962C8B-B14F-4D97-AF65-F5344CB8AC3E}">
        <p14:creationId xmlns:p14="http://schemas.microsoft.com/office/powerpoint/2010/main" val="977460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the RadX Team</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An experienced corporate team supporting every center on the platform</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9" name="Text 7"/>
          <p:cNvSpPr/>
          <p:nvPr/>
        </p:nvSpPr>
        <p:spPr>
          <a:xfrm>
            <a:off x="777240"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Dr. Chintan Desai, MD</a:t>
            </a:r>
            <a:endParaRPr lang="en-US" sz="1300" dirty="0"/>
          </a:p>
        </p:txBody>
      </p:sp>
      <p:sp>
        <p:nvSpPr>
          <p:cNvPr id="10" name="Text 8"/>
          <p:cNvSpPr/>
          <p:nvPr/>
        </p:nvSpPr>
        <p:spPr>
          <a:xfrm>
            <a:off x="777240"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Founder &amp; Chief Executive Officer</a:t>
            </a:r>
            <a:endParaRPr lang="en-US" sz="1050" dirty="0"/>
          </a:p>
        </p:txBody>
      </p:sp>
      <p:sp>
        <p:nvSpPr>
          <p:cNvPr id="11" name="Shape 9"/>
          <p:cNvSpPr/>
          <p:nvPr/>
        </p:nvSpPr>
        <p:spPr>
          <a:xfrm>
            <a:off x="1598257" y="3913632"/>
            <a:ext cx="640080" cy="10973"/>
          </a:xfrm>
          <a:prstGeom prst="rect">
            <a:avLst/>
          </a:prstGeom>
          <a:solidFill>
            <a:srgbClr val="D7D3DE"/>
          </a:solidFill>
          <a:ln/>
        </p:spPr>
        <p:txBody>
          <a:bodyPr/>
          <a:lstStyle/>
          <a:p>
            <a:endParaRPr lang="en-US"/>
          </a:p>
        </p:txBody>
      </p:sp>
      <p:sp>
        <p:nvSpPr>
          <p:cNvPr id="12" name="Text 10"/>
          <p:cNvSpPr/>
          <p:nvPr/>
        </p:nvSpPr>
        <p:spPr>
          <a:xfrm>
            <a:off x="804672"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President, Florida Radiological Society</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CMO, Rose Radiology Center</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MBA, Harvard Business School</a:t>
            </a:r>
            <a:endParaRPr lang="en-US" sz="950" dirty="0"/>
          </a:p>
        </p:txBody>
      </p:sp>
      <p:sp>
        <p:nvSpPr>
          <p:cNvPr id="13" name="Shape 11"/>
          <p:cNvSpPr/>
          <p:nvPr/>
        </p:nvSpPr>
        <p:spPr>
          <a:xfrm>
            <a:off x="3425114"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16" name="Text 14"/>
          <p:cNvSpPr/>
          <p:nvPr/>
        </p:nvSpPr>
        <p:spPr>
          <a:xfrm>
            <a:off x="3562274"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Alejandro Mursuli</a:t>
            </a:r>
            <a:endParaRPr lang="en-US" sz="1300" dirty="0"/>
          </a:p>
        </p:txBody>
      </p:sp>
      <p:sp>
        <p:nvSpPr>
          <p:cNvPr id="17" name="Text 15"/>
          <p:cNvSpPr/>
          <p:nvPr/>
        </p:nvSpPr>
        <p:spPr>
          <a:xfrm>
            <a:off x="3562274"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Chief Financial Officer</a:t>
            </a:r>
            <a:endParaRPr lang="en-US" sz="1050" dirty="0"/>
          </a:p>
        </p:txBody>
      </p:sp>
      <p:sp>
        <p:nvSpPr>
          <p:cNvPr id="18" name="Shape 16"/>
          <p:cNvSpPr/>
          <p:nvPr/>
        </p:nvSpPr>
        <p:spPr>
          <a:xfrm>
            <a:off x="4383291" y="3913632"/>
            <a:ext cx="640080" cy="10973"/>
          </a:xfrm>
          <a:prstGeom prst="rect">
            <a:avLst/>
          </a:prstGeom>
          <a:solidFill>
            <a:srgbClr val="D7D3DE"/>
          </a:solidFill>
          <a:ln/>
        </p:spPr>
        <p:txBody>
          <a:bodyPr/>
          <a:lstStyle/>
          <a:p>
            <a:endParaRPr lang="en-US"/>
          </a:p>
        </p:txBody>
      </p:sp>
      <p:sp>
        <p:nvSpPr>
          <p:cNvPr id="19" name="Text 17"/>
          <p:cNvSpPr/>
          <p:nvPr/>
        </p:nvSpPr>
        <p:spPr>
          <a:xfrm>
            <a:off x="3589706"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VP Finance, Innovacare Health</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Director of Finance, MMM of Florida</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MBA, Nova Southeastern University</a:t>
            </a:r>
            <a:endParaRPr lang="en-US" sz="950" dirty="0"/>
          </a:p>
        </p:txBody>
      </p:sp>
      <p:sp>
        <p:nvSpPr>
          <p:cNvPr id="20" name="Shape 18"/>
          <p:cNvSpPr/>
          <p:nvPr/>
        </p:nvSpPr>
        <p:spPr>
          <a:xfrm>
            <a:off x="6210148"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23" name="Text 21"/>
          <p:cNvSpPr/>
          <p:nvPr/>
        </p:nvSpPr>
        <p:spPr>
          <a:xfrm>
            <a:off x="6347308"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Ailenis San Martin</a:t>
            </a:r>
            <a:endParaRPr lang="en-US" sz="1300" dirty="0"/>
          </a:p>
        </p:txBody>
      </p:sp>
      <p:sp>
        <p:nvSpPr>
          <p:cNvPr id="24" name="Text 22"/>
          <p:cNvSpPr/>
          <p:nvPr/>
        </p:nvSpPr>
        <p:spPr>
          <a:xfrm>
            <a:off x="6347308"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VP of Operations</a:t>
            </a:r>
            <a:endParaRPr lang="en-US" sz="1050" dirty="0"/>
          </a:p>
        </p:txBody>
      </p:sp>
      <p:sp>
        <p:nvSpPr>
          <p:cNvPr id="25" name="Shape 23"/>
          <p:cNvSpPr/>
          <p:nvPr/>
        </p:nvSpPr>
        <p:spPr>
          <a:xfrm>
            <a:off x="7168325" y="3913632"/>
            <a:ext cx="640080" cy="10973"/>
          </a:xfrm>
          <a:prstGeom prst="rect">
            <a:avLst/>
          </a:prstGeom>
          <a:solidFill>
            <a:srgbClr val="D7D3DE"/>
          </a:solidFill>
          <a:ln/>
        </p:spPr>
        <p:txBody>
          <a:bodyPr/>
          <a:lstStyle/>
          <a:p>
            <a:endParaRPr lang="en-US"/>
          </a:p>
        </p:txBody>
      </p:sp>
      <p:sp>
        <p:nvSpPr>
          <p:cNvPr id="26" name="Text 24"/>
          <p:cNvSpPr/>
          <p:nvPr/>
        </p:nvSpPr>
        <p:spPr>
          <a:xfrm>
            <a:off x="6374740"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VP Market Operations, InnovaCare Health</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Practice Admin, Urban Health Physicians</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MBA, Keiser University</a:t>
            </a:r>
            <a:endParaRPr lang="en-US" sz="950" dirty="0"/>
          </a:p>
        </p:txBody>
      </p:sp>
      <p:sp>
        <p:nvSpPr>
          <p:cNvPr id="27" name="Shape 25"/>
          <p:cNvSpPr/>
          <p:nvPr/>
        </p:nvSpPr>
        <p:spPr>
          <a:xfrm>
            <a:off x="8995181"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30" name="Text 28"/>
          <p:cNvSpPr/>
          <p:nvPr/>
        </p:nvSpPr>
        <p:spPr>
          <a:xfrm>
            <a:off x="9132341"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Brent Garnes</a:t>
            </a:r>
            <a:endParaRPr lang="en-US" sz="1300" dirty="0"/>
          </a:p>
        </p:txBody>
      </p:sp>
      <p:sp>
        <p:nvSpPr>
          <p:cNvPr id="31" name="Text 29"/>
          <p:cNvSpPr/>
          <p:nvPr/>
        </p:nvSpPr>
        <p:spPr>
          <a:xfrm>
            <a:off x="9132341"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VP of Business Development</a:t>
            </a:r>
            <a:endParaRPr lang="en-US" sz="1050" dirty="0"/>
          </a:p>
        </p:txBody>
      </p:sp>
      <p:sp>
        <p:nvSpPr>
          <p:cNvPr id="32" name="Shape 30"/>
          <p:cNvSpPr/>
          <p:nvPr/>
        </p:nvSpPr>
        <p:spPr>
          <a:xfrm>
            <a:off x="9953358" y="3913632"/>
            <a:ext cx="640080" cy="10973"/>
          </a:xfrm>
          <a:prstGeom prst="rect">
            <a:avLst/>
          </a:prstGeom>
          <a:solidFill>
            <a:srgbClr val="D7D3DE"/>
          </a:solidFill>
          <a:ln/>
        </p:spPr>
        <p:txBody>
          <a:bodyPr/>
          <a:lstStyle/>
          <a:p>
            <a:endParaRPr lang="en-US"/>
          </a:p>
        </p:txBody>
      </p:sp>
      <p:sp>
        <p:nvSpPr>
          <p:cNvPr id="33" name="Text 31"/>
          <p:cNvSpPr/>
          <p:nvPr/>
        </p:nvSpPr>
        <p:spPr>
          <a:xfrm>
            <a:off x="9159773"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FL Regional Marketing Director, CareFirst</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Regional Marketing Director, Gateway</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Clayton State University</a:t>
            </a:r>
            <a:endParaRPr lang="en-US" sz="950" dirty="0"/>
          </a:p>
        </p:txBody>
      </p:sp>
      <p:sp>
        <p:nvSpPr>
          <p:cNvPr id="34" name="Shape 32"/>
          <p:cNvSpPr/>
          <p:nvPr/>
        </p:nvSpPr>
        <p:spPr>
          <a:xfrm>
            <a:off x="640080" y="5349240"/>
            <a:ext cx="10911535" cy="566928"/>
          </a:xfrm>
          <a:prstGeom prst="roundRect">
            <a:avLst>
              <a:gd name="adj" fmla="val 8065"/>
            </a:avLst>
          </a:prstGeom>
          <a:solidFill>
            <a:srgbClr val="F3F6FC"/>
          </a:solidFill>
          <a:ln w="12700">
            <a:solidFill>
              <a:srgbClr val="E3E0EA"/>
            </a:solidFill>
            <a:prstDash val="solid"/>
          </a:ln>
        </p:spPr>
        <p:txBody>
          <a:bodyPr/>
          <a:lstStyle/>
          <a:p>
            <a:endParaRPr lang="en-US"/>
          </a:p>
        </p:txBody>
      </p:sp>
      <p:sp>
        <p:nvSpPr>
          <p:cNvPr id="35" name="Text 33"/>
          <p:cNvSpPr/>
          <p:nvPr/>
        </p:nvSpPr>
        <p:spPr>
          <a:xfrm>
            <a:off x="822960" y="5349240"/>
            <a:ext cx="10545775" cy="566928"/>
          </a:xfrm>
          <a:prstGeom prst="rect">
            <a:avLst/>
          </a:prstGeom>
          <a:noFill/>
          <a:ln/>
        </p:spPr>
        <p:txBody>
          <a:bodyPr wrap="square" lIns="0" tIns="0" rIns="0" bIns="0" rtlCol="0" anchor="ctr"/>
          <a:lstStyle/>
          <a:p>
            <a:pPr marL="0" indent="0" algn="ctr">
              <a:buNone/>
            </a:pPr>
            <a:r>
              <a:rPr lang="en-US" sz="1150" dirty="0">
                <a:solidFill>
                  <a:srgbClr val="201243"/>
                </a:solidFill>
                <a:latin typeface="Calibri" pitchFamily="34" charset="0"/>
                <a:ea typeface="Calibri" pitchFamily="34" charset="-122"/>
                <a:cs typeface="Calibri" pitchFamily="34" charset="-120"/>
              </a:rPr>
              <a:t>The corporate team absorbs billing, credentialing, scheduling infrastructure and payer management, so the practice can focus on clinical delivery and referral relationships</a:t>
            </a:r>
            <a:endParaRPr lang="en-US" sz="1150" dirty="0"/>
          </a:p>
        </p:txBody>
      </p:sp>
      <p:sp>
        <p:nvSpPr>
          <p:cNvPr id="36" name="Text 34"/>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37" name="Text 35"/>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38" name="Text 36"/>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16</a:t>
            </a:r>
            <a:endParaRPr lang="en-US" sz="1000" dirty="0"/>
          </a:p>
        </p:txBody>
      </p:sp>
      <p:pic>
        <p:nvPicPr>
          <p:cNvPr id="40" name="Picture 39" descr="Profile image">
            <a:extLst>
              <a:ext uri="{FF2B5EF4-FFF2-40B4-BE49-F238E27FC236}">
                <a16:creationId xmlns:a16="http://schemas.microsoft.com/office/drawing/2014/main" id="{AADD5F57-88DC-FABA-9C58-90D80E0DEA61}"/>
              </a:ext>
            </a:extLst>
          </p:cNvPr>
          <p:cNvPicPr>
            <a:picLocks noChangeAspect="1"/>
          </p:cNvPicPr>
          <p:nvPr/>
        </p:nvPicPr>
        <p:blipFill>
          <a:blip r:embed="rId3"/>
          <a:stretch>
            <a:fillRect/>
          </a:stretch>
        </p:blipFill>
        <p:spPr>
          <a:xfrm>
            <a:off x="4246131" y="1847088"/>
            <a:ext cx="914400" cy="914400"/>
          </a:xfrm>
          <a:prstGeom prst="ellipse">
            <a:avLst/>
          </a:prstGeom>
        </p:spPr>
      </p:pic>
      <p:pic>
        <p:nvPicPr>
          <p:cNvPr id="42" name="Picture 41" descr="Profile image">
            <a:extLst>
              <a:ext uri="{FF2B5EF4-FFF2-40B4-BE49-F238E27FC236}">
                <a16:creationId xmlns:a16="http://schemas.microsoft.com/office/drawing/2014/main" id="{CF981D0F-292C-878C-BC0E-6FB65DBCF6FB}"/>
              </a:ext>
            </a:extLst>
          </p:cNvPr>
          <p:cNvPicPr>
            <a:picLocks noChangeAspect="1"/>
          </p:cNvPicPr>
          <p:nvPr/>
        </p:nvPicPr>
        <p:blipFill>
          <a:blip r:embed="rId4"/>
          <a:stretch>
            <a:fillRect/>
          </a:stretch>
        </p:blipFill>
        <p:spPr>
          <a:xfrm>
            <a:off x="7031165" y="1847088"/>
            <a:ext cx="914400" cy="914400"/>
          </a:xfrm>
          <a:prstGeom prst="ellipse">
            <a:avLst/>
          </a:prstGeom>
        </p:spPr>
      </p:pic>
      <p:pic>
        <p:nvPicPr>
          <p:cNvPr id="44" name="Picture 43" descr="Profile image">
            <a:extLst>
              <a:ext uri="{FF2B5EF4-FFF2-40B4-BE49-F238E27FC236}">
                <a16:creationId xmlns:a16="http://schemas.microsoft.com/office/drawing/2014/main" id="{40154694-B355-D795-A32F-FC0597F4F8CB}"/>
              </a:ext>
            </a:extLst>
          </p:cNvPr>
          <p:cNvPicPr>
            <a:picLocks noChangeAspect="1"/>
          </p:cNvPicPr>
          <p:nvPr/>
        </p:nvPicPr>
        <p:blipFill>
          <a:blip r:embed="rId5"/>
          <a:stretch>
            <a:fillRect/>
          </a:stretch>
        </p:blipFill>
        <p:spPr>
          <a:xfrm>
            <a:off x="9816198" y="1847088"/>
            <a:ext cx="914400" cy="914400"/>
          </a:xfrm>
          <a:prstGeom prst="ellipse">
            <a:avLst/>
          </a:prstGeom>
        </p:spPr>
      </p:pic>
      <p:pic>
        <p:nvPicPr>
          <p:cNvPr id="46" name="Picture 45" descr="Dr. Chintan Desai - M1 Imaging Center">
            <a:extLst>
              <a:ext uri="{FF2B5EF4-FFF2-40B4-BE49-F238E27FC236}">
                <a16:creationId xmlns:a16="http://schemas.microsoft.com/office/drawing/2014/main" id="{AB217848-B351-2726-8193-306228EF0D4C}"/>
              </a:ext>
            </a:extLst>
          </p:cNvPr>
          <p:cNvPicPr>
            <a:picLocks noChangeAspect="1"/>
          </p:cNvPicPr>
          <p:nvPr/>
        </p:nvPicPr>
        <p:blipFill rotWithShape="1">
          <a:blip r:embed="rId6"/>
          <a:srcRect l="38" t="7026" r="-38" b="26306"/>
          <a:stretch>
            <a:fillRect/>
          </a:stretch>
        </p:blipFill>
        <p:spPr>
          <a:xfrm>
            <a:off x="1461097" y="1847088"/>
            <a:ext cx="914400" cy="914400"/>
          </a:xfrm>
          <a:prstGeom prst="ellipse">
            <a:avLst/>
          </a:prstGeom>
        </p:spPr>
      </p:pic>
    </p:spTree>
    <p:extLst>
      <p:ext uri="{BB962C8B-B14F-4D97-AF65-F5344CB8AC3E}">
        <p14:creationId xmlns:p14="http://schemas.microsoft.com/office/powerpoint/2010/main" val="793315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20124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206240" cy="4206240"/>
          </a:xfrm>
          <a:prstGeom prst="ellipse">
            <a:avLst/>
          </a:prstGeom>
          <a:solidFill>
            <a:srgbClr val="2A1A4E"/>
          </a:solidFill>
          <a:ln w="12700">
            <a:solidFill>
              <a:srgbClr val="2A1A4E"/>
            </a:solidFill>
            <a:prstDash val="solid"/>
          </a:ln>
        </p:spPr>
        <p:txBody>
          <a:bodyPr/>
          <a:lstStyle/>
          <a:p>
            <a:endParaRPr lang="en-US"/>
          </a:p>
        </p:txBody>
      </p:sp>
      <p:sp>
        <p:nvSpPr>
          <p:cNvPr id="3" name="Shape 1"/>
          <p:cNvSpPr/>
          <p:nvPr/>
        </p:nvSpPr>
        <p:spPr>
          <a:xfrm>
            <a:off x="9555480" y="2240280"/>
            <a:ext cx="2651760" cy="2651760"/>
          </a:xfrm>
          <a:prstGeom prst="ellipse">
            <a:avLst/>
          </a:prstGeom>
          <a:solidFill>
            <a:srgbClr val="201243"/>
          </a:solidFill>
          <a:ln w="12700">
            <a:solidFill>
              <a:srgbClr val="201243"/>
            </a:solidFill>
            <a:prstDash val="solid"/>
          </a:ln>
        </p:spPr>
        <p:txBody>
          <a:bodyPr/>
          <a:lstStyle/>
          <a:p>
            <a:endParaRPr lang="en-US"/>
          </a:p>
        </p:txBody>
      </p:sp>
      <p:sp>
        <p:nvSpPr>
          <p:cNvPr id="4" name="Text 2"/>
          <p:cNvSpPr/>
          <p:nvPr/>
        </p:nvSpPr>
        <p:spPr>
          <a:xfrm>
            <a:off x="640080" y="502920"/>
            <a:ext cx="2743200" cy="3657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RadX</a:t>
            </a:r>
            <a:r>
              <a:rPr lang="en-US" sz="1300" dirty="0">
                <a:solidFill>
                  <a:srgbClr val="B9AFD0"/>
                </a:solidFill>
                <a:latin typeface="Calibri" pitchFamily="34" charset="0"/>
                <a:ea typeface="Calibri" pitchFamily="34" charset="-122"/>
                <a:cs typeface="Calibri" pitchFamily="34" charset="-120"/>
              </a:rPr>
              <a:t> inc.</a:t>
            </a:r>
            <a:endParaRPr lang="en-US" sz="2200" dirty="0"/>
          </a:p>
        </p:txBody>
      </p:sp>
      <p:sp>
        <p:nvSpPr>
          <p:cNvPr id="5" name="Text 3"/>
          <p:cNvSpPr/>
          <p:nvPr/>
        </p:nvSpPr>
        <p:spPr>
          <a:xfrm>
            <a:off x="640080" y="141732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Next Steps</a:t>
            </a:r>
            <a:endParaRPr lang="en-US" sz="3400" dirty="0"/>
          </a:p>
        </p:txBody>
      </p:sp>
      <p:sp>
        <p:nvSpPr>
          <p:cNvPr id="6" name="Shape 4"/>
          <p:cNvSpPr/>
          <p:nvPr/>
        </p:nvSpPr>
        <p:spPr>
          <a:xfrm>
            <a:off x="640080" y="2148840"/>
            <a:ext cx="1463040" cy="27432"/>
          </a:xfrm>
          <a:prstGeom prst="rect">
            <a:avLst/>
          </a:prstGeom>
          <a:solidFill>
            <a:srgbClr val="825B90"/>
          </a:solidFill>
          <a:ln/>
        </p:spPr>
        <p:txBody>
          <a:bodyPr/>
          <a:lstStyle/>
          <a:p>
            <a:endParaRPr lang="en-US"/>
          </a:p>
        </p:txBody>
      </p:sp>
      <p:sp>
        <p:nvSpPr>
          <p:cNvPr id="7" name="Shape 5"/>
          <p:cNvSpPr/>
          <p:nvPr/>
        </p:nvSpPr>
        <p:spPr>
          <a:xfrm>
            <a:off x="640080" y="2624328"/>
            <a:ext cx="365760" cy="365760"/>
          </a:xfrm>
          <a:prstGeom prst="ellipse">
            <a:avLst/>
          </a:prstGeom>
          <a:solidFill>
            <a:srgbClr val="312552"/>
          </a:solidFill>
          <a:ln w="12700">
            <a:solidFill>
              <a:srgbClr val="825B90"/>
            </a:solidFill>
            <a:prstDash val="solid"/>
          </a:ln>
        </p:spPr>
        <p:txBody>
          <a:bodyPr/>
          <a:lstStyle/>
          <a:p>
            <a:endParaRPr lang="en-US"/>
          </a:p>
        </p:txBody>
      </p:sp>
      <p:sp>
        <p:nvSpPr>
          <p:cNvPr id="8" name="Text 6"/>
          <p:cNvSpPr/>
          <p:nvPr/>
        </p:nvSpPr>
        <p:spPr>
          <a:xfrm>
            <a:off x="640080" y="2688336"/>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34440" y="2606040"/>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Review the accompanying Letter of Intent (“LOI”)</a:t>
            </a:r>
            <a:endParaRPr lang="en-US" sz="1250" dirty="0"/>
          </a:p>
        </p:txBody>
      </p:sp>
      <p:sp>
        <p:nvSpPr>
          <p:cNvPr id="10" name="Shape 8"/>
          <p:cNvSpPr/>
          <p:nvPr/>
        </p:nvSpPr>
        <p:spPr>
          <a:xfrm>
            <a:off x="640080" y="3282696"/>
            <a:ext cx="365760" cy="365760"/>
          </a:xfrm>
          <a:prstGeom prst="ellipse">
            <a:avLst/>
          </a:prstGeom>
          <a:solidFill>
            <a:srgbClr val="312552"/>
          </a:solidFill>
          <a:ln w="12700">
            <a:solidFill>
              <a:srgbClr val="825B90"/>
            </a:solidFill>
            <a:prstDash val="solid"/>
          </a:ln>
        </p:spPr>
        <p:txBody>
          <a:bodyPr/>
          <a:lstStyle/>
          <a:p>
            <a:endParaRPr lang="en-US"/>
          </a:p>
        </p:txBody>
      </p:sp>
      <p:sp>
        <p:nvSpPr>
          <p:cNvPr id="11" name="Text 9"/>
          <p:cNvSpPr/>
          <p:nvPr/>
        </p:nvSpPr>
        <p:spPr>
          <a:xfrm>
            <a:off x="640080" y="3346704"/>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234440" y="3264408"/>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Connect with the RadX team to discuss any outstanding LOI points</a:t>
            </a:r>
            <a:endParaRPr lang="en-US" sz="1250" dirty="0"/>
          </a:p>
        </p:txBody>
      </p:sp>
      <p:sp>
        <p:nvSpPr>
          <p:cNvPr id="13" name="Shape 11"/>
          <p:cNvSpPr/>
          <p:nvPr/>
        </p:nvSpPr>
        <p:spPr>
          <a:xfrm>
            <a:off x="640080" y="3941064"/>
            <a:ext cx="365760" cy="365760"/>
          </a:xfrm>
          <a:prstGeom prst="ellipse">
            <a:avLst/>
          </a:prstGeom>
          <a:solidFill>
            <a:srgbClr val="312552"/>
          </a:solidFill>
          <a:ln w="12700">
            <a:solidFill>
              <a:srgbClr val="825B90"/>
            </a:solidFill>
            <a:prstDash val="solid"/>
          </a:ln>
        </p:spPr>
        <p:txBody>
          <a:bodyPr/>
          <a:lstStyle/>
          <a:p>
            <a:endParaRPr lang="en-US"/>
          </a:p>
        </p:txBody>
      </p:sp>
      <p:sp>
        <p:nvSpPr>
          <p:cNvPr id="14" name="Text 12"/>
          <p:cNvSpPr/>
          <p:nvPr/>
        </p:nvSpPr>
        <p:spPr>
          <a:xfrm>
            <a:off x="640080" y="4005072"/>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234440" y="3922776"/>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Execute the LOI and begin confirmatory diligence</a:t>
            </a:r>
            <a:endParaRPr lang="en-US" sz="1250" dirty="0"/>
          </a:p>
        </p:txBody>
      </p:sp>
      <p:sp>
        <p:nvSpPr>
          <p:cNvPr id="16" name="Shape 14"/>
          <p:cNvSpPr/>
          <p:nvPr/>
        </p:nvSpPr>
        <p:spPr>
          <a:xfrm>
            <a:off x="640080" y="4599432"/>
            <a:ext cx="365760" cy="365760"/>
          </a:xfrm>
          <a:prstGeom prst="ellipse">
            <a:avLst/>
          </a:prstGeom>
          <a:solidFill>
            <a:srgbClr val="312552"/>
          </a:solidFill>
          <a:ln w="12700">
            <a:solidFill>
              <a:srgbClr val="825B90"/>
            </a:solidFill>
            <a:prstDash val="solid"/>
          </a:ln>
        </p:spPr>
        <p:txBody>
          <a:bodyPr/>
          <a:lstStyle/>
          <a:p>
            <a:endParaRPr lang="en-US"/>
          </a:p>
        </p:txBody>
      </p:sp>
      <p:sp>
        <p:nvSpPr>
          <p:cNvPr id="17" name="Text 15"/>
          <p:cNvSpPr/>
          <p:nvPr/>
        </p:nvSpPr>
        <p:spPr>
          <a:xfrm>
            <a:off x="640080" y="4663440"/>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234440" y="4581144"/>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Introduce you to the operating team and, if helpful, to physicians who have already sold to RadX</a:t>
            </a:r>
            <a:endParaRPr lang="en-US" sz="1250" dirty="0"/>
          </a:p>
        </p:txBody>
      </p:sp>
      <p:sp>
        <p:nvSpPr>
          <p:cNvPr id="19" name="Shape 17"/>
          <p:cNvSpPr/>
          <p:nvPr/>
        </p:nvSpPr>
        <p:spPr>
          <a:xfrm>
            <a:off x="640080" y="5532120"/>
            <a:ext cx="7315200" cy="10973"/>
          </a:xfrm>
          <a:prstGeom prst="rect">
            <a:avLst/>
          </a:prstGeom>
          <a:solidFill>
            <a:srgbClr val="4E4270"/>
          </a:solidFill>
          <a:ln/>
        </p:spPr>
        <p:txBody>
          <a:bodyPr/>
          <a:lstStyle/>
          <a:p>
            <a:endParaRPr lang="en-US"/>
          </a:p>
        </p:txBody>
      </p:sp>
      <p:sp>
        <p:nvSpPr>
          <p:cNvPr id="20" name="Text 18"/>
          <p:cNvSpPr/>
          <p:nvPr/>
        </p:nvSpPr>
        <p:spPr>
          <a:xfrm>
            <a:off x="640080" y="5650992"/>
            <a:ext cx="7315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Dr. Chintan Desai, MD  ·  Founder &amp; Chief Executive Officer  ·  RadX, Inc.</a:t>
            </a:r>
            <a:endParaRPr lang="en-US" sz="1150" dirty="0"/>
          </a:p>
        </p:txBody>
      </p:sp>
      <p:sp>
        <p:nvSpPr>
          <p:cNvPr id="21" name="Text 19"/>
          <p:cNvSpPr/>
          <p:nvPr/>
        </p:nvSpPr>
        <p:spPr>
          <a:xfrm>
            <a:off x="640080" y="5925312"/>
            <a:ext cx="7863840" cy="274320"/>
          </a:xfrm>
          <a:prstGeom prst="rect">
            <a:avLst/>
          </a:prstGeom>
          <a:noFill/>
          <a:ln/>
        </p:spPr>
        <p:txBody>
          <a:bodyPr wrap="square" lIns="0" tIns="0" rIns="0" bIns="0" rtlCol="0" anchor="ctr"/>
          <a:lstStyle/>
          <a:p>
            <a:pPr marL="0" indent="0">
              <a:buNone/>
            </a:pPr>
            <a:r>
              <a:rPr lang="en-US" sz="1000" dirty="0">
                <a:solidFill>
                  <a:srgbClr val="9C8FB8"/>
                </a:solidFill>
                <a:latin typeface="Calibri" pitchFamily="34" charset="0"/>
                <a:ea typeface="Calibri" pitchFamily="34" charset="-122"/>
                <a:cs typeface="Calibri" pitchFamily="34" charset="-120"/>
              </a:rPr>
              <a:t>drdesai@radxinc.com  ·  (XXX) XXX-XXXX  ·  20+ centers across Florida, Georgia, Tennessee, Alabama, Michigan and Maryland</a:t>
            </a:r>
            <a:endParaRPr lang="en-US" sz="1000" dirty="0"/>
          </a:p>
        </p:txBody>
      </p:sp>
      <p:sp>
        <p:nvSpPr>
          <p:cNvPr id="22" name="Text 20"/>
          <p:cNvSpPr/>
          <p:nvPr/>
        </p:nvSpPr>
        <p:spPr>
          <a:xfrm>
            <a:off x="640080" y="6291072"/>
            <a:ext cx="7863840" cy="274320"/>
          </a:xfrm>
          <a:prstGeom prst="rect">
            <a:avLst/>
          </a:prstGeom>
          <a:noFill/>
          <a:ln/>
        </p:spPr>
        <p:txBody>
          <a:bodyPr wrap="square" lIns="0" tIns="0" rIns="0" bIns="0" rtlCol="0" anchor="ctr"/>
          <a:lstStyle/>
          <a:p>
            <a:pPr marL="0" indent="0">
              <a:buNone/>
            </a:pPr>
            <a:r>
              <a:rPr lang="en-US" sz="800" dirty="0">
                <a:solidFill>
                  <a:srgbClr val="C9707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800" dirty="0"/>
          </a:p>
        </p:txBody>
      </p:sp>
    </p:spTree>
    <p:extLst>
      <p:ext uri="{BB962C8B-B14F-4D97-AF65-F5344CB8AC3E}">
        <p14:creationId xmlns:p14="http://schemas.microsoft.com/office/powerpoint/2010/main" val="10935456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97"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15EDE03-3BA3-4A91-85AB-502DF784496C}">
  <we:reference id="WA200010001" version="1.0.0.1" store="Omex" storeType="OMEX"/>
  <we:alternateReferences>
    <we:reference id="WA200010001" version="1.0.0.1" store="WA200010001" storeType="OMEX"/>
  </we:alternateReferences>
  <we:properties>
    <we:property name="claude.fileId" value="&quot;77083d93-e868-4c2d-8f48-1f42038fd32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31D8A68442DF4386007D1286E00FCD" ma:contentTypeVersion="24" ma:contentTypeDescription="Create a new document." ma:contentTypeScope="" ma:versionID="241c92edd7d68a2b2807ce27ee6b3c91">
  <xsd:schema xmlns:xsd="http://www.w3.org/2001/XMLSchema" xmlns:xs="http://www.w3.org/2001/XMLSchema" xmlns:p="http://schemas.microsoft.com/office/2006/metadata/properties" xmlns:ns2="e1664ecc-5721-42ca-999c-8460fd9f811f" xmlns:ns3="0eea1aba-55c2-4546-872b-b3cb69a61a42" targetNamespace="http://schemas.microsoft.com/office/2006/metadata/properties" ma:root="true" ma:fieldsID="7d96471831ce601ee7bac199e52d024c" ns2:_="" ns3:_="">
    <xsd:import namespace="e1664ecc-5721-42ca-999c-8460fd9f811f"/>
    <xsd:import namespace="0eea1aba-55c2-4546-872b-b3cb69a61a4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AutoKeyPoints" minOccurs="0"/>
                <xsd:element ref="ns3:MediaServiceKeyPoints" minOccurs="0"/>
                <xsd:element ref="ns2:TaxCatchAll" minOccurs="0"/>
                <xsd:element ref="ns3:MediaServiceLocation" minOccurs="0"/>
                <xsd:element ref="ns3:MediaServiceGenerationTime" minOccurs="0"/>
                <xsd:element ref="ns3:MediaServiceEventHashCode" minOccurs="0"/>
                <xsd:element ref="ns3:lcf76f155ced4ddcb4097134ff3c332f" minOccurs="0"/>
                <xsd:element ref="ns3:MediaServiceOCR" minOccurs="0"/>
                <xsd:element ref="ns3:Hyperlink" minOccurs="0"/>
                <xsd:element ref="ns3:MediaServiceObjectDetectorVersions" minOccurs="0"/>
                <xsd:element ref="ns3:Path"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664ecc-5721-42ca-999c-8460fd9f811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d122e34-c8c9-41fd-ae3f-35184f548240}" ma:internalName="TaxCatchAll" ma:showField="CatchAllData" ma:web="e1664ecc-5721-42ca-999c-8460fd9f811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eea1aba-55c2-4546-872b-b3cb69a61a4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a2ab925-a1dc-499f-a098-e752b9693e7d"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Hyperlink" ma:index="23" nillable="true" ma:displayName="Hyperlink" ma:format="Hyperlink" ma:internalName="Hyper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Path" ma:index="25" nillable="true" ma:displayName="Path" ma:format="Hyperlink" ma:internalName="Path">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ath xmlns="0eea1aba-55c2-4546-872b-b3cb69a61a42">
      <Url xsi:nil="true"/>
      <Description xsi:nil="true"/>
    </Path>
    <Hyperlink xmlns="0eea1aba-55c2-4546-872b-b3cb69a61a42">
      <Url xsi:nil="true"/>
      <Description xsi:nil="true"/>
    </Hyperlink>
    <TaxCatchAll xmlns="e1664ecc-5721-42ca-999c-8460fd9f811f" xsi:nil="true"/>
    <lcf76f155ced4ddcb4097134ff3c332f xmlns="0eea1aba-55c2-4546-872b-b3cb69a61a4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FCD024F-73BA-4170-B871-1DB60AAFE9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664ecc-5721-42ca-999c-8460fd9f811f"/>
    <ds:schemaRef ds:uri="0eea1aba-55c2-4546-872b-b3cb69a61a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ED442A-4032-4AAE-AE1E-A84DA99A06D8}">
  <ds:schemaRefs>
    <ds:schemaRef ds:uri="http://schemas.microsoft.com/sharepoint/v3/contenttype/forms"/>
  </ds:schemaRefs>
</ds:datastoreItem>
</file>

<file path=customXml/itemProps3.xml><?xml version="1.0" encoding="utf-8"?>
<ds:datastoreItem xmlns:ds="http://schemas.openxmlformats.org/officeDocument/2006/customXml" ds:itemID="{80980FAF-C6D8-4871-9E7D-E5E846D9EE59}">
  <ds:schemaRefs>
    <ds:schemaRef ds:uri="http://www.w3.org/XML/1998/namespace"/>
    <ds:schemaRef ds:uri="http://schemas.microsoft.com/office/2006/metadata/properties"/>
    <ds:schemaRef ds:uri="http://purl.org/dc/terms/"/>
    <ds:schemaRef ds:uri="http://purl.org/dc/elements/1.1/"/>
    <ds:schemaRef ds:uri="0eea1aba-55c2-4546-872b-b3cb69a61a42"/>
    <ds:schemaRef ds:uri="http://schemas.microsoft.com/office/infopath/2007/PartnerControls"/>
    <ds:schemaRef ds:uri="http://schemas.microsoft.com/office/2006/documentManagement/types"/>
    <ds:schemaRef ds:uri="http://schemas.openxmlformats.org/package/2006/metadata/core-properties"/>
    <ds:schemaRef ds:uri="e1664ecc-5721-42ca-999c-8460fd9f811f"/>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398</TotalTime>
  <Words>2659</Words>
  <Application>Microsoft Office PowerPoint</Application>
  <PresentationFormat>Widescreen</PresentationFormat>
  <Paragraphs>334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RadX Illustrative Acquisition Proposal</dc:title>
  <dc:subject>PptxGenJS Presentation</dc:subject>
  <dc:creator>RadX inc.</dc:creator>
  <cp:lastModifiedBy>Bennett Turner</cp:lastModifiedBy>
  <cp:revision>4</cp:revision>
  <cp:lastPrinted>2026-08-19T17:26:05Z</cp:lastPrinted>
  <dcterms:created xsi:type="dcterms:W3CDTF">2026-08-18T20:05:25Z</dcterms:created>
  <dcterms:modified xsi:type="dcterms:W3CDTF">2026-08-19T23:24:39Z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0x0101004D31D8A68442DF4386007D1286E00FCD</vt:lpwstr>
  </property>
  <property fmtid="{D5CDD505-2E9C-101B-9397-08002B2CF9AE}" pid="3" name="MediaServiceImageTags">
    <vt:lpwstr/>
  </property>
</Properties>
</file>